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bb234b002b4a45" /><Relationship Type="http://schemas.openxmlformats.org/officeDocument/2006/relationships/extended-properties" Target="/docProps/app.xml" Id="Rb7019a0aaf724b1b" /><Relationship Type="http://schemas.openxmlformats.org/officeDocument/2006/relationships/officeDocument" Target="/ppt/presentation.xml" Id="R4acc6ca55441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d079e62d44032"/>
  </p:sldMasterIdLst>
  <p:notesMasterIdLst>
    <p:notesMasterId xmlns:r="http://schemas.openxmlformats.org/officeDocument/2006/relationships" r:id="Rbcec9b324a924d18"/>
  </p:notesMasterIdLst>
  <p:sldIdLst>
    <p:sldId xmlns:r="http://schemas.openxmlformats.org/officeDocument/2006/relationships" id="256" r:id="R02c1086dca084d0f"/>
    <p:sldId xmlns:r="http://schemas.openxmlformats.org/officeDocument/2006/relationships" id="257" r:id="R47ede548fc514985"/>
    <p:sldId xmlns:r="http://schemas.openxmlformats.org/officeDocument/2006/relationships" id="258" r:id="R5f14556863c842d1"/>
    <p:sldId xmlns:r="http://schemas.openxmlformats.org/officeDocument/2006/relationships" id="259" r:id="R9198445eab854643"/>
    <p:sldId xmlns:r="http://schemas.openxmlformats.org/officeDocument/2006/relationships" id="260" r:id="R66b9bd2c9d004d85"/>
    <p:sldId xmlns:r="http://schemas.openxmlformats.org/officeDocument/2006/relationships" id="261" r:id="R51a9494ba6994f4e"/>
    <p:sldId xmlns:r="http://schemas.openxmlformats.org/officeDocument/2006/relationships" id="262" r:id="R71c89ee0d16947b2"/>
    <p:sldId xmlns:r="http://schemas.openxmlformats.org/officeDocument/2006/relationships" id="263" r:id="R20d8bfc5312b4619"/>
    <p:sldId xmlns:r="http://schemas.openxmlformats.org/officeDocument/2006/relationships" id="264" r:id="R168ab4498511451a"/>
    <p:sldId xmlns:r="http://schemas.openxmlformats.org/officeDocument/2006/relationships" id="265" r:id="R07985164bd2346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d079e62d44032" /><Relationship Type="http://schemas.openxmlformats.org/officeDocument/2006/relationships/theme" Target="/ppt/theme/theme1.xml" Id="R327f2cca792943f5" /><Relationship Type="http://schemas.openxmlformats.org/officeDocument/2006/relationships/notesMaster" Target="/ppt/notesMasters/notesMaster1.xml" Id="Rbcec9b324a924d18" /><Relationship Type="http://schemas.openxmlformats.org/officeDocument/2006/relationships/presProps" Target="/ppt/presProps.xml" Id="R818d5eddec4e419b" /><Relationship Type="http://schemas.openxmlformats.org/officeDocument/2006/relationships/viewProps" Target="/ppt/viewProps.xml" Id="Ra79067d383af4aa2" /><Relationship Type="http://schemas.openxmlformats.org/officeDocument/2006/relationships/tableStyles" Target="/ppt/tableStyles.xml" Id="Rf7b688f19b764b7f" /><Relationship Type="http://schemas.openxmlformats.org/officeDocument/2006/relationships/slide" Target="/ppt/slides/slide1.xml" Id="R02c1086dca084d0f" /><Relationship Type="http://schemas.openxmlformats.org/officeDocument/2006/relationships/slide" Target="/ppt/slides/slide2.xml" Id="R47ede548fc514985" /><Relationship Type="http://schemas.openxmlformats.org/officeDocument/2006/relationships/slide" Target="/ppt/slides/slide3.xml" Id="R5f14556863c842d1" /><Relationship Type="http://schemas.openxmlformats.org/officeDocument/2006/relationships/slide" Target="/ppt/slides/slide4.xml" Id="R9198445eab854643" /><Relationship Type="http://schemas.openxmlformats.org/officeDocument/2006/relationships/slide" Target="/ppt/slides/slide5.xml" Id="R66b9bd2c9d004d85" /><Relationship Type="http://schemas.openxmlformats.org/officeDocument/2006/relationships/slide" Target="/ppt/slides/slide6.xml" Id="R51a9494ba6994f4e" /><Relationship Type="http://schemas.openxmlformats.org/officeDocument/2006/relationships/slide" Target="/ppt/slides/slide7.xml" Id="R71c89ee0d16947b2" /><Relationship Type="http://schemas.openxmlformats.org/officeDocument/2006/relationships/slide" Target="/ppt/slides/slide8.xml" Id="R20d8bfc5312b4619" /><Relationship Type="http://schemas.openxmlformats.org/officeDocument/2006/relationships/slide" Target="/ppt/slides/slide9.xml" Id="R168ab4498511451a" /><Relationship Type="http://schemas.openxmlformats.org/officeDocument/2006/relationships/slide" Target="/ppt/slides/slide10.xml" Id="R07985164bd23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6549fbcf74343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Marl2GridTheme">
  <a:themeElements>
    <a:clrScheme name="Marl2GridTheme">
      <a:accent1>
        <a:srgbClr val="E2001A"/>
      </a:accent1>
      <a:accent2>
        <a:srgbClr val="2E78B7"/>
      </a:accent2>
      <a:accent3>
        <a:srgbClr val="EFE3D3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rl2Grid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161c3b86744c36" /><Relationship Type="http://schemas.openxmlformats.org/officeDocument/2006/relationships/notesMaster" Target="/ppt/notesMasters/notesMaster1.xml" Id="Rfda07a91863c4c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c46f53dbc443d" /><Relationship Type="http://schemas.openxmlformats.org/officeDocument/2006/relationships/notesMaster" Target="/ppt/notesMasters/notesMaster1.xml" Id="R9550a282f34e4e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20b6d55b414fad" /><Relationship Type="http://schemas.openxmlformats.org/officeDocument/2006/relationships/notesMaster" Target="/ppt/notesMasters/notesMaster1.xml" Id="R84d533393ce24a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4ad9d969584bd5" /><Relationship Type="http://schemas.openxmlformats.org/officeDocument/2006/relationships/notesMaster" Target="/ppt/notesMasters/notesMaster1.xml" Id="Rd36de46182204f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dadd878d74b82" /><Relationship Type="http://schemas.openxmlformats.org/officeDocument/2006/relationships/notesMaster" Target="/ppt/notesMasters/notesMaster1.xml" Id="R841a907834f2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13450d85c4bfe" /><Relationship Type="http://schemas.openxmlformats.org/officeDocument/2006/relationships/notesMaster" Target="/ppt/notesMasters/notesMaster1.xml" Id="Rbc4fb77e4a0745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03c87a874e4928" /><Relationship Type="http://schemas.openxmlformats.org/officeDocument/2006/relationships/notesMaster" Target="/ppt/notesMasters/notesMaster1.xml" Id="Ra5c53d22296f48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4d28039b084559" /><Relationship Type="http://schemas.openxmlformats.org/officeDocument/2006/relationships/notesMaster" Target="/ppt/notesMasters/notesMaster1.xml" Id="Rd3e7e1fb3f0840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310f9cb77a4e9f" /><Relationship Type="http://schemas.openxmlformats.org/officeDocument/2006/relationships/notesMaster" Target="/ppt/notesMasters/notesMaster1.xml" Id="R7cc0be4c73a94f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5147b14b574ffe" /><Relationship Type="http://schemas.openxmlformats.org/officeDocument/2006/relationships/notesMaster" Target="/ppt/notesMasters/notesMaster1.xml" Id="R86faf4499f1444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b93df87fc4f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EFD2FF2-D02D-4862-9199-11835DD1AF1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7D67549-E435-4732-8237-7ED8F2C3AC1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DBFCFF-258C-4D9F-B0D6-9354AB9C84A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F7EBDB-905C-4BF1-AEBC-7D7B8F9C13C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e4c26e55d745ef" /><Relationship Type="http://schemas.openxmlformats.org/officeDocument/2006/relationships/slideLayout" Target="/ppt/slideLayouts/slideLayout2.xml" Id="R42755d56525d48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FA9555-B0F4-445D-BB5C-3AC14336BF3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55d56525d48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c01fea086b4b57" /><Relationship Type="http://schemas.openxmlformats.org/officeDocument/2006/relationships/image" Target="/ppt/media/image.png" Id="Rd8aac4bd821d426e" /><Relationship Type="http://schemas.openxmlformats.org/officeDocument/2006/relationships/image" Target="/ppt/media/image2.png" Id="Re9acd7e660d44f01" /><Relationship Type="http://schemas.openxmlformats.org/officeDocument/2006/relationships/notesSlide" Target="/ppt/notesSlides/notesSlide1.xml" Id="Rc8a15d03813a43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b2cc5ded948de" /><Relationship Type="http://schemas.openxmlformats.org/officeDocument/2006/relationships/notesSlide" Target="/ppt/notesSlides/notesSlide2.xml" Id="R04676e3d050748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0b187bd6df4a36" /><Relationship Type="http://schemas.openxmlformats.org/officeDocument/2006/relationships/notesSlide" Target="/ppt/notesSlides/notesSlide3.xml" Id="R28562ab237e742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5dc59613e4fe9" /><Relationship Type="http://schemas.openxmlformats.org/officeDocument/2006/relationships/notesSlide" Target="/ppt/notesSlides/notesSlide4.xml" Id="R2398df81305a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1248098a9d494e" /><Relationship Type="http://schemas.openxmlformats.org/officeDocument/2006/relationships/notesSlide" Target="/ppt/notesSlides/notesSlide5.xml" Id="R8a757e61112f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13c1e3df68407c" /><Relationship Type="http://schemas.openxmlformats.org/officeDocument/2006/relationships/notesSlide" Target="/ppt/notesSlides/notesSlide6.xml" Id="Rcf6e4f8dcedc4f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5556114edc430b" /><Relationship Type="http://schemas.openxmlformats.org/officeDocument/2006/relationships/notesSlide" Target="/ppt/notesSlides/notesSlide7.xml" Id="R821fb3468957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89370a6584fd2" /><Relationship Type="http://schemas.openxmlformats.org/officeDocument/2006/relationships/notesSlide" Target="/ppt/notesSlides/notesSlide8.xml" Id="R51c04b2c193549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ae71dab0b54d5e" /><Relationship Type="http://schemas.openxmlformats.org/officeDocument/2006/relationships/notesSlide" Target="/ppt/notesSlides/notesSlide9.xml" Id="Re1facf17e31749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730dd9b364515" /><Relationship Type="http://schemas.openxmlformats.org/officeDocument/2006/relationships/notesSlide" Target="/ppt/notesSlides/notesSlide10.xml" Id="R9bba5b5ceef945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B8D94-F7BC-4F86-8EDB-1FC8D1D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FCFB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D6851-B7B2-41B4-927A-A246177D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15F23-3B60-4888-8447-78049378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2573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Topology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2037C-14AA-4807-BB47-4615812B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7200"/>
            <a:ext cx="108585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DDEAF8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8B7"/>
                </a:solidFill>
              </a:defRPr>
            </a:pPr>
            <a:r>
              <a:rPr sz="1200" b="1">
                <a:solidFill>
                  <a:srgbClr val="2E78B7"/>
                </a:solidFill>
              </a:rPr>
              <a:t>MARL2Grid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FF24E-F636-48A1-9758-F904A74C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"/>
            <a:ext cx="203835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2831"/>
                </a:solidFill>
              </a:defRPr>
            </a:pPr>
            <a:r>
              <a:rPr sz="1200" b="1">
                <a:solidFill>
                  <a:srgbClr val="262831"/>
                </a:solidFill>
              </a:rPr>
              <a:t>Multi-Agent Thesis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0038D-AA7C-475A-A7CB-62DD452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001A"/>
                </a:solidFill>
              </a:defRPr>
            </a:pPr>
            <a:r>
              <a:rPr sz="1950" b="1">
                <a:solidFill>
                  <a:srgbClr val="E2001A"/>
                </a:solidFill>
              </a:rPr>
              <a:t>Research Plan: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0DD4E-B78D-4E8F-B7E1-44533E5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C"/>
                </a:solidFill>
              </a:defRPr>
            </a:pPr>
            <a:r>
              <a:rPr sz="3150" b="1">
                <a:solidFill>
                  <a:srgbClr val="17171C"/>
                </a:solidFill>
              </a:rPr>
              <a:t>Building on MARL2Grid for</a:t>
            </a:r>
          </a:p>
          <a:p xmlns:a="http://schemas.openxmlformats.org/drawingml/2006/main">
            <a:pPr algn="l">
              <a:defRPr sz="3150" b="1">
                <a:solidFill>
                  <a:srgbClr val="17171C"/>
                </a:solidFill>
              </a:defRPr>
            </a:pPr>
            <a:r>
              <a:rPr sz="3150" b="1">
                <a:solidFill>
                  <a:srgbClr val="17171C"/>
                </a:solidFill>
              </a:rPr>
              <a:t>Multi-Agent Topology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213CC-A9FA-4005-9E8E-F1E8BF6E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773"/>
                </a:solidFill>
              </a:defRPr>
            </a:pPr>
            <a:r>
              <a:rPr sz="1650" b="0">
                <a:solidFill>
                  <a:srgbClr val="666773"/>
                </a:solidFill>
              </a:rPr>
              <a:t>From benchmark understanding to new decentralized learning methods for transmission-grid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8E687-3C2E-498B-B337-E8F9E3D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0" cy="11811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  <p:txBody>
          <a:bodyPr xmlns:a="http://schemas.openxmlformats.org/drawingml/2006/main" lIns="17145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C"/>
                </a:solidFill>
              </a:defRPr>
            </a:pPr>
            <a:r>
              <a:rPr sz="1650" b="1">
                <a:solidFill>
                  <a:srgbClr val="E2001A"/>
                </a:solidFill>
              </a:rPr>
              <a:t>Core thesis idea</a:t>
            </a:r>
          </a:p>
          <a:p xmlns:a="http://schemas.openxmlformats.org/drawingml/2006/main">
            <a:pPr algn="l">
              <a:defRPr sz="1650" b="0">
                <a:solidFill>
                  <a:srgbClr val="17171C"/>
                </a:solidFill>
              </a:defRPr>
            </a:pPr>
            <a:r>
              <a:rPr sz="1650" b="0">
                <a:solidFill>
                  <a:srgbClr val="17171C"/>
                </a:solidFill>
              </a:rPr>
              <a:t>Use MARL2Grid's topology benchmark as the testbed, then study how graph structure, coordination, and safe local control improve multi-agent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47FBC-8496-4158-BD70-DBC4EA49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C"/>
                </a:solidFill>
              </a:defRPr>
            </a:pPr>
            <a:r>
              <a:rPr sz="1500" b="1">
                <a:solidFill>
                  <a:srgbClr val="17171C"/>
                </a:solidFill>
              </a:rPr>
              <a:t>Corentin Plumet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A59BD-4F99-460B-80B1-BA53E0B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773"/>
                </a:solidFill>
              </a:defRPr>
            </a:pPr>
            <a:r>
              <a:rPr sz="1275" b="0">
                <a:solidFill>
                  <a:srgbClr val="666773"/>
                </a:solidFill>
              </a:rPr>
              <a:t>Master Thesis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F1639-4FA9-4D81-AD62-D24802E5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773"/>
                </a:solidFill>
              </a:defRPr>
            </a:pPr>
            <a:r>
              <a:rPr sz="1200" b="0">
                <a:solidFill>
                  <a:srgbClr val="666773"/>
                </a:solidFill>
              </a:rPr>
              <a:t>April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88577-0A44-4721-BE43-48A133C6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90600"/>
            <a:ext cx="4762500" cy="49720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ac4bd821d426e"/>
          <a:stretch xmlns:a="http://schemas.openxmlformats.org/drawingml/2006/main"/>
        </p:blipFill>
        <p:spPr>
          <a:xfrm xmlns:a="http://schemas.openxmlformats.org/drawingml/2006/main">
            <a:off x="6991350" y="1890613"/>
            <a:ext cx="4305300" cy="2638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9D5CF-E18B-46C0-842C-33F3D1B0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006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001A"/>
                </a:solidFill>
              </a:defRPr>
            </a:pPr>
            <a:r>
              <a:rPr sz="1275" b="1">
                <a:solidFill>
                  <a:srgbClr val="E2001A"/>
                </a:solidFill>
              </a:rPr>
              <a:t>Benchmark-first thesis framing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8D795-D245-4517-A04A-069B6F06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245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C"/>
                </a:solidFill>
              </a:defRPr>
            </a:pPr>
            <a:r>
              <a:rPr sz="1200" b="0">
                <a:solidFill>
                  <a:srgbClr val="17171C"/>
                </a:solidFill>
              </a:rPr>
              <a:t>Instead of proposing a controller in isolation, the plan is to start from MARL2Grid's released topology benchmark and ask what genuinely helps multi-agent control scale.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cd7e660d44f01"/>
          <a:stretch xmlns:a="http://schemas.openxmlformats.org/drawingml/2006/main"/>
        </p:blipFill>
        <p:spPr>
          <a:xfrm xmlns:a="http://schemas.openxmlformats.org/drawingml/2006/main">
            <a:off x="10189371" y="6096000"/>
            <a:ext cx="747708" cy="3238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11AE0-52F9-4891-AC93-50DDD696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D4E4A-C0D0-47D9-AE90-4C3056EF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Research plan update: MARL2Grid-centered and explicitly multi-agent</a:t>
            </a:r>
          </a:p>
        </p:txBody>
      </p:sp>
    </p:spTree>
    <p:extLst>
      <p:ext uri="{BB962C8B-B14F-4D97-AF65-F5344CB8AC3E}">
        <p14:creationId xmlns:p14="http://schemas.microsoft.com/office/powerpoint/2010/main" val="96778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C2AEC-15E8-433B-98B5-8A1DF7E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Why this direction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399B4-7AF2-462F-B5D9-71E963E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Operational relevance meets a benchmark that actually exposes the MARL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D91F7-B8D4-4642-A858-4C390A59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73"/>
                </a:solidFill>
              </a:defRPr>
            </a:pPr>
            <a:r>
              <a:rPr sz="1350" b="0">
                <a:solidFill>
                  <a:srgbClr val="666773"/>
                </a:solidFill>
              </a:rPr>
              <a:t>The opportunity is not just to do graph RL on grids, but to study decentralized topology control under realistic coordination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FC3E3-D34B-43C6-AE00-9456772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FF625-1437-4B61-A87F-54D3A146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3390900" cy="36385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5120A-26E3-42B2-98E6-362F118A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Operational pressure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92122-8AE9-4E3C-8E38-E0445E4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BA3D1-EA72-4405-9D5C-82231A4C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2647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Topology control can reroute flows before using costly redispatch.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E5082-D8B8-435B-8C7B-84FAC108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1B56A-079F-4BBB-B4E1-2373CA7F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647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Decisions must be made fast, under renewable variability and contingencies.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88F42-A096-404B-A144-93E823B4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B51C4-9816-495A-A2D7-FE4E7846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2647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Local interventions can create distant effects, so coordination matters by design.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39CDB-41DA-43C8-9FB1-8E29720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8B166-BA78-47E0-9FF7-65FE6F43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2647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The action space is combinatorial and safety-critical.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836B3-093E-444C-BD68-847B1F9C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3390900" cy="36385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89CC7-4AD6-4730-A110-6412F756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Why MARL2Grid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4C912-652F-4308-8F80-2F91D370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19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3969C-8DEB-419A-8C85-AD526574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It formulates realistic topology control as a multi-agent benchmark, not as a toy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CCDB6-FE98-4F41-B872-BFF53676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19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FB7C3-9771-4CD2-83EC-3FA9B988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718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It exposes agent partitions, local vs global observations, heuristic transitions, and constraints.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C0B46-2CBF-411F-A3D7-9049401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19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49439-FEC5-44B7-A8CB-9060246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719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It already provides baselines and released code on the topology side.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14A40-E60E-4CA3-BDEF-87971A6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3390900" cy="36385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E8752-7B30-4A26-932B-D455C9AC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Thesis stance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9A55C-49D6-4D0B-BB75-C3F39B08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Build on MARL2Grid instead of inventing a private evaluation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Use the benchmark to ask a sharper question: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What helps decentralized topology controllers coordinate, generalize, and remain reliable?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EB7EA-E854-414A-B176-A7549C1E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139065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benchmark realism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BE91AE-A4F6-4A7A-BDE7-065A3E15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53000"/>
            <a:ext cx="14859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decentralized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897C6-0DED-4101-9F18-2CE227E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41B1E-2F1D-429A-AA18-4F34CF82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1050541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A478B-C612-4EE5-AD9F-750FEC94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Reframing the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13D58-B462-47A3-A410-2819AB7E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The original plan becomes stronger if we move from a single-agent reliability story to a MARL2Grid-driven coordination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D7F1D-009E-4695-8274-E1CD19F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D5A0D-C60E-470A-B4AD-B9E4BE27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457700" cy="39433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54E89-3E04-4BC5-A775-9D355FED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6773"/>
                </a:solidFill>
              </a:defRPr>
            </a:pPr>
            <a:r>
              <a:rPr sz="1500" b="1">
                <a:solidFill>
                  <a:srgbClr val="666773"/>
                </a:solidFill>
              </a:rPr>
              <a:t>Previous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E66CA-8C3B-4E2B-81B8-61660BEC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6773"/>
                </a:solidFill>
              </a:defRPr>
            </a:pPr>
            <a:r>
              <a:rPr sz="1500" b="1">
                <a:solidFill>
                  <a:srgbClr val="666773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F1B0C-16B6-4026-AE58-E522D4C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38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Main focus on graph representation for one controller.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FA59B-E567-450C-ADEF-742917AA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6773"/>
                </a:solidFill>
              </a:defRPr>
            </a:pPr>
            <a:r>
              <a:rPr sz="1500" b="1">
                <a:solidFill>
                  <a:srgbClr val="666773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35088-9589-4A5D-8671-D09E4C8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00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Reliability is an evaluation lens layered on top of standard RL.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D1C22-3FD6-458F-9785-0E66AB8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6773"/>
                </a:solidFill>
              </a:defRPr>
            </a:pPr>
            <a:r>
              <a:rPr sz="1500" b="1">
                <a:solidFill>
                  <a:srgbClr val="66677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F4191-1ADE-4E2D-9246-CA8B135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62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Safety layers and imitation are extra modules around a single decision-maker.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26603-944C-41DF-B099-8AE7E029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6773"/>
                </a:solidFill>
              </a:defRPr>
            </a:pPr>
            <a:r>
              <a:rPr sz="1500" b="1">
                <a:solidFill>
                  <a:srgbClr val="66677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72045-2D70-4DCC-B8BC-5D0F17CE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24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Benchmarking risk: harder to separate method gains from evaluation choices.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31700-DB25-4BEF-8A36-7EB97434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00400"/>
            <a:ext cx="1200150" cy="1009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419E7-C16D-483F-A42E-6A638B30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shift the center of gravity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BECF5-1C3F-4833-94A4-6B05DE45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90700"/>
            <a:ext cx="4457700" cy="39433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DDEA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5922C-A410-4555-B300-843CB28D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19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8B7"/>
                </a:solidFill>
              </a:defRPr>
            </a:pPr>
            <a:r>
              <a:rPr sz="1500" b="1">
                <a:solidFill>
                  <a:srgbClr val="2E78B7"/>
                </a:solidFill>
              </a:rPr>
              <a:t>Updated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7E135-447F-4EDE-AB1E-A923C09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38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8B7"/>
                </a:solidFill>
              </a:defRPr>
            </a:pPr>
            <a:r>
              <a:rPr sz="1500" b="1">
                <a:solidFill>
                  <a:srgbClr val="2E78B7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F3060-C677-4D49-9AC9-39DFCAAF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38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Start from MARL2Grid's topology benchmark and released baselines.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EF4CA-06C2-437D-8A9F-04EB9F2D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0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8B7"/>
                </a:solidFill>
              </a:defRPr>
            </a:pPr>
            <a:r>
              <a:rPr sz="1500" b="1">
                <a:solidFill>
                  <a:srgbClr val="2E78B7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CAD3B-71ED-43D6-A6A9-643AD6FD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0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Center the thesis on coordination, partial observability, and decentralized action structure.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7D60D-FD89-4A00-91A1-AB934DE6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8B7"/>
                </a:solidFill>
              </a:defRPr>
            </a:pPr>
            <a:r>
              <a:rPr sz="1500" b="1">
                <a:solidFill>
                  <a:srgbClr val="2E78B7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3E023-1660-4DDD-AE7F-E43E2F0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Use graph structure as a tool for multi-agent representation and communication.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3ADB8-6A74-4DAE-B7F4-C48B0798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19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8B7"/>
                </a:solidFill>
              </a:defRPr>
            </a:pPr>
            <a:r>
              <a:rPr sz="1500" b="1">
                <a:solidFill>
                  <a:srgbClr val="2E78B7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26A0A-6F41-4DD0-926E-11D2315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350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Treat reliability as a first-class benchmark outcome, not just an add-on metric.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A14F5-9E20-4D12-9A44-24C6532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220200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D4C78-4E29-49C3-AD09-E4213FCD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1980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C"/>
                </a:solidFill>
              </a:defRPr>
            </a:pPr>
            <a:r>
              <a:rPr sz="1500" b="1">
                <a:solidFill>
                  <a:srgbClr val="17171C"/>
                </a:solidFill>
              </a:rPr>
              <a:t>Net effect: the project becomes more original, easier to justify experimentally, and much better aligned with the MARL2Grid paper and codebase.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FCCD8-A1EA-4A76-A423-AF554F5F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C98E06-ECEE-41BA-B855-556E64FA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1399716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C06B1-F8D0-40B0-8A7D-61325934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What MARL2Grid gives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C3336-EE79-463D-A5DB-C3266434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The topology side already defines a complete experimental stack for decentralized power-grid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690B3-D98A-4F82-AAC5-1FF315D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09133-6F51-4612-BB66-1C5CA41B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324100" cy="2990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6E58E-7B53-46CC-B168-84B26A9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CFD05-272D-4AB1-B2ED-63812409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4E22-8F3A-443A-B138-B8549E9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Grid2Op-based topology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3017-021A-4BDB-BF64-E8305CE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CE065-68A0-4EE2-945E-82082A27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bus14, bus36, bus118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92276-4C63-4DDB-9724-488EFC3B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B6352-BD9F-4C14-8F53-8B31AD43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5-minute control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DAAC4-FBE7-4DA0-AEFF-8C12AC0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10FBA-C33C-4614-B42B-AE51E15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Substation-level topology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5CDB0-0768-45FD-BD04-2C7F8E60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324100" cy="2990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87455-5D51-462E-A0F3-C506540F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Multi-agent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9BC30-BDD4-4AB9-9664-FA0529AD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EFFE8-7C66-49C3-B96D-8D4B32FD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Agent-to-substation partitions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05114-2D57-46BB-B724-AC5B1AC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22CBB-7670-4E1E-8580-3399EC2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432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Difficulty 0: paper partitions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C7011-CFD3-42C6-8258-584D659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576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3183C-7DCD-4F58-BA08-B4B8754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576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Difficulty 1: one agent per substation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C9434-9080-4B00-95DE-5660C21D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7A1EC-DB78-4AEA-AD4F-FA33DC5F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719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Local or global observations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D1E3B-9400-46BB-AED9-5D2BE296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2324100" cy="2990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4C4A0-0430-4B25-98B6-58DFD630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9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Training 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B2742-257F-40FA-95DC-A2DBD15E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A1DAD-1B05-4369-9625-6ECBF9B2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28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MAPPO, QPLEX, LagrMAPPO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87C81B-5800-49DB-947C-1C94DDD4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AE6824-595C-419A-81EB-11F95581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Async vectorized env wrapper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80AB3E-D0F0-42C2-ACA4-9E7FB2AB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576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938AD-2EB3-4318-B561-7D610DFB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576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Evaluation hooks + checkpoints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6824E-E36F-4DEA-8147-548E5AD6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719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2CFFCB-B735-46B2-A488-388D442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719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Paper-aligned reward components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FBE49B-907C-4A13-B560-8FE54CAF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00250"/>
            <a:ext cx="2324100" cy="2990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EA0BD8-24C5-4126-BF4A-6650E889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09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Safety &amp; realism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D350D6-FA45-4094-BF78-724F6234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7E5E25-4BFD-4B9E-8B44-5BAF52D3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28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Idle heuristic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DFC845-6211-45F5-A004-5539675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47F679-DA5A-40E6-9448-5E238C41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432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Constraint variants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B77492-76B3-4E6D-9804-FF3B4EAD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D0A4FD-8493-41BE-8BC6-2951C008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576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Line overload logic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95D49B-E9A1-46B1-9D46-18EB829E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719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001A"/>
                </a:solidFill>
              </a:defRPr>
            </a:pPr>
            <a:r>
              <a:rPr sz="135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D0B8C1-7365-475F-807B-3CC685F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719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Long-horizon chronics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DA1AA3-1292-4DF1-AF1C-D8ED58C3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0363200" cy="857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DDEAF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FF6365-26EC-47ED-A0CC-0038E6FD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8B7"/>
                </a:solidFill>
              </a:defRPr>
            </a:pPr>
            <a:r>
              <a:rPr sz="1500" b="1">
                <a:solidFill>
                  <a:srgbClr val="2E78B7"/>
                </a:solidFill>
              </a:rPr>
              <a:t>Implication for the thesis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68311B-566A-4E50-B8C9-86D87160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864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C"/>
                </a:solidFill>
              </a:defRPr>
            </a:pPr>
            <a:r>
              <a:rPr sz="1500" b="0">
                <a:solidFill>
                  <a:srgbClr val="17171C"/>
                </a:solidFill>
              </a:rPr>
              <a:t>The benchmark is not just a dataset or simulator. It already defines the decomposition, observability, and evaluation protocol, which lets the thesis focus on method design rather than benchmark creation.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3AF1CE-5A27-46B5-A520-99041F0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8735BD-9B0F-45FA-8CD6-9B65911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1922336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99588-B4A4-4EAA-941C-DB77EA3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Research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98A09-9664-4B04-988B-7594EC59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MARL2Grid already shows the problem is not solved, especially for realistic topology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D93FD-A071-4352-B4EC-B59C1531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3CB68-1FF3-40AE-8A0F-05F7690D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858500" cy="857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C1EF4-E431-4269-A0FA-5750969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363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Key signal from the paper: on the topology task, MAPPO performs well on bus14 but current baselines still fail to scale cleanly to harder settings like bus118.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58177-74EB-454C-9E13-E38B124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52197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BE22B-E5E3-4270-9C47-C0482DA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Coordination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98B48-62CB-4975-8491-B62BF95E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800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Agents act locally but affect distant lines through shared AC dynamics. That makes naive decentralization brittle.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B4E2E-6C76-4C33-9CA3-253E0B3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52197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6B869-8927-44AB-932C-2877ABE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Representation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D038E-408C-434B-8548-52EF75A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4800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Per-agent MLP observations may discard useful graph structure about neighboring substations and boundary lines.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71D4C-5446-4B6C-8096-67D065B3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52197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4909E-8779-455E-BA39-BE6822F3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Exploration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67BEC-1401-4967-B1DC-3774462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800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Topology actions are combinatorial, and the idle heuristic can reduce the already narrow windows where agents actually learn to coordinate.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6D99D-6A75-4ED5-BFED-1906258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48200"/>
            <a:ext cx="52197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40245-C912-4C4C-9BF6-50AF1207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336F0-9997-4D99-9372-361E4BC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24450"/>
            <a:ext cx="4800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C"/>
                </a:solidFill>
              </a:defRPr>
            </a:pPr>
            <a:r>
              <a:rPr sz="1350" b="0">
                <a:solidFill>
                  <a:srgbClr val="17171C"/>
                </a:solidFill>
              </a:rPr>
              <a:t>A good thesis must compare methods across agent partitions, observation regimes, constraints, and scaling levels, not only one favorable setup.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4007A-1E6B-409D-AA9F-26BEC7C3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4D490-17DF-4352-859E-D09534C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1522486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8FCDE-ED5B-4BF0-A34A-0074B95B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Objective and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36EA6-21AF-4FB5-AC23-1B053418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The thesis should ask what makes decentralized topology control work better on MARL2Grid, not only whether a graph encoder helps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7E736-1D27-4B13-AFBE-26A32F1F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EC652-B0EB-4449-B739-6924CB3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858500" cy="1047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15C4D-F28A-4756-9556-B73E509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001A"/>
                </a:solidFill>
              </a:defRPr>
            </a:pPr>
            <a:r>
              <a:rPr sz="1500" b="1">
                <a:solidFill>
                  <a:srgbClr val="E2001A"/>
                </a:solidFill>
              </a:rPr>
              <a:t>Main 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1474D-401A-45FB-95FE-DD07F7BE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145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C"/>
                </a:solidFill>
              </a:defRPr>
            </a:pPr>
            <a:r>
              <a:rPr sz="1800" b="1">
                <a:solidFill>
                  <a:srgbClr val="17171C"/>
                </a:solidFill>
              </a:rPr>
              <a:t>Develop and evaluate graph-aware multi-agent methods for MARL2Grid topology control, with a focus on coordination, safe local decision-making, and scaling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B4661-572A-4BCC-80B6-82DADE28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685800" cy="514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557A8-A8C3-46C7-92DB-C2A06619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38525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29836-56BA-41ED-8BA1-BE9C8457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52800"/>
            <a:ext cx="9467850" cy="5143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E52E4-C125-4F97-A787-380A9CF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480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C"/>
                </a:solidFill>
              </a:defRPr>
            </a:pPr>
            <a:r>
              <a:rPr sz="1575" b="0">
                <a:solidFill>
                  <a:srgbClr val="17171C"/>
                </a:solidFill>
              </a:rPr>
              <a:t>Can graph-aware local policies outperform vanilla MAPPO/QPLEX on the topology benchmark?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67DDA-1393-4C5B-BDEB-F9C297FA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685800" cy="514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342B2-0F9E-4CA8-9559-CFBAEA9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28355-AE0F-4EE8-994A-11ED0F4C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33850"/>
            <a:ext cx="9467850" cy="5143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DD8D6-5D10-4F5C-8D41-43670777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291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C"/>
                </a:solidFill>
              </a:defRPr>
            </a:pPr>
            <a:r>
              <a:rPr sz="1575" b="0">
                <a:solidFill>
                  <a:srgbClr val="17171C"/>
                </a:solidFill>
              </a:rPr>
              <a:t>Which decentralization choices matter most: agent partition, observation scope, or explicit communication?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40DDD-CF77-4B1C-A854-71E9597F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685800" cy="514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58148-2E43-43BE-988D-6C87C637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3F223-8556-4A22-9CED-0B42BF64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14900"/>
            <a:ext cx="9467850" cy="5143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79C42-1A31-43EB-9568-1241DF52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C"/>
                </a:solidFill>
              </a:defRPr>
            </a:pPr>
            <a:r>
              <a:rPr sz="1575" b="0">
                <a:solidFill>
                  <a:srgbClr val="17171C"/>
                </a:solidFill>
              </a:rPr>
              <a:t>How should safe action filtering or heuristic guidance be integrated without harming learning?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71B60-F72B-45D0-8670-C1FE0A3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685800" cy="514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7D269-C978-469A-9B95-8BDD56B5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84FE7-9A2F-47AF-B3A5-1B119B54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95950"/>
            <a:ext cx="9467850" cy="5143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EFD25-CCBF-400A-AB1B-35976AA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912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C"/>
                </a:solidFill>
              </a:defRPr>
            </a:pPr>
            <a:r>
              <a:rPr sz="1575" b="0">
                <a:solidFill>
                  <a:srgbClr val="17171C"/>
                </a:solidFill>
              </a:rPr>
              <a:t>What evaluation protocol best captures reliability, margin management, and scalability across bus14, bus36, and bus118?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BB1EC-A40C-4D1B-9079-7CF8967D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148D3-F486-45AF-A2AA-99E37D8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279190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74281-F3C9-4761-8A9D-0CC6BA31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Proposed method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9756E-7269-4789-899A-CD32B8A4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A layered approach that starts simple, then adds graph structure, coordination, and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37492-7996-4838-B46B-F4ADCA6C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80579-A7D1-4C8A-817A-90F6CB59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381250" cy="1143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A8355-9C21-44BE-BA88-9697313D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001A"/>
                </a:solidFill>
              </a:defRPr>
            </a:pPr>
            <a:r>
              <a:rPr sz="1275" b="1">
                <a:solidFill>
                  <a:srgbClr val="E2001A"/>
                </a:solidFill>
              </a:rPr>
              <a:t>1. Benchmark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7780A-B096-4532-96EE-25D28A5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MARL2Grid topology env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fixed partitions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local/global observations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paper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E3298-0BEC-4933-994B-162B9475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21FF8-C6CB-4700-83ED-56786E8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1143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5BE22-816B-46FE-862C-47668D1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C"/>
                </a:solidFill>
              </a:defRPr>
            </a:pPr>
            <a:r>
              <a:rPr sz="1275" b="1">
                <a:solidFill>
                  <a:srgbClr val="17171C"/>
                </a:solidFill>
              </a:rPr>
              <a:t>2. Representation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F9376-0825-4701-BF0B-4FC13468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substation + line encoder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shared or partially shared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boundary-aware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5416F-2D6A-431F-ACA7-DCF9C445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E9042-10C7-4BA7-9BC9-FA2DC5C4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381250" cy="1143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DDEA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23471-0E6B-4F5D-AC9A-391B50B5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8B7"/>
                </a:solidFill>
              </a:defRPr>
            </a:pPr>
            <a:r>
              <a:rPr sz="1275" b="1">
                <a:solidFill>
                  <a:srgbClr val="2E78B7"/>
                </a:solidFill>
              </a:rPr>
              <a:t>3. Coordination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50EBF-5763-4B83-972B-A70109C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centralized critic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optional communication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neighbor-zone 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ADDBB-4212-4F20-A932-422665FE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3C187-A087-4F2B-ACEB-9EE5375E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2381250" cy="1143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FA0BF-4CA3-4020-8CF2-C03B0EB5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C"/>
                </a:solidFill>
              </a:defRPr>
            </a:pPr>
            <a:r>
              <a:rPr sz="1275" b="1">
                <a:solidFill>
                  <a:srgbClr val="17171C"/>
                </a:solidFill>
              </a:rPr>
              <a:t>4. Safe action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49919-1FFD-458A-BF81-B9FBBDF9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local proposal + pruning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symmetry reduction</a:t>
            </a:r>
          </a:p>
          <a:p xmlns:a="http://schemas.openxmlformats.org/drawingml/2006/main">
            <a:pPr algn="l">
              <a:defRPr sz="1125" b="0">
                <a:solidFill>
                  <a:srgbClr val="17171C"/>
                </a:solidFill>
              </a:defRPr>
            </a:pPr>
            <a:r>
              <a:rPr sz="1125" b="0">
                <a:solidFill>
                  <a:srgbClr val="17171C"/>
                </a:solidFill>
              </a:rPr>
              <a:t>fallbacks for risky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0D1B4-57EA-474F-8BB7-824A216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95250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62831"/>
          </a:solidFill>
          <a:ln xmlns:a="http://schemas.openxmlformats.org/drawingml/2006/main" w="9525">
            <a:solidFill>
              <a:srgbClr val="2628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EB691-433C-4B6A-9109-EB2F915A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Execution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D5F94-0442-4B63-B628-6C8A748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Milestone A: reproduce MARL2Grid topology baselines and evaluation.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Milestone B: replace the local MLP policy with a graph-aware multi-agent encoder.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Milestone C: study explicit coordination and safe local action selection.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Milestone D: evaluate across partitions, observability regimes, and grid scales.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B1918-1C03-42A1-BBB4-FCE5778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082A4-96D8-4967-BDFE-9B27CD7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1259901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AAD8A-6274-4972-A55C-1B1560D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Experimental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2A343-089F-4998-AFCE-B30229C5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The contribution should be visible both in method design and in how rigorously the benchmark is 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2B1BD-1E5C-4882-8137-9A5C4AF6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8BCB9-89E8-4DB1-A12B-C31503F1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038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8B865-C951-405A-AF66-9970B42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001A"/>
                </a:solidFill>
              </a:defRPr>
            </a:pPr>
            <a:r>
              <a:rPr sz="1425" b="1">
                <a:solidFill>
                  <a:srgbClr val="E2001A"/>
                </a:solidFill>
              </a:rPr>
              <a:t>Baselines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0D4ED-9A07-49E1-B472-83C84CB1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830580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5BA38-38E3-480C-955D-DD82A0F0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788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Single-agent PPO, MAPPO, QPLEX, LagrMAPPO from the MARL2Grid codebase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11B04-C490-4EB7-9EE8-B47AE4F3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038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DDEA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8C372-DCD0-4AF5-AB34-289BFC7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78B7"/>
                </a:solidFill>
              </a:defRPr>
            </a:pPr>
            <a:r>
              <a:rPr sz="1425" b="1">
                <a:solidFill>
                  <a:srgbClr val="2E78B7"/>
                </a:solidFill>
              </a:rPr>
              <a:t>Method 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ED23C-FDA2-480F-80D2-AD909BF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830580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2AED8-52F8-4A2E-A9D8-8850C59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09900"/>
            <a:ext cx="788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MLP vs graph encoder, shared vs agent-specific parameters, no-comm vs comm, with/without safety filtering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6A0C7-D17A-49E3-8D6F-E093E0C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038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FAB5A-19CE-4801-B03E-E6C985F2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001A"/>
                </a:solidFill>
              </a:defRPr>
            </a:pPr>
            <a:r>
              <a:rPr sz="1425" b="1">
                <a:solidFill>
                  <a:srgbClr val="E2001A"/>
                </a:solidFill>
              </a:rPr>
              <a:t>Benchmark axes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51788-0604-4861-BCAE-C50EC4DE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830580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B28D3-08F7-4749-9EA3-4746FB58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86200"/>
            <a:ext cx="788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bus14 → bus36 → bus118, fixed partitions vs one-agent-per-substation, decentralized vs global observations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0E607-B4C3-4023-8E2C-F447048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38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DDEA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6F9D8-AC37-4859-8D34-35D68F80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78B7"/>
                </a:solidFill>
              </a:defRPr>
            </a:pPr>
            <a:r>
              <a:rPr sz="1425" b="1">
                <a:solidFill>
                  <a:srgbClr val="2E78B7"/>
                </a:solidFill>
              </a:rPr>
              <a:t>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7F9C9-C5FA-4F8A-9C8D-149EE2F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29150"/>
            <a:ext cx="830580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5AD6F-047D-4786-8C66-5F008228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88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survival, line margin, overload cost, topology distance, seed variance, and sample efficiency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078EF-0FDD-4B50-9085-8D2BFC13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553700" cy="6096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EB6B4-957D-496E-AEE4-074B3E57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005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Success criterion: not only better peak performance on bus14, but a better scaling trend and clearer coordination behavior as the task becomes harder.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8B96E-B34E-4589-BDE3-403D8C67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535CE-795E-4E94-A427-5F7653A6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1321456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2AD59-B0BA-4B04-8929-DC7D70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84FA3-9A6E-460A-B534-7A96E5E3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A realistic thesis schedule should move from benchmark mastery to method contribution, then to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6DC15-F2C6-4BE7-8C14-FF9C7DF5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F12A-FABF-41B4-A2BD-17DC8C6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67100"/>
            <a:ext cx="8915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E846A-7DB4-49F3-8AF2-8A24DD1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18B1B-F757-4514-81D8-7639F094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71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EA8BD-5DBD-4744-9954-4B619445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57500"/>
            <a:ext cx="7620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April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5451B-1E80-4BA9-A99B-775B3B90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1809750" cy="16192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828D2-9694-49DC-BCFD-02EF3D1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C"/>
                </a:solidFill>
              </a:defRPr>
            </a:pPr>
            <a:r>
              <a:rPr sz="1200" b="1">
                <a:solidFill>
                  <a:srgbClr val="17171C"/>
                </a:solidFill>
              </a:rPr>
              <a:t>Reproduce topology baselines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27F3C-D3FF-4E83-8371-F27189DE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Audit the MARL2Grid code,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run the reference baselines,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and lock an evaluation protocol.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5EDE8-A18F-440E-B208-53998BC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DEDEC-9C1E-4659-BD51-A29C6FE9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71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788AC-3226-4C17-957A-CBBA9699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57500"/>
            <a:ext cx="7620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May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0A6B4-56A4-43BA-A1EA-7F4FE32A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809750" cy="16192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426CB-3361-4116-BE52-59974AD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5765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C"/>
                </a:solidFill>
              </a:defRPr>
            </a:pPr>
            <a:r>
              <a:rPr sz="1200" b="1">
                <a:solidFill>
                  <a:srgbClr val="17171C"/>
                </a:solidFill>
              </a:rPr>
              <a:t>Formalize graph MARL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15CC9-10A7-49DA-82A6-04001AC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625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Define state/action abstractions,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pick graph encoders,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and choose the first MARL variant.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07104-7C84-4D51-9494-97B2A597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1B8D7-1806-4483-8EAF-D8A9F35E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71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78AC2-2F71-49D0-9F80-B3190DB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57500"/>
            <a:ext cx="7620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June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4A637-34E1-4FE9-988C-795BB581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86200"/>
            <a:ext cx="1809750" cy="16192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7D649-0962-4EEE-899F-F20329D4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C"/>
                </a:solidFill>
              </a:defRPr>
            </a:pPr>
            <a:r>
              <a:rPr sz="1200" b="1">
                <a:solidFill>
                  <a:srgbClr val="17171C"/>
                </a:solidFill>
              </a:rPr>
              <a:t>Implement graph-aware 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8CD0A-89D4-4C2B-9FBA-75E9B12D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625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Integrate the first graph-based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multi-agent controller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and compare against MAPPO/QPLEX.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F7356-A79D-409F-8A0C-BA391984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AFE5A-CE2D-46ED-900C-74451302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371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FC87D-FD6D-4BEA-B44B-61FD947E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57500"/>
            <a:ext cx="7620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July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D8500-8660-4938-9DDF-67207B4A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86200"/>
            <a:ext cx="1809750" cy="16192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A6A2D-90B5-41FE-9BA5-50BE0EB7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C"/>
                </a:solidFill>
              </a:defRPr>
            </a:pPr>
            <a:r>
              <a:rPr sz="1200" b="1">
                <a:solidFill>
                  <a:srgbClr val="17171C"/>
                </a:solidFill>
              </a:rPr>
              <a:t>Coordination + safety ablations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0F5BEA-CB21-4E61-84C5-CD46AD4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625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Add communication or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coordination modules,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plus filtering or pruning studies.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B9B88-8776-4476-9C4D-C6601228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C2A157-72D0-4312-98CA-60E611AD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371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9732D9-DF51-4332-87B7-5C0230DD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57500"/>
            <a:ext cx="7620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August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D88B0A-2218-4446-8607-48ADE635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1809750" cy="16192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482FA3-1F17-45C3-B849-E8B97B81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5765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C"/>
                </a:solidFill>
              </a:defRPr>
            </a:pPr>
            <a:r>
              <a:rPr sz="1200" b="1">
                <a:solidFill>
                  <a:srgbClr val="17171C"/>
                </a:solidFill>
              </a:rPr>
              <a:t>Final evaluation and writing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0A10F-4F84-4534-B245-4658DED8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625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Run the full benchmark matrix,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synthesize the results,</a:t>
            </a:r>
          </a:p>
          <a:p xmlns:a="http://schemas.openxmlformats.org/drawingml/2006/main">
            <a:pPr algn="ctr">
              <a:defRPr sz="1013" b="0">
                <a:solidFill>
                  <a:srgbClr val="666773"/>
                </a:solidFill>
              </a:defRPr>
            </a:pPr>
            <a:r>
              <a:rPr sz="1013" b="0">
                <a:solidFill>
                  <a:srgbClr val="666773"/>
                </a:solidFill>
              </a:rPr>
              <a:t>and write the thesis narrative.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D4FF77-CC01-4888-BDF3-20EA4F6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9C969-146C-4C17-B5E7-F36BD40D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MARL2Grid topology research plan</a:t>
            </a:r>
          </a:p>
        </p:txBody>
      </p:sp>
    </p:spTree>
    <p:extLst>
      <p:ext uri="{BB962C8B-B14F-4D97-AF65-F5344CB8AC3E}">
        <p14:creationId xmlns:p14="http://schemas.microsoft.com/office/powerpoint/2010/main" val="2305467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02702-7112-4452-A88F-7EBFC4BC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EB9FC-058B-4A9A-937C-D256276E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Expected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68428-EF75-4B0F-B2B7-8DFD21ED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C"/>
                </a:solidFill>
              </a:defRPr>
            </a:pPr>
            <a:r>
              <a:rPr sz="2550" b="1">
                <a:solidFill>
                  <a:srgbClr val="17171C"/>
                </a:solidFill>
              </a:rPr>
              <a:t>A strong thesis outcome combines a clean benchmark story, a method contribution, and reusable evaluation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1781A-264F-4FAE-9EF3-953F443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19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E3D3"/>
          </a:solidFill>
          <a:ln xmlns:a="http://schemas.openxmlformats.org/drawingml/2006/main" w="9525">
            <a:solidFill>
              <a:srgbClr val="EFE3D3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BD175-81F6-4278-8476-6A2F1E8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4914900" cy="3543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82F74-A728-4538-BBEC-FFB46B6A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the thesis should deliver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C4AD2-C4CF-4B3D-8CFD-49BBD2F5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9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DD63-E260-4CD7-AFF5-774E439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3981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 MARL2Grid-centered research pipeline for topology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7813B-A379-4F0A-BAED-F45A03F0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19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8877B-B871-4EA1-8475-369415C9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3981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At least one graph-aware multi-agent baseline that is stronger than the released reference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31A5B-F95A-45E1-8189-0B21D700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9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DBCC8-86CC-495A-8086-43AC8C0F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3981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 clear ablation map of what helps: graph structure, coordination, observability, or safety logic.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1817F-C28A-43F6-9296-7C5139C3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19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A795C-4E27-4344-A301-2CB69165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3981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 reusable evaluation protocol for future MARL topology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0A011-DB3E-4BA8-A81C-E93230C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43100"/>
            <a:ext cx="5619750" cy="3543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DB75B-941C-44CB-A6E4-9C25098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001A"/>
                </a:solidFill>
              </a:defRPr>
            </a:pPr>
            <a:r>
              <a:rPr sz="1650" b="1">
                <a:solidFill>
                  <a:srgbClr val="E2001A"/>
                </a:solidFill>
              </a:rPr>
              <a:t>Anchor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58BB1-5F6E-4549-BAD8-5165E066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Marchesini et al. (2026) MARL2Grid-TR</a:t>
            </a:r>
          </a:p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Yu et al. (2022) MAPPO</a:t>
            </a:r>
          </a:p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Wang et al. (2021) QPLEX</a:t>
            </a:r>
          </a:p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Marchesini et al. (2025) RL2Grid</a:t>
            </a:r>
          </a:p>
          <a:p xmlns:a="http://schemas.openxmlformats.org/drawingml/2006/main">
            <a:pPr algn="l">
              <a:defRPr sz="1425" b="0">
                <a:solidFill>
                  <a:srgbClr val="17171C"/>
                </a:solidFill>
              </a:defRPr>
            </a:pPr>
            <a:r>
              <a:rPr sz="1425" b="0">
                <a:solidFill>
                  <a:srgbClr val="17171C"/>
                </a:solidFill>
              </a:rPr>
              <a:t>Recent graph-RL / multi-agent topology-control papers from the original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578FE-037A-40AE-BA49-1E4F5E4C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00550"/>
            <a:ext cx="49530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DDEA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EC0C8-010E-4CD1-ACFB-6F094E95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00575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8B7"/>
                </a:solidFill>
              </a:defRPr>
            </a:pPr>
            <a:r>
              <a:rPr sz="1350" b="1">
                <a:solidFill>
                  <a:srgbClr val="2E78B7"/>
                </a:solidFill>
              </a:rPr>
              <a:t>The proposal becomes sharper if the benchmark is the backbone and the method question is explicitly multi-agent.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2F5E4-1624-41CE-B854-0953C59A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solidFill>
              <a:srgbClr val="D9D6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0A02A-776B-45BD-8B51-360B6C9C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773"/>
                </a:solidFill>
              </a:defRPr>
            </a:pPr>
            <a:r>
              <a:rPr sz="900" b="0">
                <a:solidFill>
                  <a:srgbClr val="666773"/>
                </a:solidFill>
              </a:rPr>
              <a:t>Updated deck built from the original research plan and redirected toward MARL2Grid</a:t>
            </a:r>
          </a:p>
        </p:txBody>
      </p:sp>
    </p:spTree>
    <p:extLst>
      <p:ext uri="{BB962C8B-B14F-4D97-AF65-F5344CB8AC3E}">
        <p14:creationId xmlns:p14="http://schemas.microsoft.com/office/powerpoint/2010/main" val="831552997"/>
      </p:ext>
    </p:extLst>
  </p:cSld>
</p:sld>
</file>

<file path=ppt/theme/theme1.xml><?xml version="1.0" encoding="utf-8"?>
<a:theme xmlns:a="http://schemas.openxmlformats.org/drawingml/2006/main" name="Marl2GridTheme">
  <a:themeElements>
    <a:clrScheme name="Marl2GridTheme">
      <a:accent1>
        <a:srgbClr val="E2001A"/>
      </a:accent1>
      <a:accent2>
        <a:srgbClr val="2E78B7"/>
      </a:accent2>
      <a:accent3>
        <a:srgbClr val="EFE3D3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rl2Grid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2026-04-22T05:02:21.3800000Z</dcterms:created>
  <dcterms:modified xsi:type="dcterms:W3CDTF">2026-04-22T05:02:21.3800000Z</dcterms:modified>
</coreProperties>
</file>