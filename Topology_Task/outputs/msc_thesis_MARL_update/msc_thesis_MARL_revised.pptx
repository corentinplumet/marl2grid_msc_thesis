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6c44a66d314351" /><Relationship Type="http://schemas.openxmlformats.org/officeDocument/2006/relationships/extended-properties" Target="/docProps/app.xml" Id="Rc018ce3c3c65433d" /><Relationship Type="http://schemas.openxmlformats.org/officeDocument/2006/relationships/officeDocument" Target="/ppt/presentation.xml" Id="R3b22fbc1a3c14a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bb3a8020b44262"/>
  </p:sldMasterIdLst>
  <p:notesMasterIdLst>
    <p:notesMasterId xmlns:r="http://schemas.openxmlformats.org/officeDocument/2006/relationships" r:id="Rc28a5ebf340e4e84"/>
  </p:notesMasterIdLst>
  <p:sldIdLst>
    <p:sldId xmlns:r="http://schemas.openxmlformats.org/officeDocument/2006/relationships" id="256" r:id="Rb0b25f2675fc4818"/>
    <p:sldId xmlns:r="http://schemas.openxmlformats.org/officeDocument/2006/relationships" id="257" r:id="Rb7e1f8628b1446ad"/>
    <p:sldId xmlns:r="http://schemas.openxmlformats.org/officeDocument/2006/relationships" id="258" r:id="Ra7874dd2db364b34"/>
    <p:sldId xmlns:r="http://schemas.openxmlformats.org/officeDocument/2006/relationships" id="259" r:id="R04734ffe1f0e4913"/>
    <p:sldId xmlns:r="http://schemas.openxmlformats.org/officeDocument/2006/relationships" id="260" r:id="Rfb34353c34594b39"/>
    <p:sldId xmlns:r="http://schemas.openxmlformats.org/officeDocument/2006/relationships" id="261" r:id="R0ae9b82f9b504b08"/>
    <p:sldId xmlns:r="http://schemas.openxmlformats.org/officeDocument/2006/relationships" id="262" r:id="R9968ae07a69c403d"/>
    <p:sldId xmlns:r="http://schemas.openxmlformats.org/officeDocument/2006/relationships" id="263" r:id="R991aca97edc3484e"/>
    <p:sldId xmlns:r="http://schemas.openxmlformats.org/officeDocument/2006/relationships" id="264" r:id="R79f8f33189c54d10"/>
    <p:sldId xmlns:r="http://schemas.openxmlformats.org/officeDocument/2006/relationships" id="265" r:id="R250f327b40ba4b91"/>
    <p:sldId xmlns:r="http://schemas.openxmlformats.org/officeDocument/2006/relationships" id="266" r:id="R1366c78b532f498b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b3a8020b44262" /><Relationship Type="http://schemas.openxmlformats.org/officeDocument/2006/relationships/theme" Target="/ppt/theme/theme1.xml" Id="Rf7cbe929a6dc4c97" /><Relationship Type="http://schemas.openxmlformats.org/officeDocument/2006/relationships/notesMaster" Target="/ppt/notesMasters/notesMaster1.xml" Id="Rc28a5ebf340e4e84" /><Relationship Type="http://schemas.openxmlformats.org/officeDocument/2006/relationships/presProps" Target="/ppt/presProps.xml" Id="Rb793180371d44c13" /><Relationship Type="http://schemas.openxmlformats.org/officeDocument/2006/relationships/viewProps" Target="/ppt/viewProps.xml" Id="R3cda695eaddc4100" /><Relationship Type="http://schemas.openxmlformats.org/officeDocument/2006/relationships/tableStyles" Target="/ppt/tableStyles.xml" Id="R6afcd4a097714f79" /><Relationship Type="http://schemas.openxmlformats.org/officeDocument/2006/relationships/slide" Target="/ppt/slides/slide1.xml" Id="Rb0b25f2675fc4818" /><Relationship Type="http://schemas.openxmlformats.org/officeDocument/2006/relationships/slide" Target="/ppt/slides/slide2.xml" Id="Rb7e1f8628b1446ad" /><Relationship Type="http://schemas.openxmlformats.org/officeDocument/2006/relationships/slide" Target="/ppt/slides/slide3.xml" Id="Ra7874dd2db364b34" /><Relationship Type="http://schemas.openxmlformats.org/officeDocument/2006/relationships/slide" Target="/ppt/slides/slide4.xml" Id="R04734ffe1f0e4913" /><Relationship Type="http://schemas.openxmlformats.org/officeDocument/2006/relationships/slide" Target="/ppt/slides/slide5.xml" Id="Rfb34353c34594b39" /><Relationship Type="http://schemas.openxmlformats.org/officeDocument/2006/relationships/slide" Target="/ppt/slides/slide6.xml" Id="R0ae9b82f9b504b08" /><Relationship Type="http://schemas.openxmlformats.org/officeDocument/2006/relationships/slide" Target="/ppt/slides/slide7.xml" Id="R9968ae07a69c403d" /><Relationship Type="http://schemas.openxmlformats.org/officeDocument/2006/relationships/slide" Target="/ppt/slides/slide8.xml" Id="R991aca97edc3484e" /><Relationship Type="http://schemas.openxmlformats.org/officeDocument/2006/relationships/slide" Target="/ppt/slides/slide9.xml" Id="R79f8f33189c54d10" /><Relationship Type="http://schemas.openxmlformats.org/officeDocument/2006/relationships/slide" Target="/ppt/slides/slide10.xml" Id="R250f327b40ba4b91" /><Relationship Type="http://schemas.openxmlformats.org/officeDocument/2006/relationships/slide" Target="/ppt/slides/slide11.xml" Id="R1366c78b532f49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f1a2da395843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EPFL - New Colors 2019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PFL - New Colors 201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56573cd99e4520" /><Relationship Type="http://schemas.openxmlformats.org/officeDocument/2006/relationships/notesMaster" Target="/ppt/notesMasters/notesMaster1.xml" Id="R968de5cf2e3246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9206121b77438b" /><Relationship Type="http://schemas.openxmlformats.org/officeDocument/2006/relationships/notesMaster" Target="/ppt/notesMasters/notesMaster1.xml" Id="R07c66e05de32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a99b4576374c7f" /><Relationship Type="http://schemas.openxmlformats.org/officeDocument/2006/relationships/notesMaster" Target="/ppt/notesMasters/notesMaster1.xml" Id="Ra08734eee84844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672e42d0b41de" /><Relationship Type="http://schemas.openxmlformats.org/officeDocument/2006/relationships/notesMaster" Target="/ppt/notesMasters/notesMaster1.xml" Id="R80f1bca35fd443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f7e2cf8c74445a" /><Relationship Type="http://schemas.openxmlformats.org/officeDocument/2006/relationships/notesMaster" Target="/ppt/notesMasters/notesMaster1.xml" Id="R518fb67dbb1943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37fe7e91cf4e28" /><Relationship Type="http://schemas.openxmlformats.org/officeDocument/2006/relationships/notesMaster" Target="/ppt/notesMasters/notesMaster1.xml" Id="Reb9db139c2114e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7abf12a25a4861" /><Relationship Type="http://schemas.openxmlformats.org/officeDocument/2006/relationships/notesMaster" Target="/ppt/notesMasters/notesMaster1.xml" Id="R79fa9c72583442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509c99dcba4e77" /><Relationship Type="http://schemas.openxmlformats.org/officeDocument/2006/relationships/notesMaster" Target="/ppt/notesMasters/notesMaster1.xml" Id="Rb0218d23ff1e4d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d692b1314a4f07" /><Relationship Type="http://schemas.openxmlformats.org/officeDocument/2006/relationships/notesMaster" Target="/ppt/notesMasters/notesMaster1.xml" Id="Rbdeb6c25551f41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e6140076664658" /><Relationship Type="http://schemas.openxmlformats.org/officeDocument/2006/relationships/notesMaster" Target="/ppt/notesMasters/notesMaster1.xml" Id="Rfcbc19f5f85c45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dffe7cb9084399" /><Relationship Type="http://schemas.openxmlformats.org/officeDocument/2006/relationships/notesMaster" Target="/ppt/notesMasters/notesMaster1.xml" Id="R71f07bd0bff449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40abdcc2043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7d715cb4b4e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f1fa67e4f48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3a6f2eca441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427c434c44f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5cdd2494b46b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1b8768d344c8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b4a36145249a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235acfb3349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4229652e843a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bed32c157474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e9e39a7c943d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04ee98561481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95766614e434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5dceb78ef4f8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790638b5e4c2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3fb703e0d4ccf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Title_Content_Image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pour une image  7">
            <a:extLst xmlns:a="http://schemas.openxmlformats.org/drawingml/2006/main"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5486400" y="0"/>
            <a:ext cx="3144838" cy="514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itre 4">
            <a:extLst xmlns:a="http://schemas.openxmlformats.org/drawingml/2006/main"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Espace réservé du pied de page 10">
            <a:extLst xmlns:a="http://schemas.openxmlformats.org/drawingml/2006/main"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Image_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5" y="0"/>
            <a:ext cx="7726363" cy="514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A784CC-3CC5-44F1-A0BD-9841750DDA4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05563" y="2571750"/>
            <a:ext cx="2738437" cy="211137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Espace réservé du pied de page 3">
            <a:extLst xmlns:a="http://schemas.openxmlformats.org/drawingml/2006/main"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_Section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93D3C0-9D3A-434A-AA43-1CD91786B5D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0" y="777875"/>
            <a:ext cx="4058920" cy="179387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14EEFD-06CD-4186-9B28-8D1038375E1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0" y="2571750"/>
            <a:ext cx="4058920" cy="215650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9" name="Espace réservé pour une image  8">
            <a:extLst xmlns:a="http://schemas.openxmlformats.org/drawingml/2006/main"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5" y="0"/>
            <a:ext cx="3667125" cy="514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Espace réservé de la date 11">
            <a:extLst xmlns:a="http://schemas.openxmlformats.org/drawingml/2006/main">
              <a:ext uri="{FF2B5EF4-FFF2-40B4-BE49-F238E27FC236}">
                <a16:creationId xmlns:a16="http://schemas.microsoft.com/office/drawing/2014/main" id="{0FB3B03C-7868-4850-A94D-30BFF6DEF046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Espace réservé du pied de page 12">
            <a:extLst xmlns:a="http://schemas.openxmlformats.org/drawingml/2006/main">
              <a:ext uri="{FF2B5EF4-FFF2-40B4-BE49-F238E27FC236}">
                <a16:creationId xmlns:a16="http://schemas.microsoft.com/office/drawing/2014/main" id="{97F3AE5F-8FEC-4F03-ADA2-5B0D7C4770EC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re 7">
            <a:extLst xmlns:a="http://schemas.openxmlformats.org/drawingml/2006/main"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Espace réservé de la date 8">
            <a:extLst xmlns:a="http://schemas.openxmlformats.org/drawingml/2006/main"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Espace réservé du pied de page 9">
            <a:extLst xmlns:a="http://schemas.openxmlformats.org/drawingml/2006/main"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re 5">
            <a:extLst xmlns:a="http://schemas.openxmlformats.org/drawingml/2006/main"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Espace réservé du pied de page 7">
            <a:extLst xmlns:a="http://schemas.openxmlformats.org/drawingml/2006/main"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1_Titre se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6" y="0"/>
            <a:ext cx="8239125" cy="514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749061-1078-443E-8BD4-3E3FCE690C5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05564" y="2571751"/>
            <a:ext cx="2738437" cy="2111375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Espace réservé du pied de page 3">
            <a:extLst xmlns:a="http://schemas.openxmlformats.org/drawingml/2006/main"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Title_EPF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space réservé pour une image  11">
            <a:extLst xmlns:a="http://schemas.openxmlformats.org/drawingml/2006/main"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1331913" y="0"/>
            <a:ext cx="7812087" cy="49482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/>
          <p:nvPr>
            <p:ph type="body" idx="11"/>
          </p:nvPr>
        </p:nvSpPr>
        <p:spPr>
          <a:xfrm xmlns:a="http://schemas.openxmlformats.org/drawingml/2006/main">
            <a:off x="6400800" y="4683125"/>
            <a:ext cx="1828800" cy="460375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ctr">
              <a:buNone/>
              <a:defRPr sz="1100"/>
            </a:lvl1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blank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Espace réservé du pied de page 5">
            <a:extLst xmlns:a="http://schemas.openxmlformats.org/drawingml/2006/main"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_Facul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space réservé pour une image  11">
            <a:extLst xmlns:a="http://schemas.openxmlformats.org/drawingml/2006/main"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1331913" y="0"/>
            <a:ext cx="7812087" cy="49482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/>
          <p:nvPr>
            <p:ph type="body" idx="11"/>
          </p:nvPr>
        </p:nvSpPr>
        <p:spPr>
          <a:xfrm xmlns:a="http://schemas.openxmlformats.org/drawingml/2006/main">
            <a:off x="6400800" y="4683125"/>
            <a:ext cx="1828800" cy="460375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ctr">
              <a:buNone/>
              <a:defRPr sz="1100"/>
            </a:lvl1pPr>
          </a:lstStyle>
          <a:p xmlns:a="http://schemas.openxmlformats.org/drawingml/2006/main"/>
        </p:txBody>
      </p:sp>
      <p:sp>
        <p:nvSpPr>
          <p:cNvPr id="5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/>
          <p:nvPr>
            <p:ph type="body" idx="12"/>
          </p:nvPr>
        </p:nvSpPr>
        <p:spPr>
          <a:xfrm xmlns:a="http://schemas.openxmlformats.org/drawingml/2006/main">
            <a:off x="82550" y="4440264"/>
            <a:ext cx="698500" cy="507975"/>
          </a:xfr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marL="114300" indent="-107950">
              <a:buNone/>
              <a:defRPr sz="7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_Section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83017E-8A2C-4247-8E87-9D6E959E46E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0" y="777875"/>
            <a:ext cx="4058920" cy="179387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484BA2-F1DC-4F6C-BC6D-9DC44130A98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0" y="2571750"/>
            <a:ext cx="4058920" cy="215650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9" name="Espace réservé pour une image  8">
            <a:extLst xmlns:a="http://schemas.openxmlformats.org/drawingml/2006/main"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5" y="0"/>
            <a:ext cx="3667125" cy="514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Espace réservé de la date 7">
            <a:extLst xmlns:a="http://schemas.openxmlformats.org/drawingml/2006/main">
              <a:ext uri="{FF2B5EF4-FFF2-40B4-BE49-F238E27FC236}">
                <a16:creationId xmlns:a16="http://schemas.microsoft.com/office/drawing/2014/main" id="{F3E81952-4270-4651-B75A-932A93962BA4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Espace réservé du pied de page 9">
            <a:extLst xmlns:a="http://schemas.openxmlformats.org/drawingml/2006/main">
              <a:ext uri="{FF2B5EF4-FFF2-40B4-BE49-F238E27FC236}">
                <a16:creationId xmlns:a16="http://schemas.microsoft.com/office/drawing/2014/main" id="{5C805DBE-2BDE-4E8A-88DA-A18993C25356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title_2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re 7">
            <a:extLst xmlns:a="http://schemas.openxmlformats.org/drawingml/2006/main"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Espace réservé de la date 8">
            <a:extLst xmlns:a="http://schemas.openxmlformats.org/drawingml/2006/main"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Espace réservé du pied de page 9">
            <a:extLst xmlns:a="http://schemas.openxmlformats.org/drawingml/2006/main"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Title_Section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092484-D308-4A49-8A9F-EF120795283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0" y="777875"/>
            <a:ext cx="4058920" cy="179387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B8FC1-20F5-40DA-9196-79F2027C0E4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0" y="2571750"/>
            <a:ext cx="4058920" cy="215650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9" name="Espace réservé pour une image  8">
            <a:extLst xmlns:a="http://schemas.openxmlformats.org/drawingml/2006/main"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5" y="0"/>
            <a:ext cx="3667125" cy="514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Espace réservé de la date 7">
            <a:extLst xmlns:a="http://schemas.openxmlformats.org/drawingml/2006/main">
              <a:ext uri="{FF2B5EF4-FFF2-40B4-BE49-F238E27FC236}">
                <a16:creationId xmlns:a16="http://schemas.microsoft.com/office/drawing/2014/main" id="{19E87D5F-D9D4-4167-8C0B-AD2AD2E586CE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Espace réservé du pied de page 9">
            <a:extLst xmlns:a="http://schemas.openxmlformats.org/drawingml/2006/main">
              <a:ext uri="{FF2B5EF4-FFF2-40B4-BE49-F238E27FC236}">
                <a16:creationId xmlns:a16="http://schemas.microsoft.com/office/drawing/2014/main" id="{0D33F8FA-EF75-4E92-8A40-6B566AB93BF4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Title_Content_ImageBel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5" y="3114674"/>
            <a:ext cx="8239125" cy="20288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615A8298-9FE0-43B4-B739-C4487BF96F27}"/>
              </a:ext>
            </a:extLst>
          </p:cNvPr>
          <p:cNvSpPr/>
          <p:nvPr>
            <p:ph type="body" idx="17"/>
          </p:nvPr>
        </p:nvSpPr>
        <p:spPr>
          <a:xfrm xmlns:a="http://schemas.openxmlformats.org/drawingml/2006/main">
            <a:off x="904875" y="1563688"/>
            <a:ext cx="7646988" cy="1436687"/>
          </a:xfrm>
        </p:spPr>
        <p:txBody>
          <a:bodyPr xmlns:a="http://schemas.openxmlformats.org/drawingml/2006/main"/>
          <a:lstStyle xmlns:a="http://schemas.openxmlformats.org/drawingml/2006/main">
            <a:lvl4pPr>
              <a:buNone/>
              <a:defRPr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/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/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Espace réservé du pied de page 7">
            <a:extLst xmlns:a="http://schemas.openxmlformats.org/drawingml/2006/main"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/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itre 10">
            <a:extLst xmlns:a="http://schemas.openxmlformats.org/drawingml/2006/main"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Title_Content_Image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pour une image  7">
            <a:extLst xmlns:a="http://schemas.openxmlformats.org/drawingml/2006/main"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5" y="1563688"/>
            <a:ext cx="3144838" cy="35798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itre 6">
            <a:extLst xmlns:a="http://schemas.openxmlformats.org/drawingml/2006/main"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Espace réservé de la date 8">
            <a:extLst xmlns:a="http://schemas.openxmlformats.org/drawingml/2006/main"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Espace réservé du pied de page 9">
            <a:extLst xmlns:a="http://schemas.openxmlformats.org/drawingml/2006/main"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Title_Section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CDC002-0F8D-4622-8A55-44CDD2A6204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0" y="777875"/>
            <a:ext cx="4058920" cy="179387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4BBD97-8F58-4084-B139-DF1FF9915804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0" y="2571750"/>
            <a:ext cx="4058920" cy="215650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9" name="Espace réservé pour une image  8">
            <a:extLst xmlns:a="http://schemas.openxmlformats.org/drawingml/2006/main"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5" y="0"/>
            <a:ext cx="3667125" cy="514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Espace réservé de la date 11">
            <a:extLst xmlns:a="http://schemas.openxmlformats.org/drawingml/2006/main">
              <a:ext uri="{FF2B5EF4-FFF2-40B4-BE49-F238E27FC236}">
                <a16:creationId xmlns:a16="http://schemas.microsoft.com/office/drawing/2014/main" id="{86E69065-B275-4D66-BB0A-3996F02F01F0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Espace réservé du pied de page 12">
            <a:extLst xmlns:a="http://schemas.openxmlformats.org/drawingml/2006/main">
              <a:ext uri="{FF2B5EF4-FFF2-40B4-BE49-F238E27FC236}">
                <a16:creationId xmlns:a16="http://schemas.microsoft.com/office/drawing/2014/main" id="{81AA0146-4007-4C86-A137-C1A2830A6CCF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Title_Content_Image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pour une image  7">
            <a:extLst xmlns:a="http://schemas.openxmlformats.org/drawingml/2006/main"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5" y="0"/>
            <a:ext cx="3144838" cy="514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Espace réservé du pied de page 8">
            <a:extLst xmlns:a="http://schemas.openxmlformats.org/drawingml/2006/main"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itre 10">
            <a:extLst xmlns:a="http://schemas.openxmlformats.org/drawingml/2006/main"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04876" y="131032"/>
            <a:ext cx="3144520" cy="10727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/>
          <p:nvPr>
            <p:ph type="pic" idx="13"/>
          </p:nvPr>
        </p:nvSpPr>
        <p:spPr>
          <a:xfrm xmlns:a="http://schemas.openxmlformats.org/drawingml/2006/main">
            <a:off x="904875" y="0"/>
            <a:ext cx="7726363" cy="514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/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Espace réservé du pied de page 5">
            <a:extLst xmlns:a="http://schemas.openxmlformats.org/drawingml/2006/main"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/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257bb783d46bf" /><Relationship Type="http://schemas.openxmlformats.org/officeDocument/2006/relationships/theme" Target="/ppt/theme/theme1.xml" Id="R869fb529d24f4e9a" /><Relationship Type="http://schemas.openxmlformats.org/officeDocument/2006/relationships/slideLayout" Target="/ppt/slideLayouts/slideLayout2.xml" Id="R1889e6695b044d2e" /><Relationship Type="http://schemas.openxmlformats.org/officeDocument/2006/relationships/slideLayout" Target="/ppt/slideLayouts/slideLayout3.xml" Id="R2e19297106204792" /><Relationship Type="http://schemas.openxmlformats.org/officeDocument/2006/relationships/slideLayout" Target="/ppt/slideLayouts/slideLayout4.xml" Id="R9bd8771134204629" /><Relationship Type="http://schemas.openxmlformats.org/officeDocument/2006/relationships/slideLayout" Target="/ppt/slideLayouts/slideLayout5.xml" Id="R3c5fcad19e8743ec" /><Relationship Type="http://schemas.openxmlformats.org/officeDocument/2006/relationships/slideLayout" Target="/ppt/slideLayouts/slideLayout6.xml" Id="Rebe26f9b02024904" /><Relationship Type="http://schemas.openxmlformats.org/officeDocument/2006/relationships/slideLayout" Target="/ppt/slideLayouts/slideLayout7.xml" Id="R995eb90edc174075" /><Relationship Type="http://schemas.openxmlformats.org/officeDocument/2006/relationships/slideLayout" Target="/ppt/slideLayouts/slideLayout8.xml" Id="Rc117acae9dc14ee5" /><Relationship Type="http://schemas.openxmlformats.org/officeDocument/2006/relationships/slideLayout" Target="/ppt/slideLayouts/slideLayout9.xml" Id="R02a5e023f5b7412d" /><Relationship Type="http://schemas.openxmlformats.org/officeDocument/2006/relationships/slideLayout" Target="/ppt/slideLayouts/slideLayout10.xml" Id="R7986bfcae8694b64" /><Relationship Type="http://schemas.openxmlformats.org/officeDocument/2006/relationships/slideLayout" Target="/ppt/slideLayouts/slideLayout11.xml" Id="R65c563f2886e4fd5" /><Relationship Type="http://schemas.openxmlformats.org/officeDocument/2006/relationships/slideLayout" Target="/ppt/slideLayouts/slideLayout12.xml" Id="Rf517870922c747bd" /><Relationship Type="http://schemas.openxmlformats.org/officeDocument/2006/relationships/slideLayout" Target="/ppt/slideLayouts/slideLayout13.xml" Id="Ra71dde2ad24f4e8e" /><Relationship Type="http://schemas.openxmlformats.org/officeDocument/2006/relationships/slideLayout" Target="/ppt/slideLayouts/slideLayout14.xml" Id="R553af6b6a107478c" /><Relationship Type="http://schemas.openxmlformats.org/officeDocument/2006/relationships/slideLayout" Target="/ppt/slideLayouts/slideLayout15.xml" Id="R911db86b95514678" /><Relationship Type="http://schemas.openxmlformats.org/officeDocument/2006/relationships/slideLayout" Target="/ppt/slideLayouts/slideLayout16.xml" Id="R53f88e8f31d74dc9" /><Relationship Type="http://schemas.openxmlformats.org/officeDocument/2006/relationships/slideLayout" Target="/ppt/slideLayouts/slideLayout17.xml" Id="R617f3c6728f14131" /><Relationship Type="http://schemas.openxmlformats.org/officeDocument/2006/relationships/slideLayout" Target="/ppt/slideLayouts/slideLayout18.xml" Id="Reabbf610d029480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8823570-AAA7-4024-A492-48F7D68863A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04875" y="179552"/>
            <a:ext cx="3667125" cy="10727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80000" tIns="0" rIns="72000" bIns="46800" anchor="t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6C4874-96AB-4517-A542-5EAC37CD8E7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904875" y="1563688"/>
            <a:ext cx="7726363" cy="33867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8000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78F0FF-6108-448B-A805-B99B723F9335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 rot="16200000">
            <a:off x="-1221413" y="2778452"/>
            <a:ext cx="3341052" cy="9115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FB777E-37CD-407B-BE65-67790B2442D2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 rot="16200000">
            <a:off x="7115989" y="1874064"/>
            <a:ext cx="3543260" cy="512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7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663831-FA68-4864-918A-4C5D196B569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31238" y="195263"/>
            <a:ext cx="512762" cy="163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0" rIns="90000" bIns="0" anchor="t"/>
          <a:lstStyle xmlns:a="http://schemas.openxmlformats.org/drawingml/2006/main">
            <a:lvl1pPr algn="ctr">
              <a:buNone/>
              <a:defRPr sz="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a36257bb783d46bf"/>
    <p:sldLayoutId xmlns:r="http://schemas.openxmlformats.org/officeDocument/2006/relationships" id="2147483649" r:id="R1889e6695b044d2e"/>
    <p:sldLayoutId xmlns:r="http://schemas.openxmlformats.org/officeDocument/2006/relationships" id="2147483650" r:id="R2e19297106204792"/>
    <p:sldLayoutId xmlns:r="http://schemas.openxmlformats.org/officeDocument/2006/relationships" id="2147483651" r:id="R9bd8771134204629"/>
    <p:sldLayoutId xmlns:r="http://schemas.openxmlformats.org/officeDocument/2006/relationships" id="2147483652" r:id="R3c5fcad19e8743ec"/>
    <p:sldLayoutId xmlns:r="http://schemas.openxmlformats.org/officeDocument/2006/relationships" id="2147483653" r:id="Rebe26f9b02024904"/>
    <p:sldLayoutId xmlns:r="http://schemas.openxmlformats.org/officeDocument/2006/relationships" id="2147483654" r:id="R995eb90edc174075"/>
    <p:sldLayoutId xmlns:r="http://schemas.openxmlformats.org/officeDocument/2006/relationships" id="2147483655" r:id="Rc117acae9dc14ee5"/>
    <p:sldLayoutId xmlns:r="http://schemas.openxmlformats.org/officeDocument/2006/relationships" id="2147483656" r:id="R02a5e023f5b7412d"/>
    <p:sldLayoutId xmlns:r="http://schemas.openxmlformats.org/officeDocument/2006/relationships" id="2147483657" r:id="R7986bfcae8694b64"/>
    <p:sldLayoutId xmlns:r="http://schemas.openxmlformats.org/officeDocument/2006/relationships" id="2147483658" r:id="R65c563f2886e4fd5"/>
    <p:sldLayoutId xmlns:r="http://schemas.openxmlformats.org/officeDocument/2006/relationships" id="2147483659" r:id="Rf517870922c747bd"/>
    <p:sldLayoutId xmlns:r="http://schemas.openxmlformats.org/officeDocument/2006/relationships" id="2147483660" r:id="Ra71dde2ad24f4e8e"/>
    <p:sldLayoutId xmlns:r="http://schemas.openxmlformats.org/officeDocument/2006/relationships" id="2147483661" r:id="R553af6b6a107478c"/>
    <p:sldLayoutId xmlns:r="http://schemas.openxmlformats.org/officeDocument/2006/relationships" id="2147483662" r:id="R911db86b95514678"/>
    <p:sldLayoutId xmlns:r="http://schemas.openxmlformats.org/officeDocument/2006/relationships" id="2147483663" r:id="R53f88e8f31d74dc9"/>
    <p:sldLayoutId xmlns:r="http://schemas.openxmlformats.org/officeDocument/2006/relationships" id="2147483664" r:id="R617f3c6728f14131"/>
    <p:sldLayoutId xmlns:r="http://schemas.openxmlformats.org/officeDocument/2006/relationships" id="2147483665" r:id="Reabbf610d0294804"/>
  </p:sldLayoutIdLst>
  <p:txStyles>
    <p:titleStyle>
      <a:lvl1pPr xmlns:a="http://schemas.openxmlformats.org/drawingml/2006/main" algn="l">
        <a:lnSpc>
          <a:spcPct val="80000"/>
        </a:lnSpc>
        <a:spcBef>
          <a:spcPts val="0"/>
        </a:spcBef>
        <a:buNone/>
        <a:defRPr sz="3200" b="1" i="0" spc="-70">
          <a:solidFill>
            <a:schemeClr val="tx1"/>
          </a:solidFill>
          <a:latin typeface="Franklin Gothic Demi Cond"/>
          <a:ea typeface="Franklin Gothic Demi Cond"/>
          <a:cs typeface="Franklin Gothic Demi Cond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§"/>
        <a:defRPr sz="1800" b="0" i="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600" b="0" i="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§"/>
        <a:defRPr sz="1500" b="0" i="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8da12d3908d4596" /><Relationship Type="http://schemas.openxmlformats.org/officeDocument/2006/relationships/image" Target="/ppt/media/image.png" Id="Rfd1795e9d4c9470c" /><Relationship Type="http://schemas.openxmlformats.org/officeDocument/2006/relationships/notesSlide" Target="/ppt/notesSlides/notesSlide1.xml" Id="Rf942af27207e4a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4b047847846bd" /><Relationship Type="http://schemas.openxmlformats.org/officeDocument/2006/relationships/notesSlide" Target="/ppt/notesSlides/notesSlide2.xml" Id="R6f80374e6c1c48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d4682f99a44af" /><Relationship Type="http://schemas.openxmlformats.org/officeDocument/2006/relationships/notesSlide" Target="/ppt/notesSlides/notesSlide3.xml" Id="R8b1378bbfeba47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e31a3cffe4dda" /><Relationship Type="http://schemas.openxmlformats.org/officeDocument/2006/relationships/notesSlide" Target="/ppt/notesSlides/notesSlide4.xml" Id="Rc8dacfaba1a74b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6d81eb59f4037" /><Relationship Type="http://schemas.openxmlformats.org/officeDocument/2006/relationships/notesSlide" Target="/ppt/notesSlides/notesSlide5.xml" Id="Rf1cfe7e9bfeb42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6e6eb3461421f" /><Relationship Type="http://schemas.openxmlformats.org/officeDocument/2006/relationships/notesSlide" Target="/ppt/notesSlides/notesSlide6.xml" Id="R2e7c991e4d9c45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0245bcffc406f" /><Relationship Type="http://schemas.openxmlformats.org/officeDocument/2006/relationships/notesSlide" Target="/ppt/notesSlides/notesSlide7.xml" Id="Ree5a494b110642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9a5d027f546fd" /><Relationship Type="http://schemas.openxmlformats.org/officeDocument/2006/relationships/notesSlide" Target="/ppt/notesSlides/notesSlide8.xml" Id="R156c5dc41bde4c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ad644aec04800" /><Relationship Type="http://schemas.openxmlformats.org/officeDocument/2006/relationships/notesSlide" Target="/ppt/notesSlides/notesSlide9.xml" Id="Rea8e35b6ae984e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b22b74b604f2b" /><Relationship Type="http://schemas.openxmlformats.org/officeDocument/2006/relationships/notesSlide" Target="/ppt/notesSlides/notesSlide10.xml" Id="R26106c2bf5014e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415ed769d4ef3" /><Relationship Type="http://schemas.openxmlformats.org/officeDocument/2006/relationships/notesSlide" Target="/ppt/notesSlides/notesSlide11.xml" Id="Rc8acaa68a20d4c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795e9d4c9470c"/>
          <a:srcRect xmlns:a="http://schemas.openxmlformats.org/drawingml/2006/main" l="6904" t="6047" r="6904" b="5735"/>
          <a:stretch xmlns:a="http://schemas.openxmlformats.org/drawingml/2006/main"/>
        </p:blipFill>
        <p:spPr>
          <a:xfrm xmlns:a="http://schemas.openxmlformats.org/drawingml/2006/main">
            <a:off x="1198414" y="77771"/>
            <a:ext cx="7945586" cy="4987957"/>
          </a:xfrm>
          <a:prstGeom xmlns:a="http://schemas.openxmlformats.org/drawingml/2006/main" prst="rect">
            <a:avLst/>
          </a:prstGeom>
        </p:spPr>
      </p:pic>
      <p:sp>
        <p:nvSpPr>
          <p:cNvPr id="9" name="Titre 8">
            <a:extLst xmlns:a="http://schemas.openxmlformats.org/drawingml/2006/main">
              <a:ext uri="{FF2B5EF4-FFF2-40B4-BE49-F238E27FC236}">
                <a16:creationId xmlns:a16="http://schemas.microsoft.com/office/drawing/2014/main" id="{6AF2DA65-CF00-774A-9D7C-EEFA627B21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6499" y="785335"/>
            <a:ext cx="4430598" cy="192015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rPr sz="2400" b="0"/>
              <a:t>After</a:t>
            </a:r>
            <a:r>
              <a:rPr sz="2400" b="0"/>
              <a:t>-State </a:t>
            </a:r>
            <a:r>
              <a:rPr sz="2400" b="0"/>
              <a:t>Guided</a:t>
            </a:r>
            <a:r>
              <a:rPr sz="2400" b="0"/>
              <a:t> Multi-Agent </a:t>
            </a:r>
            <a:r>
              <a:rPr sz="2400" b="0"/>
              <a:t>Reinforcement</a:t>
            </a:r>
            <a:r>
              <a:rPr sz="2400" b="0"/>
              <a:t> Learning </a:t>
            </a:r>
            <a:r>
              <a:rPr sz="2400" b="0"/>
              <a:t>with</a:t>
            </a:r>
            <a:r>
              <a:rPr sz="2400" b="0"/>
              <a:t> Latent Communication for Power </a:t>
            </a:r>
            <a:r>
              <a:rPr sz="2400" b="0"/>
              <a:t>Grid</a:t>
            </a:r>
            <a:r>
              <a:rPr sz="2400" b="0"/>
              <a:t> Control</a:t>
            </a:r>
          </a:p>
        </p:txBody>
      </p:sp>
      <p:sp>
        <p:nvSpPr>
          <p:cNvPr id="10" name="Sous-titre 9">
            <a:extLst xmlns:a="http://schemas.openxmlformats.org/drawingml/2006/main">
              <a:ext uri="{FF2B5EF4-FFF2-40B4-BE49-F238E27FC236}">
                <a16:creationId xmlns:a16="http://schemas.microsoft.com/office/drawing/2014/main" id="{2F4A7CFE-65FA-E249-9125-D938BCA440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17097" y="2705494"/>
            <a:ext cx="1828800" cy="1568450"/>
          </a:xfrm>
        </p:spPr>
        <p:txBody>
          <a:bodyPr xmlns:a="http://schemas.openxmlformats.org/drawingml/2006/main" lIns="90000" anchor="ctr">
            <a:normAutofit/>
          </a:bodyPr>
          <a:lstStyle xmlns:a="http://schemas.openxmlformats.org/drawingml/2006/main"/>
          <a:p xmlns:a="http://schemas.openxmlformats.org/drawingml/2006/main">
            <a:r>
              <a:rPr b="1"/>
              <a:t>Corentin Plumet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2AF0A55C-66AB-F046-AA02-AFC919A1C19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400800" y="4683125"/>
            <a:ext cx="1828800" cy="46037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rPr b="1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21301715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7C413CE9-E965-4924-5C8C-4C8F8B074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4875" y="252828"/>
            <a:ext cx="7532115" cy="6013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Why This Thesis Topic</a:t>
            </a:r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CE921D69-417C-BE6E-3879-97E54FBDF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  <p:sp>
        <p:nvSpPr>
          <p:cNvPr id="6" name="ZoneTexte 5">
            <a:extLst xmlns:a="http://schemas.openxmlformats.org/drawingml/2006/main">
              <a:ext uri="{FF2B5EF4-FFF2-40B4-BE49-F238E27FC236}">
                <a16:creationId xmlns:a16="http://schemas.microsoft.com/office/drawing/2014/main" id="{F6DA01F4-529A-46A0-D301-FBAC4471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27" y="2570663"/>
            <a:ext cx="8048612" cy="19620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 u="sng"/>
              <a:t>Problem Statement</a:t>
            </a:r>
          </a:p>
          <a:p xmlns:a="http://schemas.openxmlformats.org/drawingml/2006/main">
            <a:pPr>
              <a:buNone/>
            </a:pPr>
            <a:r>
              <a:t>Traditional optimization methods:</a:t>
            </a:r>
          </a:p>
          <a:p xmlns:a="http://schemas.openxmlformats.org/drawingml/2006/main">
            <a:pPr marL="628650" indent="-285750">
              <a:buChar char="§"/>
            </a:pPr>
            <a:r>
              <a:t>Struggle with scalability</a:t>
            </a:r>
          </a:p>
          <a:p xmlns:a="http://schemas.openxmlformats.org/drawingml/2006/main">
            <a:pPr marL="628650" indent="-285750">
              <a:buChar char="§"/>
            </a:pPr>
            <a:r>
              <a:t>Are too slow for real time decision making</a:t>
            </a:r>
          </a:p>
          <a:p xmlns:a="http://schemas.openxmlformats.org/drawingml/2006/main">
            <a:pPr marL="628650" indent="-285750">
              <a:buChar char="§"/>
            </a:pPr>
          </a:p>
          <a:p xmlns:a="http://schemas.openxmlformats.org/drawingml/2006/main">
            <a:pPr>
              <a:buNone/>
            </a:pPr>
            <a:r>
              <a:t>RL approaches:</a:t>
            </a:r>
          </a:p>
          <a:p xmlns:a="http://schemas.openxmlformats.org/drawingml/2006/main">
            <a:pPr marL="628650" indent="-285750">
              <a:buChar char="§"/>
            </a:pPr>
            <a:r>
              <a:t>Remain mostly proof-of-concept on benchmark grids and simplified operating assumptions.</a:t>
            </a:r>
          </a:p>
          <a:p xmlns:a="http://schemas.openxmlformats.org/drawingml/2006/main">
            <a:pPr marL="628650" indent="-285750">
              <a:buChar char="§"/>
            </a:pPr>
            <a:r>
              <a:t>The open question is not only whether GRL can act, but whether it acts reliably under nominal and stressed conditions.</a:t>
            </a:r>
          </a:p>
        </p:txBody>
      </p:sp>
      <p:sp>
        <p:nvSpPr>
          <p:cNvPr id="4" name="ZoneTexte 3">
            <a:extLst xmlns:a="http://schemas.openxmlformats.org/drawingml/2006/main">
              <a:ext uri="{FF2B5EF4-FFF2-40B4-BE49-F238E27FC236}">
                <a16:creationId xmlns:a16="http://schemas.microsoft.com/office/drawing/2014/main" id="{7057A38C-AEE4-848E-8A1C-E70129E5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27" y="854129"/>
            <a:ext cx="8048612" cy="13388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 u="sng"/>
              <a:t>Motivation</a:t>
            </a:r>
          </a:p>
          <a:p xmlns:a="http://schemas.openxmlformats.org/drawingml/2006/main">
            <a:pPr marL="628650" indent="-285750">
              <a:buChar char="§"/>
            </a:pPr>
            <a:r>
              <a:t>Transmission operators need fast congestion management under renewable variability and unforeseen events.</a:t>
            </a:r>
          </a:p>
          <a:p xmlns:a="http://schemas.openxmlformats.org/drawingml/2006/main">
            <a:pPr marL="628650" indent="-285750">
              <a:buChar char="§"/>
            </a:pPr>
            <a:r>
              <a:t>Topology actions are attractive because they can reroute flows before using costly redispatch.</a:t>
            </a:r>
          </a:p>
          <a:p xmlns:a="http://schemas.openxmlformats.org/drawingml/2006/main">
            <a:pPr marL="628650" indent="-285750">
              <a:buChar char="§"/>
            </a:pPr>
            <a:r>
              <a:t>Reinforcement learning is appealing for sequential decisions, but the control space is huge and safety-critical.</a:t>
            </a:r>
          </a:p>
        </p:txBody>
      </p:sp>
    </p:spTree>
    <p:extLst>
      <p:ext uri="{BB962C8B-B14F-4D97-AF65-F5344CB8AC3E}">
        <p14:creationId xmlns:p14="http://schemas.microsoft.com/office/powerpoint/2010/main" val="11740207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3E297C73-7490-6256-8AC4-7A2208957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4875" y="252828"/>
            <a:ext cx="7532115" cy="6013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Why This Thesis Topic</a:t>
            </a:r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F00F6A8C-4370-C8D3-ED8C-431CD88BEC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457378-7941-6FBB-2808-4615A00B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00" y="853431"/>
            <a:ext cx="2524539" cy="3756273"/>
          </a:xfrm>
          <a:prstGeom xmlns:a="http://schemas.openxmlformats.org/drawingml/2006/main" prst="roundRect">
            <a:avLst>
              <a:gd name="adj" fmla="val 10476"/>
            </a:avLst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Limitations of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Traditional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Optimization</a:t>
            </a:r>
          </a:p>
          <a:p xmlns:a="http://schemas.openxmlformats.org/drawingml/2006/main">
            <a:pPr marL="285750" indent="-285750" algn="l">
              <a:spcBef>
                <a:spcPts val="600"/>
              </a:spcBef>
              <a:spcAft>
                <a:spcPts val="0"/>
              </a:spcAft>
              <a:buChar char="§"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Struggle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dimensional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combinatorial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spaces</a:t>
            </a:r>
          </a:p>
          <a:p xmlns:a="http://schemas.openxmlformats.org/drawingml/2006/main">
            <a:pPr marL="285750" indent="-285750" algn="l">
              <a:spcBef>
                <a:spcPts val="600"/>
              </a:spcBef>
              <a:spcAft>
                <a:spcPts val="0"/>
              </a:spcAft>
              <a:buChar char="§"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solving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nonlinear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non-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convex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power flow 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equations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real time </a:t>
            </a:r>
          </a:p>
          <a:p xmlns:a="http://schemas.openxmlformats.org/drawingml/2006/main">
            <a:pPr marL="285750" indent="-285750" algn="l">
              <a:spcBef>
                <a:spcPts val="600"/>
              </a:spcBef>
              <a:spcAft>
                <a:spcPts val="0"/>
              </a:spcAft>
              <a:buChar char="§"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Poorly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handle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uncertainty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renewable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energy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fluctuations</a:t>
            </a:r>
          </a:p>
          <a:p xmlns:a="http://schemas.openxmlformats.org/drawingml/2006/main">
            <a:pPr marL="285750" indent="-285750" algn="l">
              <a:spcBef>
                <a:spcPts val="600"/>
              </a:spcBef>
              <a:spcAft>
                <a:spcPts val="0"/>
              </a:spcAft>
              <a:buChar char="§"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Become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computationally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intractable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for large-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grids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long horizons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=&gt; 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suitable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for real-time, large-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grid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F281EE-0228-3473-F800-9CF704E7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792" y="853431"/>
            <a:ext cx="2524539" cy="3644384"/>
          </a:xfrm>
          <a:prstGeom xmlns:a="http://schemas.openxmlformats.org/drawingml/2006/main" prst="roundRect">
            <a:avLst>
              <a:gd name="adj" fmla="val 10476"/>
            </a:avLst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Limitations of Single-Agent RL</a:t>
            </a:r>
          </a:p>
          <a:p xmlns:a="http://schemas.openxmlformats.org/drawingml/2006/main">
            <a:pPr marL="285750" indent="-285750" algn="l">
              <a:spcBef>
                <a:spcPts val="600"/>
              </a:spcBef>
              <a:spcAft>
                <a:spcPts val="0"/>
              </a:spcAft>
              <a:buChar char="§"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existing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RL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approaches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assume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centralized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control and ignore the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decentralized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nature of the real monitoring of power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systems</a:t>
            </a:r>
          </a:p>
          <a:p xmlns:a="http://schemas.openxmlformats.org/drawingml/2006/main">
            <a:pPr marL="285750" indent="-285750" algn="l">
              <a:spcBef>
                <a:spcPts val="600"/>
              </a:spcBef>
              <a:spcAft>
                <a:spcPts val="0"/>
              </a:spcAft>
              <a:buChar char="§"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Struggle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  <a:p xmlns:a="http://schemas.openxmlformats.org/drawingml/2006/main">
            <a:pPr marL="742950" indent="-285750">
              <a:spcBef>
                <a:spcPts val="600"/>
              </a:spcBef>
              <a:buChar char="§"/>
            </a:pPr>
            <a:r>
              <a:rPr sz="1200">
                <a:solidFill>
                  <a:srgbClr val="000000"/>
                </a:solidFill>
              </a:rPr>
              <a:t>Scalability</a:t>
            </a:r>
          </a:p>
          <a:p xmlns:a="http://schemas.openxmlformats.org/drawingml/2006/main">
            <a:pPr marL="742950" indent="-285750">
              <a:spcBef>
                <a:spcPts val="600"/>
              </a:spcBef>
              <a:buChar char="§"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observability</a:t>
            </a:r>
          </a:p>
          <a:p xmlns:a="http://schemas.openxmlformats.org/drawingml/2006/main">
            <a:pPr marL="742950" indent="-285750">
              <a:spcBef>
                <a:spcPts val="600"/>
              </a:spcBef>
              <a:buChar char="§"/>
            </a:pPr>
            <a:r>
              <a:rPr sz="1200">
                <a:solidFill>
                  <a:srgbClr val="000000"/>
                </a:solidFill>
              </a:rPr>
              <a:t>Coordination </a:t>
            </a:r>
            <a:r>
              <a:rPr sz="1200">
                <a:solidFill>
                  <a:srgbClr val="000000"/>
                </a:solidFill>
              </a:rPr>
              <a:t>across</a:t>
            </a:r>
            <a:r>
              <a:rPr sz="1200">
                <a:solidFill>
                  <a:srgbClr val="000000"/>
                </a:solidFill>
              </a:rPr>
              <a:t> </a:t>
            </a:r>
            <a:r>
              <a:rPr sz="1200">
                <a:solidFill>
                  <a:srgbClr val="000000"/>
                </a:solidFill>
              </a:rPr>
              <a:t>regions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=&gt; 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Remain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mostly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proof of concept on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simplified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benchmarks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2AC892-6318-4B75-51A1-DE8F55A4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685" y="853431"/>
            <a:ext cx="2524539" cy="3868162"/>
          </a:xfrm>
          <a:prstGeom xmlns:a="http://schemas.openxmlformats.org/drawingml/2006/main" prst="roundRect">
            <a:avLst>
              <a:gd name="adj" fmla="val 10476"/>
            </a:avLst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Why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Mutli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Agent RL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promising</a:t>
            </a:r>
          </a:p>
          <a:p xmlns:a="http://schemas.openxmlformats.org/drawingml/2006/main">
            <a:pPr marL="285750" indent="-285750" algn="l">
              <a:spcBef>
                <a:spcPts val="600"/>
              </a:spcBef>
              <a:spcAft>
                <a:spcPts val="0"/>
              </a:spcAft>
              <a:buChar char="§"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grids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are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naturally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decentralized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operators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per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regions</a:t>
            </a:r>
          </a:p>
          <a:p xmlns:a="http://schemas.openxmlformats.org/drawingml/2006/main">
            <a:pPr marL="285750" indent="-285750" algn="l">
              <a:spcBef>
                <a:spcPts val="600"/>
              </a:spcBef>
              <a:spcAft>
                <a:spcPts val="0"/>
              </a:spcAft>
              <a:buChar char="§"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are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locally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but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globally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coupled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local action affects distant parts of the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grid</a:t>
            </a:r>
          </a:p>
          <a:p xmlns:a="http://schemas.openxmlformats.org/drawingml/2006/main">
            <a:pPr marL="285750" indent="-285750">
              <a:spcBef>
                <a:spcPts val="600"/>
              </a:spcBef>
              <a:buChar char="§"/>
            </a:pPr>
            <a:r>
              <a:rPr sz="1200">
                <a:solidFill>
                  <a:srgbClr val="000000"/>
                </a:solidFill>
              </a:rPr>
              <a:t>Requires</a:t>
            </a:r>
            <a:r>
              <a:rPr sz="1200">
                <a:solidFill>
                  <a:srgbClr val="000000"/>
                </a:solidFill>
              </a:rPr>
              <a:t>: Coordination </a:t>
            </a:r>
            <a:r>
              <a:rPr sz="1200">
                <a:solidFill>
                  <a:srgbClr val="000000"/>
                </a:solidFill>
              </a:rPr>
              <a:t>under</a:t>
            </a:r>
            <a:r>
              <a:rPr sz="1200">
                <a:solidFill>
                  <a:srgbClr val="000000"/>
                </a:solidFill>
              </a:rPr>
              <a:t> partial </a:t>
            </a:r>
            <a:r>
              <a:rPr sz="1200">
                <a:solidFill>
                  <a:srgbClr val="000000"/>
                </a:solidFill>
              </a:rPr>
              <a:t>infromation</a:t>
            </a:r>
            <a:r>
              <a:rPr sz="1200">
                <a:solidFill>
                  <a:srgbClr val="000000"/>
                </a:solidFill>
              </a:rPr>
              <a:t>, scalable </a:t>
            </a:r>
            <a:r>
              <a:rPr sz="1200">
                <a:solidFill>
                  <a:srgbClr val="000000"/>
                </a:solidFill>
              </a:rPr>
              <a:t>distributed</a:t>
            </a:r>
            <a:r>
              <a:rPr sz="1200">
                <a:solidFill>
                  <a:srgbClr val="000000"/>
                </a:solidFill>
              </a:rPr>
              <a:t> </a:t>
            </a:r>
            <a:r>
              <a:rPr sz="1200">
                <a:solidFill>
                  <a:srgbClr val="000000"/>
                </a:solidFill>
              </a:rPr>
              <a:t>decision</a:t>
            </a:r>
            <a:r>
              <a:rPr sz="1200">
                <a:solidFill>
                  <a:srgbClr val="000000"/>
                </a:solidFill>
              </a:rPr>
              <a:t> </a:t>
            </a:r>
            <a:r>
              <a:rPr sz="1200">
                <a:solidFill>
                  <a:srgbClr val="000000"/>
                </a:solidFill>
              </a:rPr>
              <a:t>making</a:t>
            </a:r>
            <a:r>
              <a:rPr sz="1200">
                <a:solidFill>
                  <a:srgbClr val="000000"/>
                </a:solidFill>
              </a:rPr>
              <a:t>, joint handling of </a:t>
            </a:r>
            <a:r>
              <a:rPr sz="1200">
                <a:solidFill>
                  <a:srgbClr val="000000"/>
                </a:solidFill>
              </a:rPr>
              <a:t>safety</a:t>
            </a:r>
            <a:r>
              <a:rPr sz="1200">
                <a:solidFill>
                  <a:srgbClr val="000000"/>
                </a:solidFill>
              </a:rPr>
              <a:t> </a:t>
            </a:r>
            <a:r>
              <a:rPr sz="1200">
                <a:solidFill>
                  <a:srgbClr val="000000"/>
                </a:solidFill>
              </a:rPr>
              <a:t>constraints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=&gt; 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MARL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provides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framework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for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cooperative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scalable 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amd</a:t>
            </a: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close to reality control</a:t>
            </a:r>
          </a:p>
        </p:txBody>
      </p:sp>
    </p:spTree>
    <p:extLst>
      <p:ext uri="{BB962C8B-B14F-4D97-AF65-F5344CB8AC3E}">
        <p14:creationId xmlns:p14="http://schemas.microsoft.com/office/powerpoint/2010/main" val="36589570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4875" y="252828"/>
            <a:ext cx="7532115" cy="6013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Short Literature Review</a:t>
            </a:r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sp>
        <p:nvSpPr>
          <p:cNvPr id="6" name="ZoneTexte 5">
            <a:extLst xmlns:a="http://schemas.openxmlformats.org/drawingml/2006/main">
              <a:ext uri="{FF2B5EF4-FFF2-40B4-BE49-F238E27FC236}">
                <a16:creationId xmlns:a16="http://schemas.microsoft.com/office/drawing/2014/main" id="{0B463118-F18E-80F1-1B42-6E9E4AA6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27" y="2594369"/>
            <a:ext cx="8048612" cy="11695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sng"/>
              <a:t>Learning Methods</a:t>
            </a:r>
          </a:p>
          <a:p xmlns:a="http://schemas.openxmlformats.org/drawingml/2006/main">
            <a:pPr marL="628650" indent="-285750">
              <a:buChar char="§"/>
            </a:pPr>
            <a:r>
              <a:rPr sz="1400"/>
              <a:t>Topology control is the main transmission-grid use case, with PPO, DQN variants, SMAAC, MCTS, and multi-agent methods.</a:t>
            </a:r>
          </a:p>
          <a:p xmlns:a="http://schemas.openxmlformats.org/drawingml/2006/main">
            <a:pPr marL="628650" indent="-285750">
              <a:buChar char="§"/>
            </a:pPr>
            <a:r>
              <a:rPr sz="1400"/>
              <a:t>Graph encoders are increasingly used because the grid is naturally relational and topology changes alter the graph itself.</a:t>
            </a:r>
          </a:p>
        </p:txBody>
      </p:sp>
      <p:sp>
        <p:nvSpPr>
          <p:cNvPr id="4" name="ZoneTexte 3">
            <a:extLst xmlns:a="http://schemas.openxmlformats.org/drawingml/2006/main">
              <a:ext uri="{FF2B5EF4-FFF2-40B4-BE49-F238E27FC236}">
                <a16:creationId xmlns:a16="http://schemas.microsoft.com/office/drawing/2014/main" id="{BA71D7B7-A333-80D7-0D77-9FB91573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27" y="4088399"/>
            <a:ext cx="8048612" cy="5232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sng"/>
              <a:t>Takeaway</a:t>
            </a:r>
            <a:r>
              <a:rPr sz="1400"/>
              <a:t> </a:t>
            </a:r>
          </a:p>
          <a:p xmlns:a="http://schemas.openxmlformats.org/drawingml/2006/main">
            <a:pPr marL="628650" indent="-285750">
              <a:buChar char="§"/>
            </a:pPr>
            <a:r>
              <a:rPr sz="1400"/>
              <a:t>S</a:t>
            </a:r>
            <a:r>
              <a:rPr sz="1400"/>
              <a:t>tructure</a:t>
            </a:r>
            <a:r>
              <a:rPr sz="1400"/>
              <a:t> in the controller matters at least as much as the RL algorithm choice.</a:t>
            </a:r>
          </a:p>
        </p:txBody>
      </p:sp>
      <p:sp>
        <p:nvSpPr>
          <p:cNvPr id="8" name="ZoneTexte 7">
            <a:extLst xmlns:a="http://schemas.openxmlformats.org/drawingml/2006/main">
              <a:ext uri="{FF2B5EF4-FFF2-40B4-BE49-F238E27FC236}">
                <a16:creationId xmlns:a16="http://schemas.microsoft.com/office/drawing/2014/main" id="{B710EFE9-3373-11B3-64D8-35C8F707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27" y="1045440"/>
            <a:ext cx="8048612" cy="11695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sng"/>
              <a:t>Hybrid Systems</a:t>
            </a:r>
          </a:p>
          <a:p xmlns:a="http://schemas.openxmlformats.org/drawingml/2006/main">
            <a:pPr marL="628650" indent="-285750">
              <a:buChar char="§"/>
            </a:pPr>
            <a:r>
              <a:rPr sz="1400"/>
              <a:t>Recent surveys show that strong controllers are rarely pure end-to-end RL; they are hybrid systems.</a:t>
            </a:r>
          </a:p>
          <a:p xmlns:a="http://schemas.openxmlformats.org/drawingml/2006/main">
            <a:pPr marL="628650" indent="-285750">
              <a:buChar char="§"/>
            </a:pPr>
            <a:r>
              <a:rPr sz="1400"/>
              <a:t>Dominant ingredients are action-space reduction, rule-based safety logic, simulator filtering, and imitation bootstrapping.</a:t>
            </a:r>
          </a:p>
        </p:txBody>
      </p:sp>
    </p:spTree>
    <p:extLst>
      <p:ext uri="{BB962C8B-B14F-4D97-AF65-F5344CB8AC3E}">
        <p14:creationId xmlns:p14="http://schemas.microsoft.com/office/powerpoint/2010/main" val="663753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4875" y="252828"/>
            <a:ext cx="7532115" cy="6013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Dive Into the Main Solutions </a:t>
            </a:r>
            <a:r>
              <a:t>Developped</a:t>
            </a:r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sp>
        <p:nvSpPr>
          <p:cNvPr id="6" name="ZoneTexte 5">
            <a:extLst xmlns:a="http://schemas.openxmlformats.org/drawingml/2006/main">
              <a:ext uri="{FF2B5EF4-FFF2-40B4-BE49-F238E27FC236}">
                <a16:creationId xmlns:a16="http://schemas.microsoft.com/office/drawing/2014/main" id="{0B463118-F18E-80F1-1B42-6E9E4AA6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220" y="1004453"/>
            <a:ext cx="8307557" cy="15465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 u="sng"/>
              <a:t>One RL Agent with Safety Layers</a:t>
            </a:r>
          </a:p>
          <a:p xmlns:a="http://schemas.openxmlformats.org/drawingml/2006/main">
            <a:pPr marL="628650" indent="-285750">
              <a:buChar char="§"/>
            </a:pPr>
            <a:r>
              <a:t>[7] uses a GCN with Double-Q / dueling RL and verifies top-Q actions with power-flow simulation.</a:t>
            </a:r>
          </a:p>
          <a:p xmlns:a="http://schemas.openxmlformats.org/drawingml/2006/main">
            <a:pPr marL="628650" indent="-285750">
              <a:buChar char="§"/>
            </a:pPr>
            <a:r>
              <a:t>[1] trains PPO with dynamic action masking so infeasible busbar actions are never sampled.</a:t>
            </a:r>
          </a:p>
          <a:p xmlns:a="http://schemas.openxmlformats.org/drawingml/2006/main">
            <a:pPr marL="628650" indent="-285750">
              <a:buChar char="§"/>
            </a:pPr>
            <a:r>
              <a:t>These methods keep one global controller but rely on hard engineering tricks to stay safe.</a:t>
            </a:r>
          </a:p>
          <a:p xmlns:a="http://schemas.openxmlformats.org/drawingml/2006/main">
            <a:pPr marL="628650" indent="-285750">
              <a:buChar char="§"/>
            </a:pPr>
            <a:r>
              <a:t>Typical tricks are do-nothing fallback, pruning of symmetric actions, and simulator-based validation.</a:t>
            </a:r>
          </a:p>
          <a:p xmlns:a="http://schemas.openxmlformats.org/drawingml/2006/main">
            <a:pPr marL="628650" indent="-285750">
              <a:buChar char="§"/>
            </a:pPr>
            <a:r>
              <a:t>Their weakness is sample efficiency: the agent still sees a huge discrete action space.</a:t>
            </a:r>
          </a:p>
        </p:txBody>
      </p:sp>
      <p:sp>
        <p:nvSpPr>
          <p:cNvPr id="4" name="ZoneTexte 3">
            <a:extLst xmlns:a="http://schemas.openxmlformats.org/drawingml/2006/main">
              <a:ext uri="{FF2B5EF4-FFF2-40B4-BE49-F238E27FC236}">
                <a16:creationId xmlns:a16="http://schemas.microsoft.com/office/drawing/2014/main" id="{1EE129CC-A8E0-209B-BC9A-47D38E9B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220" y="3046344"/>
            <a:ext cx="8307557" cy="15465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 u="sng"/>
              <a:t>Planning and Model-based Methods</a:t>
            </a:r>
          </a:p>
          <a:p xmlns:a="http://schemas.openxmlformats.org/drawingml/2006/main">
            <a:pPr marL="628650" indent="-285750">
              <a:buChar char="§"/>
            </a:pPr>
            <a:r>
              <a:t>[5] learns a GCN world model that predicts line loading for candidate topologies.</a:t>
            </a:r>
          </a:p>
          <a:p xmlns:a="http://schemas.openxmlformats.org/drawingml/2006/main">
            <a:pPr marL="628650" indent="-285750">
              <a:buChar char="§"/>
            </a:pPr>
            <a:r>
              <a:t>MCTS expands a search tree over future actions and selects promising branches instead of brute-force exploration.</a:t>
            </a:r>
          </a:p>
          <a:p xmlns:a="http://schemas.openxmlformats.org/drawingml/2006/main">
            <a:pPr marL="628650" indent="-285750">
              <a:buChar char="§"/>
            </a:pPr>
            <a:r>
              <a:t>Only states with acceptable predicted loading are kept, which prunes catastrophic branches early.</a:t>
            </a:r>
          </a:p>
          <a:p xmlns:a="http://schemas.openxmlformats.org/drawingml/2006/main">
            <a:pPr marL="628650" indent="-285750">
              <a:buChar char="§"/>
            </a:pPr>
            <a:r>
              <a:t>[6] also uses MCTS, but combines it with double-dueling sub-agents on a reduced action space.</a:t>
            </a:r>
          </a:p>
          <a:p xmlns:a="http://schemas.openxmlformats.org/drawingml/2006/main">
            <a:pPr marL="628650" indent="-285750">
              <a:buChar char="§"/>
            </a:pPr>
            <a:r>
              <a:t>This family trades extra planning cost for better action selection in a combinatorial control problem.</a:t>
            </a:r>
          </a:p>
        </p:txBody>
      </p:sp>
    </p:spTree>
    <p:extLst>
      <p:ext uri="{BB962C8B-B14F-4D97-AF65-F5344CB8AC3E}">
        <p14:creationId xmlns:p14="http://schemas.microsoft.com/office/powerpoint/2010/main" val="20124015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135963C8-041F-DD46-09C6-14E1AD101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4875" y="252828"/>
            <a:ext cx="7532115" cy="6013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Dive Into the Main Solutions </a:t>
            </a:r>
            <a:r>
              <a:t>Developped</a:t>
            </a:r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104C7670-4D33-8C6C-738F-EC91429644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sp>
        <p:nvSpPr>
          <p:cNvPr id="6" name="ZoneTexte 5">
            <a:extLst xmlns:a="http://schemas.openxmlformats.org/drawingml/2006/main">
              <a:ext uri="{FF2B5EF4-FFF2-40B4-BE49-F238E27FC236}">
                <a16:creationId xmlns:a16="http://schemas.microsoft.com/office/drawing/2014/main" id="{D5302790-58BE-231E-E401-DD176EBD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81" y="884585"/>
            <a:ext cx="8307557" cy="15465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 u="sng"/>
              <a:t>Predict a target topology, not a raw switch</a:t>
            </a:r>
          </a:p>
          <a:p xmlns:a="http://schemas.openxmlformats.org/drawingml/2006/main">
            <a:pPr marL="628650" indent="-285750">
              <a:buChar char="§"/>
            </a:pPr>
            <a:r>
              <a:t>[8] SMAAC and [3] predict a goal topology, then a low-level policy realizes it.</a:t>
            </a:r>
          </a:p>
          <a:p xmlns:a="http://schemas.openxmlformats.org/drawingml/2006/main">
            <a:pPr marL="628650" indent="-285750">
              <a:buChar char="§"/>
            </a:pPr>
            <a:r>
              <a:t>Their key idea is the </a:t>
            </a:r>
            <a:r>
              <a:t>afterstate</a:t>
            </a:r>
            <a:r>
              <a:t>: learn from the resulting topology, not only from the raw switch action.</a:t>
            </a:r>
          </a:p>
          <a:p xmlns:a="http://schemas.openxmlformats.org/drawingml/2006/main">
            <a:pPr marL="628650" indent="-285750">
              <a:buChar char="§"/>
            </a:pPr>
            <a:r>
              <a:t>That matters because different switching sequences can lead to the same effective substation configuration.</a:t>
            </a:r>
          </a:p>
          <a:p xmlns:a="http://schemas.openxmlformats.org/drawingml/2006/main">
            <a:pPr marL="628650" indent="-285750">
              <a:buChar char="§"/>
            </a:pPr>
            <a:r>
              <a:t>First decide where to intervene, then decide how.</a:t>
            </a:r>
          </a:p>
        </p:txBody>
      </p:sp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8E983E03-E4B6-5810-3814-5FA2D31B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81" y="2956979"/>
            <a:ext cx="8307557" cy="17543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 u="sng"/>
              <a:t>Multi-agent and Imitation-enhanced GRL</a:t>
            </a:r>
          </a:p>
          <a:p xmlns:a="http://schemas.openxmlformats.org/drawingml/2006/main">
            <a:pPr marL="628650" indent="-285750">
              <a:buChar char="§"/>
            </a:pPr>
            <a:r>
              <a:t>[4] uses hierarchical multi-agent PPO/SAC where higher levels detect critical areas and lower levels act.</a:t>
            </a:r>
          </a:p>
          <a:p xmlns:a="http://schemas.openxmlformats.org/drawingml/2006/main">
            <a:pPr marL="628650" indent="-285750">
              <a:buChar char="§"/>
            </a:pPr>
            <a:r>
              <a:t>[2] distributes control to line-level agents and shares a GAT encoder for local context.</a:t>
            </a:r>
          </a:p>
          <a:p xmlns:a="http://schemas.openxmlformats.org/drawingml/2006/main">
            <a:pPr marL="628650" indent="-285750">
              <a:buChar char="§"/>
            </a:pPr>
            <a:r>
              <a:t>Multi-agent decomposition reduces the effective action space by assigning local responsibility to components.</a:t>
            </a:r>
          </a:p>
          <a:p xmlns:a="http://schemas.openxmlformats.org/drawingml/2006/main">
            <a:pPr marL="628650" indent="-285750">
              <a:buChar char="§"/>
            </a:pPr>
            <a:r>
              <a:t>[2] and [9] use expert demonstrations or imitation learning to improve sample efficiency.</a:t>
            </a:r>
          </a:p>
          <a:p xmlns:a="http://schemas.openxmlformats.org/drawingml/2006/main">
            <a:pPr marL="628650" indent="-285750">
              <a:buChar char="§"/>
            </a:pPr>
            <a:r>
              <a:t>The logic is practical: start from expert behavior, then let RL improve beyond it through interaction.</a:t>
            </a:r>
          </a:p>
        </p:txBody>
      </p:sp>
    </p:spTree>
    <p:extLst>
      <p:ext uri="{BB962C8B-B14F-4D97-AF65-F5344CB8AC3E}">
        <p14:creationId xmlns:p14="http://schemas.microsoft.com/office/powerpoint/2010/main" val="3562714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E2CE3B-BEDF-4AD6-9826-A2FECF4E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001A"/>
                </a:solidFill>
              </a:defRPr>
            </a:pPr>
            <a:r>
              <a:rPr sz="1800" b="1">
                <a:solidFill>
                  <a:srgbClr val="E2001A"/>
                </a:solidFill>
              </a:rPr>
              <a:t>EPFL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7386A-ED31-41BB-AF2C-62A375D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F3A3A"/>
                </a:solidFill>
              </a:defRPr>
            </a:pPr>
            <a:r>
              <a:rPr sz="3300" b="1">
                <a:solidFill>
                  <a:srgbClr val="3F3A3A"/>
                </a:solidFill>
              </a:rPr>
              <a:t>Research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D1F1D-8F5E-4BBB-9EBE-71BA98A8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667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F3A3A"/>
                </a:solidFill>
              </a:defRPr>
            </a:pPr>
            <a:r>
              <a:rPr sz="1350" b="0">
                <a:solidFill>
                  <a:srgbClr val="3F3A3A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E77F6-9675-4905-9E37-55827EE9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C6B69-7F60-4510-BB18-32A515A5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14450"/>
            <a:ext cx="10020300" cy="16954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0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71ADF-F892-472C-B980-AB420A02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3A3A"/>
                </a:solidFill>
              </a:defRPr>
            </a:pPr>
            <a:r>
              <a:rPr sz="1650" b="1">
                <a:solidFill>
                  <a:srgbClr val="3F3A3A"/>
                </a:solidFill>
              </a:rPr>
              <a:t>What current studies still miss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55CC9-66F2-4391-8B07-D79443FA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81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F3A3A"/>
                </a:solidFill>
              </a:defRPr>
            </a:pPr>
            <a:r>
              <a:rPr sz="1425" b="1">
                <a:solidFill>
                  <a:srgbClr val="3F3A3A"/>
                </a:solidFill>
              </a:rPr>
              <a:t>After-state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35B2A-A05B-44BD-B3F6-7240F882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574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D59DB-6DCD-47E9-88CB-6D277012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Promising in topology control, but rarely studied as an explicit coordination signal in decentralized MARL.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8CDB3-387F-44C1-AB4E-161EDF5A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F3A3A"/>
                </a:solidFill>
              </a:defRPr>
            </a:pPr>
            <a:r>
              <a:rPr sz="1425" b="1">
                <a:solidFill>
                  <a:srgbClr val="3F3A3A"/>
                </a:solidFill>
              </a:rPr>
              <a:t>Communication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0EF69-7070-4D00-8B85-4A0F47F6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574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A0611-0B0C-446C-83A5-A08B4D72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Coordination is mostly implicit through rewards or centralized training, not through learned agent-to-agent messaging.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14BAF-DA87-47B1-86CB-63D1038A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81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F3A3A"/>
                </a:solidFill>
              </a:defRPr>
            </a:pPr>
            <a:r>
              <a:rPr sz="1425" b="1">
                <a:solidFill>
                  <a:srgbClr val="3F3A3A"/>
                </a:solidFill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162D7-4BF6-44C2-B90D-0C614C25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804C2-558A-4826-89CB-D25E50DA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030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Results remain fragmented across small grids and inconsistent evaluation setups, so it is still unclear what really scales.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F5B3C-714E-4A19-8854-7E567703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10020300" cy="264795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20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C65F9-219B-4399-BD3E-7335C44A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05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3A3A"/>
                </a:solidFill>
              </a:defRPr>
            </a:pPr>
            <a:r>
              <a:rPr sz="1650" b="1">
                <a:solidFill>
                  <a:srgbClr val="3F3A3A"/>
                </a:solidFill>
              </a:rPr>
              <a:t>Open research gap for this 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AAE33-E7BF-4D6C-A28A-48A814B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2647950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3F4"/>
          </a:solidFill>
          <a:ln xmlns:a="http://schemas.openxmlformats.org/drawingml/2006/main" w="9525">
            <a:solidFill>
              <a:srgbClr val="2020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210F4-E279-496A-9068-C5DFE181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A3A"/>
                </a:solidFill>
              </a:defRPr>
            </a:pPr>
            <a:r>
              <a:rPr sz="1350" b="1">
                <a:solidFill>
                  <a:srgbClr val="3F3A3A"/>
                </a:solidFill>
              </a:rPr>
              <a:t>Representation gap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B4E93-0C38-46C5-B224-11494537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2305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Local observations do not tell an agent enough about the grid state it will create after a topology switch.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70E83-1AB4-457F-83CF-52CB3D15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2647950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4F2"/>
          </a:solidFill>
          <a:ln xmlns:a="http://schemas.openxmlformats.org/drawingml/2006/main" w="9525">
            <a:solidFill>
              <a:srgbClr val="2020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33267-891B-4BC8-9662-ABB2CAB0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910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A3A"/>
                </a:solidFill>
              </a:defRPr>
            </a:pPr>
            <a:r>
              <a:rPr sz="1350" b="1">
                <a:solidFill>
                  <a:srgbClr val="3F3A3A"/>
                </a:solidFill>
              </a:rPr>
              <a:t>Coordination 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C7171-360D-43DF-9670-E1595378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2305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Neighboring agents still lack a compact way to share intent or expected after-state information across zone boundaries.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292E9D-8B76-4F38-A4A9-90674A07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2647950" cy="1600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2020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FFF87-E00F-46BF-9FE7-DC4B3C11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A3A"/>
                </a:solidFill>
              </a:defRPr>
            </a:pPr>
            <a:r>
              <a:rPr sz="1350" b="1">
                <a:solidFill>
                  <a:srgbClr val="3F3A3A"/>
                </a:solidFill>
              </a:rPr>
              <a:t>Benchmark gap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243899-7B7F-4DF0-BD1E-3D1859F8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14850"/>
            <a:ext cx="2305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MARL2Grid has not yet been used to test whether after-state prediction and learned communication improve topology control.</a:t>
            </a:r>
          </a:p>
        </p:txBody>
      </p:sp>
    </p:spTree>
    <p:extLst>
      <p:ext uri="{BB962C8B-B14F-4D97-AF65-F5344CB8AC3E}">
        <p14:creationId xmlns:p14="http://schemas.microsoft.com/office/powerpoint/2010/main" val="12735833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0B58F423-DB6F-79EE-91B8-22E8E557A3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4875" y="252828"/>
            <a:ext cx="7532115" cy="6013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Thesis Refinement</a:t>
            </a:r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FF30CDE-FDF1-E2D0-5AD6-438BAF3523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F131803C-B799-F9C2-2692-6467FD2C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92" y="854129"/>
            <a:ext cx="8048611" cy="104709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 u="sng"/>
              <a:t>Main Goal:</a:t>
            </a:r>
            <a:r>
              <a:rPr b="1"/>
              <a:t> 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400">
                <a:solidFill>
                  <a:schemeClr val="tx1"/>
                </a:solidFill>
              </a:rPr>
              <a:t>Develop</a:t>
            </a:r>
            <a:r>
              <a:rPr sz="1400">
                <a:solidFill>
                  <a:schemeClr val="tx1"/>
                </a:solidFill>
              </a:rPr>
              <a:t> a </a:t>
            </a:r>
            <a:r>
              <a:rPr sz="1400" b="1">
                <a:solidFill>
                  <a:schemeClr val="tx1"/>
                </a:solidFill>
              </a:rPr>
              <a:t>scalable and </a:t>
            </a:r>
            <a:r>
              <a:rPr sz="1400" b="1">
                <a:solidFill>
                  <a:schemeClr val="tx1"/>
                </a:solidFill>
              </a:rPr>
              <a:t>coordinated</a:t>
            </a:r>
            <a:r>
              <a:rPr sz="1400" b="1">
                <a:solidFill>
                  <a:schemeClr val="tx1"/>
                </a:solidFill>
              </a:rPr>
              <a:t> multi-agent </a:t>
            </a:r>
            <a:r>
              <a:rPr sz="1400" b="1">
                <a:solidFill>
                  <a:schemeClr val="tx1"/>
                </a:solidFill>
              </a:rPr>
              <a:t>reinforcement</a:t>
            </a:r>
            <a:r>
              <a:rPr sz="1400" b="1">
                <a:solidFill>
                  <a:schemeClr val="tx1"/>
                </a:solidFill>
              </a:rPr>
              <a:t> </a:t>
            </a:r>
            <a:r>
              <a:rPr sz="1400" b="1">
                <a:solidFill>
                  <a:schemeClr val="tx1"/>
                </a:solidFill>
              </a:rPr>
              <a:t>learning</a:t>
            </a:r>
            <a:r>
              <a:rPr sz="1400" b="1">
                <a:solidFill>
                  <a:schemeClr val="tx1"/>
                </a:solidFill>
              </a:rPr>
              <a:t> </a:t>
            </a:r>
            <a:r>
              <a:rPr sz="1400" b="1">
                <a:solidFill>
                  <a:schemeClr val="tx1"/>
                </a:solidFill>
              </a:rPr>
              <a:t>framework</a:t>
            </a:r>
            <a:r>
              <a:rPr sz="1400" b="1">
                <a:solidFill>
                  <a:schemeClr val="tx1"/>
                </a:solidFill>
              </a:rPr>
              <a:t> </a:t>
            </a:r>
            <a:r>
              <a:rPr sz="1400">
                <a:solidFill>
                  <a:schemeClr val="tx1"/>
                </a:solidFill>
              </a:rPr>
              <a:t>that</a:t>
            </a:r>
            <a:r>
              <a:rPr sz="1400">
                <a:solidFill>
                  <a:schemeClr val="tx1"/>
                </a:solidFill>
              </a:rPr>
              <a:t> uses </a:t>
            </a:r>
            <a:r>
              <a:rPr sz="1400">
                <a:solidFill>
                  <a:schemeClr val="tx1"/>
                </a:solidFill>
              </a:rPr>
              <a:t>after</a:t>
            </a:r>
            <a:r>
              <a:rPr sz="1400">
                <a:solidFill>
                  <a:schemeClr val="tx1"/>
                </a:solidFill>
              </a:rPr>
              <a:t> state as a goal to </a:t>
            </a:r>
            <a:r>
              <a:rPr sz="1400">
                <a:solidFill>
                  <a:schemeClr val="tx1"/>
                </a:solidFill>
              </a:rPr>
              <a:t>reach</a:t>
            </a:r>
            <a:r>
              <a:rPr sz="14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ZoneTexte 7">
            <a:extLst xmlns:a="http://schemas.openxmlformats.org/drawingml/2006/main">
              <a:ext uri="{FF2B5EF4-FFF2-40B4-BE49-F238E27FC236}">
                <a16:creationId xmlns:a16="http://schemas.microsoft.com/office/drawing/2014/main" id="{EAAE4DE8-2352-B6C1-7C8C-E7BBCEE1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93" y="2205336"/>
            <a:ext cx="8048611" cy="2685336"/>
          </a:xfrm>
          <a:prstGeom xmlns:a="http://schemas.openxmlformats.org/drawingml/2006/main" prst="roundRect">
            <a:avLst>
              <a:gd name="adj" fmla="val 6938"/>
            </a:avLst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 u="sng"/>
              <a:t>Research Questions:</a:t>
            </a:r>
          </a:p>
          <a:p xmlns:a="http://schemas.openxmlformats.org/drawingml/2006/main">
            <a:pPr>
              <a:buNone/>
            </a:pPr>
            <a:r>
              <a:rPr b="1"/>
              <a:t>After state</a:t>
            </a:r>
          </a:p>
          <a:p xmlns:a="http://schemas.openxmlformats.org/drawingml/2006/main">
            <a:pPr marL="628650" indent="-285750">
              <a:buChar char="§"/>
            </a:pPr>
            <a:r>
              <a:t>How can after-state prediction improve decision-making in power grid control ?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b="1"/>
              <a:t>Coordination</a:t>
            </a:r>
          </a:p>
          <a:p xmlns:a="http://schemas.openxmlformats.org/drawingml/2006/main">
            <a:pPr marL="628650" indent="-285750">
              <a:buChar char="§"/>
            </a:pPr>
            <a:r>
              <a:t>How can agents coordinate using latent communication instead of full state sharing ?</a:t>
            </a:r>
          </a:p>
          <a:p xmlns:a="http://schemas.openxmlformats.org/drawingml/2006/main">
            <a:pPr marL="628650" indent="-285750">
              <a:buChar char="§"/>
            </a:pPr>
            <a:r>
              <a:t>Does sharing compressed intent representations improve multi-agent cooperation ?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b="1"/>
              <a:t>Scalability</a:t>
            </a:r>
          </a:p>
          <a:p xmlns:a="http://schemas.openxmlformats.org/drawingml/2006/main">
            <a:pPr marL="628650" indent="-285750">
              <a:buChar char="§"/>
            </a:pPr>
            <a:r>
              <a:t>Can combining after-state prediction and latent communication improve performance in large-scale, combinatorial environments ?</a:t>
            </a:r>
          </a:p>
          <a:p xmlns:a="http://schemas.openxmlformats.org/drawingml/2006/main">
            <a:pPr marL="628650" indent="-285750">
              <a:buChar char="§"/>
            </a:pPr>
            <a:r>
              <a:t>Does the approach generalize from small grids to more realistic larger systems ?</a:t>
            </a:r>
          </a:p>
        </p:txBody>
      </p:sp>
    </p:spTree>
    <p:extLst>
      <p:ext uri="{BB962C8B-B14F-4D97-AF65-F5344CB8AC3E}">
        <p14:creationId xmlns:p14="http://schemas.microsoft.com/office/powerpoint/2010/main" val="14207020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082681-F138-4E2F-B574-7CFF331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001A"/>
                </a:solidFill>
              </a:defRPr>
            </a:pPr>
            <a:r>
              <a:rPr sz="1800" b="1">
                <a:solidFill>
                  <a:srgbClr val="E2001A"/>
                </a:solidFill>
              </a:rPr>
              <a:t>EPFL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AB5D9-C48C-4F54-ADDB-CB38E5C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F3A3A"/>
                </a:solidFill>
              </a:defRPr>
            </a:pPr>
            <a:r>
              <a:rPr sz="3300" b="1">
                <a:solidFill>
                  <a:srgbClr val="3F3A3A"/>
                </a:solidFill>
              </a:rPr>
              <a:t>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F82E2-3C88-46E3-A109-4EF6C41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667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F3A3A"/>
                </a:solidFill>
              </a:defRPr>
            </a:pPr>
            <a:r>
              <a:rPr sz="1350" b="0">
                <a:solidFill>
                  <a:srgbClr val="3F3A3A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3D63F-63F0-4E32-8AB3-FACF6751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4C3E1-3863-4D63-A5B3-704FE5A4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2395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A"/>
                </a:solidFill>
              </a:defRPr>
            </a:pPr>
            <a:r>
              <a:rPr sz="1425" b="0">
                <a:solidFill>
                  <a:srgbClr val="5F5A5A"/>
                </a:solidFill>
              </a:rPr>
              <a:t>Investigate whether after-state prediction and lightweight communication improve decentralized topology control on MARL2Grid.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2E966-AA9D-4BA5-8AD1-ED36F32F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2286000" cy="16383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4F2"/>
          </a:solidFill>
          <a:ln xmlns:a="http://schemas.openxmlformats.org/drawingml/2006/main" w="10954">
            <a:solidFill>
              <a:srgbClr val="2020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12C2C-166A-44AE-BF8B-D84634FF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323850" cy="323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4C84E-5A2E-48E0-962E-C0123731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478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66B77-4A63-4E27-9A12-69A45BD3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383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F3A3A"/>
                </a:solidFill>
              </a:defRPr>
            </a:pPr>
            <a:r>
              <a:rPr sz="1500" b="1">
                <a:solidFill>
                  <a:srgbClr val="3F3A3A"/>
                </a:solidFill>
              </a:rPr>
              <a:t>Local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4036A-043C-45A9-B676-BEBAEA4F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A"/>
                </a:solidFill>
              </a:defRPr>
            </a:pPr>
            <a:r>
              <a:rPr sz="1275" b="0">
                <a:solidFill>
                  <a:srgbClr val="5F5A5A"/>
                </a:solidFill>
              </a:rPr>
              <a:t>Each agent observes its zone, boundary lines, and local grid features from the MARL2Grid topology task.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A3D55-2863-4812-A622-BF271E7F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DFEB4-E553-4BAB-89C9-C2C53E7E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66900"/>
            <a:ext cx="2286000" cy="16383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2020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64E17-1DBE-4109-887D-55B14EBB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00250"/>
            <a:ext cx="323850" cy="323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AEBB3-92C1-4D08-AD41-679A6CE1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C571C-633D-454C-AFEE-FC626DA3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383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F3A3A"/>
                </a:solidFill>
              </a:defRPr>
            </a:pPr>
            <a:r>
              <a:rPr sz="1500" b="1">
                <a:solidFill>
                  <a:srgbClr val="3F3A3A"/>
                </a:solidFill>
              </a:rPr>
              <a:t>Latent communication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32239-3689-4A2F-99AA-63AED183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3840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A"/>
                </a:solidFill>
              </a:defRPr>
            </a:pPr>
            <a:r>
              <a:rPr sz="1275" b="0">
                <a:solidFill>
                  <a:srgbClr val="5F5A5A"/>
                </a:solidFill>
              </a:rPr>
              <a:t>Neighboring agents exchange compressed messages that summarize intent or boundary-state information.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0E320-DCF2-48BE-8E0E-AE545519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5717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D25EC-5FC1-4B58-AF95-AF86C026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2286000" cy="16383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4F2"/>
          </a:solidFill>
          <a:ln xmlns:a="http://schemas.openxmlformats.org/drawingml/2006/main" w="10954">
            <a:solidFill>
              <a:srgbClr val="2020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AED1F-045F-4644-96F0-4BED9467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323850" cy="323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0CD1E-1812-4392-B83F-8726F0B0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C803E-8271-43DD-A93B-9908E0F1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F3A3A"/>
                </a:solidFill>
              </a:defRPr>
            </a:pPr>
            <a:r>
              <a:rPr sz="1500" b="1">
                <a:solidFill>
                  <a:srgbClr val="3F3A3A"/>
                </a:solidFill>
              </a:rPr>
              <a:t>After-state predictor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62672-CE56-40EA-9C54-60C4E93F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A"/>
                </a:solidFill>
              </a:defRPr>
            </a:pPr>
            <a:r>
              <a:rPr sz="1275" b="0">
                <a:solidFill>
                  <a:srgbClr val="5F5A5A"/>
                </a:solidFill>
              </a:rPr>
              <a:t>A predictor estimates the post-action local topology and overload evolution before the switch is applied.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54E22-5E4B-43ED-B55B-99F6AC2D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64D3D-E148-4F4F-AE24-4C6662E6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2286000" cy="16383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2020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1AF049-A0FE-480B-A8EA-3A1F4215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00250"/>
            <a:ext cx="323850" cy="323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001A"/>
          </a:solidFill>
          <a:ln xmlns:a="http://schemas.openxmlformats.org/drawingml/2006/main" w="9525">
            <a:solidFill>
              <a:srgbClr val="E200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B4990-408A-4D1E-9BD9-ADFA85C7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0142A5-631F-4E77-824C-B5518E9E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383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F3A3A"/>
                </a:solidFill>
              </a:defRPr>
            </a:pPr>
            <a:r>
              <a:rPr sz="1500" b="1">
                <a:solidFill>
                  <a:srgbClr val="3F3A3A"/>
                </a:solidFill>
              </a:rPr>
              <a:t>Action selection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8E0D2E-1CCD-45C0-9E6C-507E165A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3840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A"/>
                </a:solidFill>
              </a:defRPr>
            </a:pPr>
            <a:r>
              <a:rPr sz="1275" b="0">
                <a:solidFill>
                  <a:srgbClr val="5F5A5A"/>
                </a:solidFill>
              </a:rPr>
              <a:t>A MAPPO-style policy uses the communicated state and predicted after-state to choose the topology action.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DDED3F-F14E-4CAC-A524-C84DC47E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4762500" cy="17907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2020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B7BC85-0142-435E-993F-3B605D69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3A3A"/>
                </a:solidFill>
              </a:defRPr>
            </a:pPr>
            <a:r>
              <a:rPr sz="1650" b="1">
                <a:solidFill>
                  <a:srgbClr val="3F3A3A"/>
                </a:solidFill>
              </a:rPr>
              <a:t>Training setup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AACA18-EE9A-48AA-97FE-A6090A63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F9AA08-9E23-480E-A21C-647639DF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482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MAPPO backbone with an auxiliary after-state prediction loss.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D28784-7746-4E22-85E6-149C6118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0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61F60C-994F-4A57-B926-3DD61AA0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01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Message bottleneck controls how much agents can share.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33EF3D-52AA-4877-97CF-63FF405B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C925E0-0ED7-4572-833D-64FF03A6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721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Ablations: baseline, after-state only, communication only, both.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DC5B39-E492-4F16-9A0B-B0EA61DA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4762500" cy="17907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20202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FAEB01-E111-4D16-A72E-22403E5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3A3A"/>
                </a:solidFill>
              </a:defRPr>
            </a:pPr>
            <a:r>
              <a:rPr sz="1650" b="1">
                <a:solidFill>
                  <a:srgbClr val="3F3A3A"/>
                </a:solidFill>
              </a:rPr>
              <a:t>Evaluation on MARL2Grid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DDD4E7-73E9-4DB0-8DDE-F66C910D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BA7507-B2BE-41E8-BD73-5DD5D361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482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Topology benchmark under decentralized and centralized observation settings.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91AD23-81F0-4444-8AF1-BE19006A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4F2B3A-45D4-4604-AAF4-9D2DC773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01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Metrics: survival, margins, overload reduction, sample efficiency.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EE7448-31BC-4B33-BC12-3EFC0FC7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72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001A"/>
                </a:solidFill>
              </a:defRPr>
            </a:pPr>
            <a:r>
              <a:rPr sz="1200" b="1">
                <a:solidFill>
                  <a:srgbClr val="E2001A"/>
                </a:solidFill>
              </a:rPr>
              <a:t>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94BBB6-A444-4500-B029-C9A74A81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721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A"/>
                </a:solidFill>
              </a:defRPr>
            </a:pPr>
            <a:r>
              <a:rPr sz="1200" b="0">
                <a:solidFill>
                  <a:srgbClr val="5F5A5A"/>
                </a:solidFill>
              </a:rPr>
              <a:t>Scalability study from smaller grids to harder MARL2Grid scenarios.</a:t>
            </a:r>
          </a:p>
        </p:txBody>
      </p:sp>
    </p:spTree>
    <p:extLst>
      <p:ext uri="{BB962C8B-B14F-4D97-AF65-F5344CB8AC3E}">
        <p14:creationId xmlns:p14="http://schemas.microsoft.com/office/powerpoint/2010/main" val="16578071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5ECAEA-B2B4-4B37-B351-BB6AB0A5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001A"/>
                </a:solidFill>
              </a:defRPr>
            </a:pPr>
            <a:r>
              <a:rPr sz="1800" b="1">
                <a:solidFill>
                  <a:srgbClr val="E2001A"/>
                </a:solidFill>
              </a:rPr>
              <a:t>EPFL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F204E-466B-4983-ACC1-88FB04AF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F3A3A"/>
                </a:solidFill>
              </a:defRPr>
            </a:pPr>
            <a:r>
              <a:rPr sz="3300" b="1">
                <a:solidFill>
                  <a:srgbClr val="3F3A3A"/>
                </a:solidFill>
              </a:rPr>
              <a:t>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00715-D234-4825-8DBD-FEFDB62B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667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F3A3A"/>
                </a:solidFill>
              </a:defRPr>
            </a:pPr>
            <a:r>
              <a:rPr sz="1350" b="0">
                <a:solidFill>
                  <a:srgbClr val="3F3A3A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A54AD-8FA2-4986-89AE-2D07FF3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9706F-31FE-4D71-9CC5-95C09C7D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352F3-F63E-4D21-8CAE-E550C9EC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62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A3A"/>
                </a:solidFill>
              </a:defRPr>
            </a:pPr>
            <a:r>
              <a:rPr sz="1350" b="1">
                <a:solidFill>
                  <a:srgbClr val="3F3A3A"/>
                </a:solidFill>
              </a:rPr>
              <a:t>April - MARL2Grid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340BD-99FB-4E0B-BA23-2B85253D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EB0F8-2BB5-42E7-9C4C-DA160D85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287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Reproduce topology baselines and environment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2C656-2557-42C7-9619-03D9B3C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EC0F7-6AED-4367-BFF0-550CA71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Fix metrics, seeds, and agent partitions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17FFB-975A-4B5E-A906-629FCC4F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3E7FD-0C89-41C9-BA97-D35D90CB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Define the after-state targets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69D65-D588-4590-BFCE-C2D3E77F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06F3B-DDBF-414A-975A-50F14AFC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A3A"/>
                </a:solidFill>
              </a:defRPr>
            </a:pPr>
            <a:r>
              <a:rPr sz="1350" b="1">
                <a:solidFill>
                  <a:srgbClr val="3F3A3A"/>
                </a:solidFill>
              </a:rPr>
              <a:t>May - After-state 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00B84-8A6A-401A-94CA-0B2F7F8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AB5D9-3B03-4110-91A8-69F1F3D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908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Design boundary-aware after-state representations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169A0-8AF0-4354-984B-97032F4A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1E0CA-BD10-4885-A08E-29C74918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Train the predictor on collected rollouts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9CCE3-35E1-46C5-9578-E5B30624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F9D96-FCB2-4818-A89A-6FA6C340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Test whether prediction quality helps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90006-B951-42BF-B82D-AF9AAD38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CCF55-8F7F-49CE-8B8B-116A89C5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A3A"/>
                </a:solidFill>
              </a:defRPr>
            </a:pPr>
            <a:r>
              <a:rPr sz="1350" b="1">
                <a:solidFill>
                  <a:srgbClr val="3F3A3A"/>
                </a:solidFill>
              </a:rPr>
              <a:t>June - Communication module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341C1-2CEC-4F07-8206-113F5B9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C526E-0218-4840-BEE5-23C5DE60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Implement latent messages between neighboring 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B679D-8F8D-4981-9C5F-73C5F018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30C99-6D8A-427F-B87F-E7F974A2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Compare bottlenecks and neighborhood choices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86A67-8BE8-44A8-89FC-1708826C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42C47-7780-4A31-AF98-6B6FA672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Check whether communication improves coordination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7F1488-0F2D-4469-BC31-04D2F239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382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6B4464-4BE4-4106-B7DD-70C1C1C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62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A3A"/>
                </a:solidFill>
              </a:defRPr>
            </a:pPr>
            <a:r>
              <a:rPr sz="1350" b="1">
                <a:solidFill>
                  <a:srgbClr val="3F3A3A"/>
                </a:solidFill>
              </a:rPr>
              <a:t>July - Joint MARL 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0C1C10-4EE0-466C-82C7-0B75F540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A757D-C42C-4D9B-9F83-3875B44E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Integrate after-state and communication into MAPPO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9742AA-DA26-458C-9416-FE8F710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BBBF3E-794F-4884-B8F4-81CA95AD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Run ablations for each component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6C439B-BDA2-4BF8-9234-89E418AB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DBA3A3-148F-4FB0-B1BC-51913293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Tune under decentralized observations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C9BC7D-5DE3-4771-A34F-D71983AF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0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01A"/>
          </a:solidFill>
          <a:ln xmlns:a="http://schemas.openxmlformats.org/drawingml/2006/main" w="0">
            <a:solidFill>
              <a:srgbClr val="E2001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3D6BD3-33CC-45FE-9572-8133454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A3A"/>
                </a:solidFill>
              </a:defRPr>
            </a:pPr>
            <a:r>
              <a:rPr sz="1350" b="1">
                <a:solidFill>
                  <a:srgbClr val="3F3A3A"/>
                </a:solidFill>
              </a:rPr>
              <a:t>August - Evaluation and writing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2AF773-C732-4651-AF76-610191AE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14D943-FEBA-4107-B6FF-378B14EC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Benchmark on MARL2Grid topology scenarios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60ADA0-1172-4E6C-A4AE-6D6782F1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D282E8-636F-47B9-AF67-A7F80017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766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Study scalability and failure cases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C4AA6B-A66D-457F-AF52-BFEEBC9A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A3A"/>
                </a:solidFill>
              </a:defRPr>
            </a:pPr>
            <a:r>
              <a:rPr sz="1125" b="1">
                <a:solidFill>
                  <a:srgbClr val="3F3A3A"/>
                </a:solidFill>
              </a:rPr>
              <a:t>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D3AFE7-1FEE-4678-ABD5-D4D7EFAC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A"/>
                </a:solidFill>
              </a:defRPr>
            </a:pPr>
            <a:r>
              <a:rPr sz="1125" b="0">
                <a:solidFill>
                  <a:srgbClr val="5F5A5A"/>
                </a:solidFill>
              </a:rPr>
              <a:t>Write the thesis and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970184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C9A05D3B-9B07-4573-62C8-6580877E45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4875" y="252828"/>
            <a:ext cx="7532115" cy="6013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References</a:t>
            </a:r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6FC9AC55-9F26-916C-E335-C5EFF5F5C7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</a:t>
            </a:r>
          </a:p>
        </p:txBody>
      </p:sp>
      <p:sp>
        <p:nvSpPr>
          <p:cNvPr id="4" name="ZoneTexte 3">
            <a:extLst xmlns:a="http://schemas.openxmlformats.org/drawingml/2006/main">
              <a:ext uri="{FF2B5EF4-FFF2-40B4-BE49-F238E27FC236}">
                <a16:creationId xmlns:a16="http://schemas.microsoft.com/office/drawing/2014/main" id="{30283A15-06B8-0027-DDEB-31E69C88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74" y="854129"/>
            <a:ext cx="8488545" cy="38318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0" i="0">
                <a:solidFill>
                  <a:srgbClr val="1A1C1F"/>
                </a:solidFill>
              </a:rPr>
              <a:t>[1] </a:t>
            </a:r>
            <a:r>
              <a:rPr b="0" i="0">
                <a:solidFill>
                  <a:srgbClr val="1A1C1F"/>
                </a:solidFill>
              </a:rPr>
              <a:t>Batanero</a:t>
            </a:r>
            <a:r>
              <a:rPr b="0" i="0">
                <a:solidFill>
                  <a:srgbClr val="1A1C1F"/>
                </a:solidFill>
              </a:rPr>
              <a:t>, E.A., Fernández, </a:t>
            </a:r>
            <a:r>
              <a:rPr b="0" i="0">
                <a:solidFill>
                  <a:srgbClr val="1A1C1F"/>
                </a:solidFill>
              </a:rPr>
              <a:t>Á</a:t>
            </a:r>
            <a:r>
              <a:rPr b="0" i="0">
                <a:solidFill>
                  <a:srgbClr val="1A1C1F"/>
                </a:solidFill>
              </a:rPr>
              <a:t>., </a:t>
            </a:r>
            <a:r>
              <a:rPr b="0" i="0">
                <a:solidFill>
                  <a:srgbClr val="1A1C1F"/>
                </a:solidFill>
              </a:rPr>
              <a:t>Barbero</a:t>
            </a:r>
            <a:r>
              <a:rPr b="0" i="0">
                <a:solidFill>
                  <a:srgbClr val="1A1C1F"/>
                </a:solidFill>
              </a:rPr>
              <a:t>, </a:t>
            </a:r>
            <a:r>
              <a:rPr b="0" i="0">
                <a:solidFill>
                  <a:srgbClr val="1A1C1F"/>
                </a:solidFill>
              </a:rPr>
              <a:t>Á</a:t>
            </a:r>
            <a:r>
              <a:rPr b="0" i="0">
                <a:solidFill>
                  <a:srgbClr val="1A1C1F"/>
                </a:solidFill>
              </a:rPr>
              <a:t>. Graph-</a:t>
            </a:r>
            <a:r>
              <a:rPr b="0" i="0">
                <a:solidFill>
                  <a:srgbClr val="1A1C1F"/>
                </a:solidFill>
              </a:rPr>
              <a:t>enhanced</a:t>
            </a:r>
            <a:r>
              <a:rPr b="0" i="0">
                <a:solidFill>
                  <a:srgbClr val="1A1C1F"/>
                </a:solidFill>
              </a:rPr>
              <a:t> model-free </a:t>
            </a:r>
            <a:r>
              <a:rPr b="0" i="0">
                <a:solidFill>
                  <a:srgbClr val="1A1C1F"/>
                </a:solidFill>
              </a:rPr>
              <a:t>reinforcement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learning</a:t>
            </a:r>
            <a:r>
              <a:rPr b="0" i="0">
                <a:solidFill>
                  <a:srgbClr val="1A1C1F"/>
                </a:solidFill>
              </a:rPr>
              <a:t> agents for efficient power </a:t>
            </a:r>
            <a:r>
              <a:rPr b="0" i="0">
                <a:solidFill>
                  <a:srgbClr val="1A1C1F"/>
                </a:solidFill>
              </a:rPr>
              <a:t>grid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topological</a:t>
            </a:r>
            <a:r>
              <a:rPr b="0" i="0">
                <a:solidFill>
                  <a:srgbClr val="1A1C1F"/>
                </a:solidFill>
              </a:rPr>
              <a:t> control (2025)</a:t>
            </a:r>
          </a:p>
          <a:p xmlns:a="http://schemas.openxmlformats.org/drawingml/2006/main">
            <a:pPr algn="l">
              <a:buNone/>
            </a:pPr>
            <a:r>
              <a:rPr b="0" i="0">
                <a:solidFill>
                  <a:srgbClr val="1A1C1F"/>
                </a:solidFill>
              </a:rPr>
              <a:t>[</a:t>
            </a:r>
            <a:r>
              <a:rPr>
                <a:solidFill>
                  <a:srgbClr val="1A1C1F"/>
                </a:solidFill>
              </a:rPr>
              <a:t>2</a:t>
            </a:r>
            <a:r>
              <a:rPr b="0" i="0">
                <a:solidFill>
                  <a:srgbClr val="1A1C1F"/>
                </a:solidFill>
              </a:rPr>
              <a:t>] Fabrizio, C., </a:t>
            </a:r>
            <a:r>
              <a:rPr b="0" i="0">
                <a:solidFill>
                  <a:srgbClr val="1A1C1F"/>
                </a:solidFill>
              </a:rPr>
              <a:t>Losapio</a:t>
            </a:r>
            <a:r>
              <a:rPr b="0" i="0">
                <a:solidFill>
                  <a:srgbClr val="1A1C1F"/>
                </a:solidFill>
              </a:rPr>
              <a:t>, G., </a:t>
            </a:r>
            <a:r>
              <a:rPr b="0" i="0">
                <a:solidFill>
                  <a:srgbClr val="1A1C1F"/>
                </a:solidFill>
              </a:rPr>
              <a:t>Mussi</a:t>
            </a:r>
            <a:r>
              <a:rPr b="0" i="0">
                <a:solidFill>
                  <a:srgbClr val="1A1C1F"/>
                </a:solidFill>
              </a:rPr>
              <a:t>, M., </a:t>
            </a:r>
            <a:r>
              <a:rPr b="0" i="0">
                <a:solidFill>
                  <a:srgbClr val="1A1C1F"/>
                </a:solidFill>
              </a:rPr>
              <a:t>Metelli</a:t>
            </a:r>
            <a:r>
              <a:rPr b="0" i="0">
                <a:solidFill>
                  <a:srgbClr val="1A1C1F"/>
                </a:solidFill>
              </a:rPr>
              <a:t>, A.M., </a:t>
            </a:r>
            <a:r>
              <a:rPr b="0" i="0">
                <a:solidFill>
                  <a:srgbClr val="1A1C1F"/>
                </a:solidFill>
              </a:rPr>
              <a:t>Restelli</a:t>
            </a:r>
            <a:r>
              <a:rPr b="0" i="0">
                <a:solidFill>
                  <a:srgbClr val="1A1C1F"/>
                </a:solidFill>
              </a:rPr>
              <a:t>, M. Power </a:t>
            </a:r>
            <a:r>
              <a:rPr b="0" i="0">
                <a:solidFill>
                  <a:srgbClr val="1A1C1F"/>
                </a:solidFill>
              </a:rPr>
              <a:t>grid</a:t>
            </a:r>
            <a:r>
              <a:rPr b="0" i="0">
                <a:solidFill>
                  <a:srgbClr val="1A1C1F"/>
                </a:solidFill>
              </a:rPr>
              <a:t> control </a:t>
            </a:r>
            <a:r>
              <a:rPr b="0" i="0">
                <a:solidFill>
                  <a:srgbClr val="1A1C1F"/>
                </a:solidFill>
              </a:rPr>
              <a:t>with</a:t>
            </a:r>
            <a:r>
              <a:rPr b="0" i="0">
                <a:solidFill>
                  <a:srgbClr val="1A1C1F"/>
                </a:solidFill>
              </a:rPr>
              <a:t> graph-</a:t>
            </a:r>
            <a:r>
              <a:rPr b="0" i="0">
                <a:solidFill>
                  <a:srgbClr val="1A1C1F"/>
                </a:solidFill>
              </a:rPr>
              <a:t>based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distributed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reinforcement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learning</a:t>
            </a:r>
            <a:r>
              <a:rPr b="0" i="0">
                <a:solidFill>
                  <a:srgbClr val="1A1C1F"/>
                </a:solidFill>
              </a:rPr>
              <a:t> (2025)</a:t>
            </a:r>
          </a:p>
          <a:p xmlns:a="http://schemas.openxmlformats.org/drawingml/2006/main">
            <a:pPr algn="l">
              <a:buNone/>
            </a:pPr>
            <a:r>
              <a:rPr b="0" i="0">
                <a:solidFill>
                  <a:srgbClr val="1A1C1F"/>
                </a:solidFill>
              </a:rPr>
              <a:t>[3] Qiu, Z., Zhao, Y., Shi, W., Su, F., Zhu, Z. Distribution Network </a:t>
            </a:r>
            <a:r>
              <a:rPr b="0" i="0">
                <a:solidFill>
                  <a:srgbClr val="1A1C1F"/>
                </a:solidFill>
              </a:rPr>
              <a:t>Topology</a:t>
            </a:r>
            <a:r>
              <a:rPr b="0" i="0">
                <a:solidFill>
                  <a:srgbClr val="1A1C1F"/>
                </a:solidFill>
              </a:rPr>
              <a:t> Control </a:t>
            </a:r>
            <a:r>
              <a:rPr b="0" i="0">
                <a:solidFill>
                  <a:srgbClr val="1A1C1F"/>
                </a:solidFill>
              </a:rPr>
              <a:t>Using</a:t>
            </a:r>
            <a:r>
              <a:rPr b="0" i="0">
                <a:solidFill>
                  <a:srgbClr val="1A1C1F"/>
                </a:solidFill>
              </a:rPr>
              <a:t> Attention </a:t>
            </a:r>
            <a:r>
              <a:rPr b="0" i="0">
                <a:solidFill>
                  <a:srgbClr val="1A1C1F"/>
                </a:solidFill>
              </a:rPr>
              <a:t>Mechanism-Based</a:t>
            </a:r>
            <a:r>
              <a:rPr b="0" i="0">
                <a:solidFill>
                  <a:srgbClr val="1A1C1F"/>
                </a:solidFill>
              </a:rPr>
              <a:t> Deep </a:t>
            </a:r>
            <a:r>
              <a:rPr b="0" i="0">
                <a:solidFill>
                  <a:srgbClr val="1A1C1F"/>
                </a:solidFill>
              </a:rPr>
              <a:t>Reinforcement</a:t>
            </a:r>
            <a:r>
              <a:rPr b="0" i="0">
                <a:solidFill>
                  <a:srgbClr val="1A1C1F"/>
                </a:solidFill>
              </a:rPr>
              <a:t> Learning (2022)</a:t>
            </a:r>
          </a:p>
          <a:p xmlns:a="http://schemas.openxmlformats.org/drawingml/2006/main">
            <a:pPr algn="l">
              <a:buNone/>
            </a:pPr>
            <a:r>
              <a:rPr b="0" i="0">
                <a:solidFill>
                  <a:srgbClr val="1A1C1F"/>
                </a:solidFill>
              </a:rPr>
              <a:t>[4] Sar, E., </a:t>
            </a:r>
            <a:r>
              <a:rPr b="0" i="0">
                <a:solidFill>
                  <a:srgbClr val="1A1C1F"/>
                </a:solidFill>
              </a:rPr>
              <a:t>Zocca</a:t>
            </a:r>
            <a:r>
              <a:rPr b="0" i="0">
                <a:solidFill>
                  <a:srgbClr val="1A1C1F"/>
                </a:solidFill>
              </a:rPr>
              <a:t>, A., </a:t>
            </a:r>
            <a:r>
              <a:rPr b="0" i="0">
                <a:solidFill>
                  <a:srgbClr val="1A1C1F"/>
                </a:solidFill>
              </a:rPr>
              <a:t>Bhulai</a:t>
            </a:r>
            <a:r>
              <a:rPr b="0" i="0">
                <a:solidFill>
                  <a:srgbClr val="1A1C1F"/>
                </a:solidFill>
              </a:rPr>
              <a:t>, S. Multi-Agent </a:t>
            </a:r>
            <a:r>
              <a:rPr b="0" i="0">
                <a:solidFill>
                  <a:srgbClr val="1A1C1F"/>
                </a:solidFill>
              </a:rPr>
              <a:t>Reinforcement</a:t>
            </a:r>
            <a:r>
              <a:rPr b="0" i="0">
                <a:solidFill>
                  <a:srgbClr val="1A1C1F"/>
                </a:solidFill>
              </a:rPr>
              <a:t> Learning for Power </a:t>
            </a:r>
            <a:r>
              <a:rPr b="0" i="0">
                <a:solidFill>
                  <a:srgbClr val="1A1C1F"/>
                </a:solidFill>
              </a:rPr>
              <a:t>Grid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Topology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Optimization</a:t>
            </a:r>
            <a:r>
              <a:rPr b="0" i="0">
                <a:solidFill>
                  <a:srgbClr val="1A1C1F"/>
                </a:solidFill>
              </a:rPr>
              <a:t> (2023)</a:t>
            </a:r>
          </a:p>
          <a:p xmlns:a="http://schemas.openxmlformats.org/drawingml/2006/main">
            <a:pPr algn="l">
              <a:buNone/>
            </a:pPr>
            <a:r>
              <a:rPr b="0" i="0">
                <a:solidFill>
                  <a:srgbClr val="1A1C1F"/>
                </a:solidFill>
              </a:rPr>
              <a:t>[5] Taha, S., </a:t>
            </a:r>
            <a:r>
              <a:rPr b="0" i="0">
                <a:solidFill>
                  <a:srgbClr val="1A1C1F"/>
                </a:solidFill>
              </a:rPr>
              <a:t>Poland</a:t>
            </a:r>
            <a:r>
              <a:rPr b="0" i="0">
                <a:solidFill>
                  <a:srgbClr val="1A1C1F"/>
                </a:solidFill>
              </a:rPr>
              <a:t>, J., </a:t>
            </a:r>
            <a:r>
              <a:rPr b="0" i="0">
                <a:solidFill>
                  <a:srgbClr val="1A1C1F"/>
                </a:solidFill>
              </a:rPr>
              <a:t>Knezovic</a:t>
            </a:r>
            <a:r>
              <a:rPr b="0" i="0">
                <a:solidFill>
                  <a:srgbClr val="1A1C1F"/>
                </a:solidFill>
              </a:rPr>
              <a:t>, K., </a:t>
            </a:r>
            <a:r>
              <a:rPr b="0" i="0">
                <a:solidFill>
                  <a:srgbClr val="1A1C1F"/>
                </a:solidFill>
              </a:rPr>
              <a:t>Shchetinin</a:t>
            </a:r>
            <a:r>
              <a:rPr b="0" i="0">
                <a:solidFill>
                  <a:srgbClr val="1A1C1F"/>
                </a:solidFill>
              </a:rPr>
              <a:t>, D. Learning to Run a Power Network </a:t>
            </a:r>
            <a:r>
              <a:rPr b="0" i="0">
                <a:solidFill>
                  <a:srgbClr val="1A1C1F"/>
                </a:solidFill>
              </a:rPr>
              <a:t>under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Varying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Grid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Topology</a:t>
            </a:r>
            <a:r>
              <a:rPr b="0" i="0">
                <a:solidFill>
                  <a:srgbClr val="1A1C1F"/>
                </a:solidFill>
              </a:rPr>
              <a:t> (2022)</a:t>
            </a:r>
          </a:p>
          <a:p xmlns:a="http://schemas.openxmlformats.org/drawingml/2006/main">
            <a:pPr algn="l">
              <a:buNone/>
            </a:pPr>
            <a:r>
              <a:rPr b="0" i="0">
                <a:solidFill>
                  <a:srgbClr val="1A1C1F"/>
                </a:solidFill>
              </a:rPr>
              <a:t>[6] Xu, P., Duan, J., Zhang, J., Pei, Y., Shi, D., Wang, Z., Dong, X., Sun, Y. Active Power Correction </a:t>
            </a:r>
            <a:r>
              <a:rPr b="0" i="0">
                <a:solidFill>
                  <a:srgbClr val="1A1C1F"/>
                </a:solidFill>
              </a:rPr>
              <a:t>Strategies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Based</a:t>
            </a:r>
            <a:r>
              <a:rPr b="0" i="0">
                <a:solidFill>
                  <a:srgbClr val="1A1C1F"/>
                </a:solidFill>
              </a:rPr>
              <a:t> on Deep </a:t>
            </a:r>
            <a:r>
              <a:rPr b="0" i="0">
                <a:solidFill>
                  <a:srgbClr val="1A1C1F"/>
                </a:solidFill>
              </a:rPr>
              <a:t>Reinforcement</a:t>
            </a:r>
            <a:r>
              <a:rPr b="0" i="0">
                <a:solidFill>
                  <a:srgbClr val="1A1C1F"/>
                </a:solidFill>
              </a:rPr>
              <a:t> Learning—Part I: A Simulation-</a:t>
            </a:r>
            <a:r>
              <a:rPr b="0" i="0">
                <a:solidFill>
                  <a:srgbClr val="1A1C1F"/>
                </a:solidFill>
              </a:rPr>
              <a:t>driven</a:t>
            </a:r>
            <a:r>
              <a:rPr b="0" i="0">
                <a:solidFill>
                  <a:srgbClr val="1A1C1F"/>
                </a:solidFill>
              </a:rPr>
              <a:t> Solution for </a:t>
            </a:r>
            <a:r>
              <a:rPr b="0" i="0">
                <a:solidFill>
                  <a:srgbClr val="1A1C1F"/>
                </a:solidFill>
              </a:rPr>
              <a:t>Robustness</a:t>
            </a:r>
            <a:r>
              <a:rPr b="0" i="0">
                <a:solidFill>
                  <a:srgbClr val="1A1C1F"/>
                </a:solidFill>
              </a:rPr>
              <a:t> (2022)</a:t>
            </a:r>
          </a:p>
          <a:p xmlns:a="http://schemas.openxmlformats.org/drawingml/2006/main">
            <a:pPr algn="l">
              <a:buNone/>
            </a:pPr>
            <a:r>
              <a:rPr b="0" i="0">
                <a:solidFill>
                  <a:srgbClr val="1A1C1F"/>
                </a:solidFill>
              </a:rPr>
              <a:t>[7] Xu, P., Pei, Y., Zheng, X., Zhang, J. A simulation-</a:t>
            </a:r>
            <a:r>
              <a:rPr b="0" i="0">
                <a:solidFill>
                  <a:srgbClr val="1A1C1F"/>
                </a:solidFill>
              </a:rPr>
              <a:t>constraint</a:t>
            </a:r>
            <a:r>
              <a:rPr b="0" i="0">
                <a:solidFill>
                  <a:srgbClr val="1A1C1F"/>
                </a:solidFill>
              </a:rPr>
              <a:t> graph </a:t>
            </a:r>
            <a:r>
              <a:rPr b="0" i="0">
                <a:solidFill>
                  <a:srgbClr val="1A1C1F"/>
                </a:solidFill>
              </a:rPr>
              <a:t>reinforcement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learning</a:t>
            </a:r>
            <a:r>
              <a:rPr b="0" i="0">
                <a:solidFill>
                  <a:srgbClr val="1A1C1F"/>
                </a:solidFill>
              </a:rPr>
              <a:t> </a:t>
            </a:r>
            <a:r>
              <a:rPr b="0" i="0">
                <a:solidFill>
                  <a:srgbClr val="1A1C1F"/>
                </a:solidFill>
              </a:rPr>
              <a:t>method</a:t>
            </a:r>
            <a:r>
              <a:rPr b="0" i="0">
                <a:solidFill>
                  <a:srgbClr val="1A1C1F"/>
                </a:solidFill>
              </a:rPr>
              <a:t> for line flow control (2020)</a:t>
            </a:r>
          </a:p>
          <a:p xmlns:a="http://schemas.openxmlformats.org/drawingml/2006/main">
            <a:pPr algn="l">
              <a:buNone/>
            </a:pPr>
            <a:r>
              <a:rPr b="0" i="0">
                <a:solidFill>
                  <a:srgbClr val="1A1C1F"/>
                </a:solidFill>
              </a:rPr>
              <a:t>[8] Yoon, D., Hong, S., Lee, B.J., Kim, K.E. </a:t>
            </a:r>
            <a:r>
              <a:rPr b="0" i="0">
                <a:solidFill>
                  <a:srgbClr val="1A1C1F"/>
                </a:solidFill>
              </a:rPr>
              <a:t>Winning</a:t>
            </a:r>
            <a:r>
              <a:rPr b="0" i="0">
                <a:solidFill>
                  <a:srgbClr val="1A1C1F"/>
                </a:solidFill>
              </a:rPr>
              <a:t> the L2RPN Challenge: Power </a:t>
            </a:r>
            <a:r>
              <a:rPr b="0" i="0">
                <a:solidFill>
                  <a:srgbClr val="1A1C1F"/>
                </a:solidFill>
              </a:rPr>
              <a:t>Grid</a:t>
            </a:r>
            <a:r>
              <a:rPr b="0" i="0">
                <a:solidFill>
                  <a:srgbClr val="1A1C1F"/>
                </a:solidFill>
              </a:rPr>
              <a:t> Management via Semi-Markov </a:t>
            </a:r>
            <a:r>
              <a:rPr b="0" i="0">
                <a:solidFill>
                  <a:srgbClr val="1A1C1F"/>
                </a:solidFill>
              </a:rPr>
              <a:t>Afterstate</a:t>
            </a:r>
            <a:r>
              <a:rPr b="0" i="0">
                <a:solidFill>
                  <a:srgbClr val="1A1C1F"/>
                </a:solidFill>
              </a:rPr>
              <a:t> Actor-</a:t>
            </a:r>
            <a:r>
              <a:rPr b="0" i="0">
                <a:solidFill>
                  <a:srgbClr val="1A1C1F"/>
                </a:solidFill>
              </a:rPr>
              <a:t>Critic</a:t>
            </a:r>
            <a:r>
              <a:rPr b="0" i="0">
                <a:solidFill>
                  <a:srgbClr val="1A1C1F"/>
                </a:solidFill>
              </a:rPr>
              <a:t> (2021)</a:t>
            </a:r>
          </a:p>
          <a:p xmlns:a="http://schemas.openxmlformats.org/drawingml/2006/main">
            <a:r>
              <a:t>[9] Zhao, Y., Liu, J., Liu, X., Yuan, K., Ren, K., Yang, M. A graph-</a:t>
            </a:r>
            <a:r>
              <a:t>based</a:t>
            </a:r>
            <a:r>
              <a:t> </a:t>
            </a:r>
            <a:r>
              <a:t>deep</a:t>
            </a:r>
            <a:r>
              <a:t> </a:t>
            </a:r>
            <a:r>
              <a:t>reinforcement</a:t>
            </a:r>
            <a:r>
              <a:t> </a:t>
            </a:r>
            <a:r>
              <a:t>learning</a:t>
            </a:r>
            <a:r>
              <a:t> </a:t>
            </a:r>
            <a:r>
              <a:t>framework</a:t>
            </a:r>
            <a:r>
              <a:t> for </a:t>
            </a:r>
            <a:r>
              <a:t>autonomous</a:t>
            </a:r>
            <a:r>
              <a:t> power dispatch on power </a:t>
            </a:r>
            <a:r>
              <a:t>systems</a:t>
            </a:r>
            <a:r>
              <a:t> </a:t>
            </a:r>
            <a:r>
              <a:t>with</a:t>
            </a:r>
            <a:r>
              <a:t> </a:t>
            </a:r>
            <a:r>
              <a:t>changing</a:t>
            </a:r>
            <a:r>
              <a:t> topologies (2022)</a:t>
            </a:r>
          </a:p>
        </p:txBody>
      </p:sp>
    </p:spTree>
    <p:extLst>
      <p:ext uri="{BB962C8B-B14F-4D97-AF65-F5344CB8AC3E}">
        <p14:creationId xmlns:p14="http://schemas.microsoft.com/office/powerpoint/2010/main" val="528747050"/>
      </p:ext>
    </p:extLst>
  </p:cSld>
</p:sld>
</file>

<file path=ppt/theme/theme1.xml><?xml version="1.0" encoding="utf-8"?>
<a:theme xmlns:a="http://schemas.openxmlformats.org/drawingml/2006/main" name="EPFL - New Colors 2019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PFL - New Colors 201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2026-04-22T07:14:47.9200000Z</dcterms:created>
  <dcterms:modified xsi:type="dcterms:W3CDTF">2026-04-22T07:14:47.9200000Z</dcterms:modified>
</coreProperties>
</file>