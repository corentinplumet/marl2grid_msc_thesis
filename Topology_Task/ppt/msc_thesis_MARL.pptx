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147470169" r:id="rId3"/>
    <p:sldId id="2147470177" r:id="rId4"/>
    <p:sldId id="2147470162" r:id="rId5"/>
    <p:sldId id="2147470166" r:id="rId6"/>
    <p:sldId id="2147470176" r:id="rId7"/>
    <p:sldId id="2147470130" r:id="rId8"/>
    <p:sldId id="2147470173" r:id="rId9"/>
    <p:sldId id="2147470159" r:id="rId10"/>
    <p:sldId id="2147470178" r:id="rId11"/>
    <p:sldId id="2147470181" r:id="rId12"/>
    <p:sldId id="2147470179" r:id="rId13"/>
    <p:sldId id="2147470167" r:id="rId14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BF3FFFD-C098-4740-BA83-AF7494E26753}">
          <p14:sldIdLst>
            <p14:sldId id="256"/>
            <p14:sldId id="2147470169"/>
            <p14:sldId id="2147470177"/>
            <p14:sldId id="2147470162"/>
            <p14:sldId id="2147470166"/>
            <p14:sldId id="2147470176"/>
            <p14:sldId id="2147470130"/>
            <p14:sldId id="2147470173"/>
            <p14:sldId id="2147470159"/>
            <p14:sldId id="2147470178"/>
            <p14:sldId id="2147470181"/>
            <p14:sldId id="2147470179"/>
            <p14:sldId id="21474701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373" userDrawn="1">
          <p15:clr>
            <a:srgbClr val="A4A3A4"/>
          </p15:clr>
        </p15:guide>
        <p15:guide id="4" pos="136" userDrawn="1">
          <p15:clr>
            <a:srgbClr val="A4A3A4"/>
          </p15:clr>
        </p15:guide>
        <p15:guide id="5" pos="419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0D8"/>
    <a:srgbClr val="00677B"/>
    <a:srgbClr val="070707"/>
    <a:srgbClr val="BFD730"/>
    <a:srgbClr val="4B8FCC"/>
    <a:srgbClr val="5C2D91"/>
    <a:srgbClr val="F1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/>
    <p:restoredTop sz="79399"/>
  </p:normalViewPr>
  <p:slideViewPr>
    <p:cSldViewPr snapToGrid="0">
      <p:cViewPr varScale="1">
        <p:scale>
          <a:sx n="130" d="100"/>
          <a:sy n="130" d="100"/>
        </p:scale>
        <p:origin x="952" y="184"/>
      </p:cViewPr>
      <p:guideLst>
        <p:guide orient="horz" pos="15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90"/>
        <p:guide pos="2160"/>
        <p:guide orient="horz" pos="373"/>
        <p:guide pos="136"/>
        <p:guide pos="41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13B1C-FBC2-2140-9CFF-BFCC33EEAB51}" type="doc">
      <dgm:prSet loTypeId="urn:microsoft.com/office/officeart/2005/8/layout/hProcess9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29C872C8-F6E5-B24E-9315-417E1C07BC8C}">
      <dgm:prSet phldrT="[Texte]" custT="1"/>
      <dgm:spPr/>
      <dgm:t>
        <a:bodyPr/>
        <a:lstStyle/>
        <a:p>
          <a:r>
            <a:rPr lang="fr-FR" sz="1100" dirty="0"/>
            <a:t>April: </a:t>
          </a:r>
          <a:r>
            <a:rPr lang="fr-FR" altLang="fr-FR" sz="1100" b="1" dirty="0" err="1">
              <a:latin typeface="Arial" panose="020B0604020202020204" pitchFamily="34" charset="0"/>
            </a:rPr>
            <a:t>Baselines</a:t>
          </a:r>
          <a:endParaRPr lang="fr-FR" sz="1100" dirty="0"/>
        </a:p>
      </dgm:t>
    </dgm:pt>
    <dgm:pt modelId="{E7EF6962-CF83-BE44-969C-7A29E68131A0}" type="parTrans" cxnId="{8606C5F3-76FC-D047-BB46-DCDA7CA1E482}">
      <dgm:prSet/>
      <dgm:spPr/>
      <dgm:t>
        <a:bodyPr/>
        <a:lstStyle/>
        <a:p>
          <a:endParaRPr lang="fr-FR"/>
        </a:p>
      </dgm:t>
    </dgm:pt>
    <dgm:pt modelId="{940D607B-88B8-2343-9669-7ED790F1EFA8}" type="sibTrans" cxnId="{8606C5F3-76FC-D047-BB46-DCDA7CA1E482}">
      <dgm:prSet custT="1"/>
      <dgm:spPr/>
      <dgm:t>
        <a:bodyPr/>
        <a:lstStyle/>
        <a:p>
          <a:endParaRPr lang="fr-FR" sz="1100"/>
        </a:p>
      </dgm:t>
    </dgm:pt>
    <dgm:pt modelId="{9A4D9A84-EC17-C24E-9356-F28E1B4FDC1A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altLang="fr-FR" sz="1100" dirty="0">
              <a:latin typeface="Arial" panose="020B0604020202020204" pitchFamily="34" charset="0"/>
            </a:rPr>
            <a:t> Set up MARL2GRID</a:t>
          </a:r>
          <a:endParaRPr lang="fr-FR" sz="1100" dirty="0"/>
        </a:p>
      </dgm:t>
    </dgm:pt>
    <dgm:pt modelId="{4A06C498-02D3-9641-BD28-3C3E627231BD}" type="parTrans" cxnId="{2E0C53C4-3CDF-BA4D-8246-FD6664F69AB9}">
      <dgm:prSet/>
      <dgm:spPr/>
      <dgm:t>
        <a:bodyPr/>
        <a:lstStyle/>
        <a:p>
          <a:endParaRPr lang="fr-FR"/>
        </a:p>
      </dgm:t>
    </dgm:pt>
    <dgm:pt modelId="{EBE209F1-B93D-F64E-A047-B9476E7D9ADD}" type="sibTrans" cxnId="{2E0C53C4-3CDF-BA4D-8246-FD6664F69AB9}">
      <dgm:prSet/>
      <dgm:spPr/>
      <dgm:t>
        <a:bodyPr/>
        <a:lstStyle/>
        <a:p>
          <a:endParaRPr lang="fr-FR"/>
        </a:p>
      </dgm:t>
    </dgm:pt>
    <dgm:pt modelId="{9395EB0D-F132-994D-B864-1CC37E8FF280}">
      <dgm:prSet phldrT="[Texte]" custT="1"/>
      <dgm:spPr/>
      <dgm:t>
        <a:bodyPr/>
        <a:lstStyle/>
        <a:p>
          <a:r>
            <a:rPr lang="fr-FR" sz="1100" dirty="0"/>
            <a:t>May: </a:t>
          </a:r>
          <a:r>
            <a:rPr lang="fr-FR" sz="1100" b="1" dirty="0"/>
            <a:t>Graph </a:t>
          </a:r>
          <a:r>
            <a:rPr lang="fr-FR" sz="1100" b="1" dirty="0" err="1"/>
            <a:t>Models</a:t>
          </a:r>
          <a:endParaRPr lang="fr-FR" sz="1100" b="1" dirty="0"/>
        </a:p>
      </dgm:t>
    </dgm:pt>
    <dgm:pt modelId="{99EEEE1D-3E8F-874A-8743-163D8E41A9F6}" type="parTrans" cxnId="{EF81F501-34C5-B74A-A644-90BA2B367974}">
      <dgm:prSet/>
      <dgm:spPr/>
      <dgm:t>
        <a:bodyPr/>
        <a:lstStyle/>
        <a:p>
          <a:endParaRPr lang="fr-FR"/>
        </a:p>
      </dgm:t>
    </dgm:pt>
    <dgm:pt modelId="{BDA7E433-826B-104A-B413-450B74C8DED7}" type="sibTrans" cxnId="{EF81F501-34C5-B74A-A644-90BA2B367974}">
      <dgm:prSet custT="1"/>
      <dgm:spPr/>
      <dgm:t>
        <a:bodyPr/>
        <a:lstStyle/>
        <a:p>
          <a:endParaRPr lang="fr-FR" sz="1100"/>
        </a:p>
      </dgm:t>
    </dgm:pt>
    <dgm:pt modelId="{EB7EAF39-27A5-5642-A3EF-9781AA5E4596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Implement</a:t>
          </a:r>
          <a:r>
            <a:rPr lang="fr-CH" altLang="fr-FR" sz="1100" dirty="0">
              <a:latin typeface="Arial" panose="020B0604020202020204" pitchFamily="34" charset="0"/>
            </a:rPr>
            <a:t> GNN Encoder</a:t>
          </a:r>
          <a:endParaRPr lang="fr-FR" sz="1100" dirty="0"/>
        </a:p>
      </dgm:t>
    </dgm:pt>
    <dgm:pt modelId="{9F1792A5-BC15-D040-A358-A94678D2CE4E}" type="parTrans" cxnId="{232CC22E-DE97-FB42-A0F6-CDF256A85DAB}">
      <dgm:prSet/>
      <dgm:spPr/>
      <dgm:t>
        <a:bodyPr/>
        <a:lstStyle/>
        <a:p>
          <a:endParaRPr lang="fr-FR"/>
        </a:p>
      </dgm:t>
    </dgm:pt>
    <dgm:pt modelId="{62439B92-1C11-2C4F-A0F3-67AC92F83BF6}" type="sibTrans" cxnId="{232CC22E-DE97-FB42-A0F6-CDF256A85DAB}">
      <dgm:prSet/>
      <dgm:spPr/>
      <dgm:t>
        <a:bodyPr/>
        <a:lstStyle/>
        <a:p>
          <a:endParaRPr lang="fr-FR"/>
        </a:p>
      </dgm:t>
    </dgm:pt>
    <dgm:pt modelId="{C573DE81-449D-1A4E-BEB8-6BCA08637AB6}">
      <dgm:prSet phldrT="[Texte]" custT="1"/>
      <dgm:spPr/>
      <dgm:t>
        <a:bodyPr/>
        <a:lstStyle/>
        <a:p>
          <a:r>
            <a:rPr lang="fr-FR" sz="1100" dirty="0"/>
            <a:t>June: </a:t>
          </a:r>
          <a:r>
            <a:rPr lang="fr-FR" sz="1100" b="1" dirty="0"/>
            <a:t>MARL + Communication</a:t>
          </a:r>
        </a:p>
      </dgm:t>
    </dgm:pt>
    <dgm:pt modelId="{AEE6C157-E963-5047-B8BF-A74576DDF96B}" type="parTrans" cxnId="{72C1CEE8-B2FB-8D42-9250-726E43B068BC}">
      <dgm:prSet/>
      <dgm:spPr/>
      <dgm:t>
        <a:bodyPr/>
        <a:lstStyle/>
        <a:p>
          <a:endParaRPr lang="fr-FR"/>
        </a:p>
      </dgm:t>
    </dgm:pt>
    <dgm:pt modelId="{443298B9-D622-6B44-9BD3-6C594EE5366D}" type="sibTrans" cxnId="{72C1CEE8-B2FB-8D42-9250-726E43B068BC}">
      <dgm:prSet custT="1"/>
      <dgm:spPr/>
      <dgm:t>
        <a:bodyPr/>
        <a:lstStyle/>
        <a:p>
          <a:endParaRPr lang="fr-FR" sz="1100"/>
        </a:p>
      </dgm:t>
    </dgm:pt>
    <dgm:pt modelId="{2BFDDC5B-1F94-8E49-89F9-A88C5B1CA7E6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Add</a:t>
          </a:r>
          <a:r>
            <a:rPr lang="fr-CH" altLang="fr-FR" sz="1100" dirty="0">
              <a:latin typeface="Arial" panose="020B0604020202020204" pitchFamily="34" charset="0"/>
            </a:rPr>
            <a:t> latent communication</a:t>
          </a:r>
          <a:endParaRPr lang="fr-FR" sz="1100" dirty="0"/>
        </a:p>
      </dgm:t>
    </dgm:pt>
    <dgm:pt modelId="{323C120E-6007-A54A-A1FD-1F5F2F2E9438}" type="parTrans" cxnId="{DA6B5122-6841-954D-ABF5-73D452FCE422}">
      <dgm:prSet/>
      <dgm:spPr/>
      <dgm:t>
        <a:bodyPr/>
        <a:lstStyle/>
        <a:p>
          <a:endParaRPr lang="fr-FR"/>
        </a:p>
      </dgm:t>
    </dgm:pt>
    <dgm:pt modelId="{A990383F-4D79-9942-8C0C-D8C4BF41B5E4}" type="sibTrans" cxnId="{DA6B5122-6841-954D-ABF5-73D452FCE422}">
      <dgm:prSet/>
      <dgm:spPr/>
      <dgm:t>
        <a:bodyPr/>
        <a:lstStyle/>
        <a:p>
          <a:endParaRPr lang="fr-FR"/>
        </a:p>
      </dgm:t>
    </dgm:pt>
    <dgm:pt modelId="{ABBDE3D0-21A6-8C4D-A0BC-089A2A00F023}">
      <dgm:prSet phldrT="[Texte]" custT="1"/>
      <dgm:spPr/>
      <dgm:t>
        <a:bodyPr/>
        <a:lstStyle/>
        <a:p>
          <a:r>
            <a:rPr lang="fr-FR" sz="1100" dirty="0"/>
            <a:t>July: </a:t>
          </a:r>
          <a:r>
            <a:rPr lang="fr-FR" sz="1100" b="1" dirty="0"/>
            <a:t>Action Abstraction</a:t>
          </a:r>
        </a:p>
      </dgm:t>
    </dgm:pt>
    <dgm:pt modelId="{AB3F7861-9A55-1E49-B534-8479F99F888A}" type="parTrans" cxnId="{85707BF8-C896-D248-9084-1A3269087A6A}">
      <dgm:prSet/>
      <dgm:spPr/>
      <dgm:t>
        <a:bodyPr/>
        <a:lstStyle/>
        <a:p>
          <a:endParaRPr lang="fr-FR"/>
        </a:p>
      </dgm:t>
    </dgm:pt>
    <dgm:pt modelId="{A5D89C75-0025-E34E-ADE5-9EE70AB3D5B5}" type="sibTrans" cxnId="{85707BF8-C896-D248-9084-1A3269087A6A}">
      <dgm:prSet custT="1"/>
      <dgm:spPr/>
      <dgm:t>
        <a:bodyPr/>
        <a:lstStyle/>
        <a:p>
          <a:endParaRPr lang="fr-FR" sz="1100"/>
        </a:p>
      </dgm:t>
    </dgm:pt>
    <dgm:pt modelId="{CFF13943-02F6-874E-8867-9464792BF363}">
      <dgm:prSet phldrT="[Texte]" custT="1"/>
      <dgm:spPr/>
      <dgm:t>
        <a:bodyPr/>
        <a:lstStyle/>
        <a:p>
          <a:r>
            <a:rPr lang="fr-FR" sz="1100" dirty="0"/>
            <a:t>August: </a:t>
          </a:r>
          <a:r>
            <a:rPr lang="fr-FR" sz="1100" b="1" dirty="0"/>
            <a:t>Evaluation</a:t>
          </a:r>
        </a:p>
      </dgm:t>
    </dgm:pt>
    <dgm:pt modelId="{F46C7B2E-7E9D-DE48-88C4-E859E0ACFA68}" type="parTrans" cxnId="{3E5DE55A-6E1D-7E4E-92D2-24FB786714BD}">
      <dgm:prSet/>
      <dgm:spPr/>
      <dgm:t>
        <a:bodyPr/>
        <a:lstStyle/>
        <a:p>
          <a:endParaRPr lang="fr-FR"/>
        </a:p>
      </dgm:t>
    </dgm:pt>
    <dgm:pt modelId="{C8DF9DC8-073F-0748-8EC9-D24C0D93D6D3}" type="sibTrans" cxnId="{3E5DE55A-6E1D-7E4E-92D2-24FB786714BD}">
      <dgm:prSet/>
      <dgm:spPr/>
      <dgm:t>
        <a:bodyPr/>
        <a:lstStyle/>
        <a:p>
          <a:endParaRPr lang="fr-FR"/>
        </a:p>
      </dgm:t>
    </dgm:pt>
    <dgm:pt modelId="{CFE7DD26-C553-F544-AFB3-DD4AD0F91DFC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Add</a:t>
          </a: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topology-target</a:t>
          </a: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prediction</a:t>
          </a:r>
          <a:endParaRPr lang="fr-FR" sz="1100" dirty="0"/>
        </a:p>
      </dgm:t>
    </dgm:pt>
    <dgm:pt modelId="{B9EDD150-E63B-A64C-852B-C7996678E69D}" type="parTrans" cxnId="{B82B3009-01D2-DB4B-B74F-269D1224B537}">
      <dgm:prSet/>
      <dgm:spPr/>
      <dgm:t>
        <a:bodyPr/>
        <a:lstStyle/>
        <a:p>
          <a:endParaRPr lang="fr-FR"/>
        </a:p>
      </dgm:t>
    </dgm:pt>
    <dgm:pt modelId="{F1C85F1C-EC3A-054B-AFF8-2DB964B734FD}" type="sibTrans" cxnId="{B82B3009-01D2-DB4B-B74F-269D1224B537}">
      <dgm:prSet/>
      <dgm:spPr/>
      <dgm:t>
        <a:bodyPr/>
        <a:lstStyle/>
        <a:p>
          <a:endParaRPr lang="fr-FR"/>
        </a:p>
      </dgm:t>
    </dgm:pt>
    <dgm:pt modelId="{A3511C66-D12F-2145-81C1-1C6EEBDE970A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Large-</a:t>
          </a:r>
          <a:r>
            <a:rPr lang="fr-CH" altLang="fr-FR" sz="1100" dirty="0" err="1">
              <a:latin typeface="Arial" panose="020B0604020202020204" pitchFamily="34" charset="0"/>
            </a:rPr>
            <a:t>scale</a:t>
          </a: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experiments</a:t>
          </a:r>
          <a:endParaRPr lang="fr-FR" sz="1100" dirty="0"/>
        </a:p>
      </dgm:t>
    </dgm:pt>
    <dgm:pt modelId="{41AFEE74-6695-3945-8646-1E42E1C585CB}" type="parTrans" cxnId="{BE26D0A7-6445-504C-AA8A-9D5D7D7536D7}">
      <dgm:prSet/>
      <dgm:spPr/>
      <dgm:t>
        <a:bodyPr/>
        <a:lstStyle/>
        <a:p>
          <a:endParaRPr lang="fr-FR"/>
        </a:p>
      </dgm:t>
    </dgm:pt>
    <dgm:pt modelId="{C341BEB4-65A3-2C49-877C-D5B912AB5838}" type="sibTrans" cxnId="{BE26D0A7-6445-504C-AA8A-9D5D7D7536D7}">
      <dgm:prSet/>
      <dgm:spPr/>
      <dgm:t>
        <a:bodyPr/>
        <a:lstStyle/>
        <a:p>
          <a:endParaRPr lang="fr-FR"/>
        </a:p>
      </dgm:t>
    </dgm:pt>
    <dgm:pt modelId="{5C2110C2-1292-5042-B11F-320725E56918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altLang="fr-FR" sz="1100" dirty="0">
              <a:latin typeface="Arial" panose="020B0604020202020204" pitchFamily="34" charset="0"/>
            </a:rPr>
            <a:t> </a:t>
          </a:r>
          <a:r>
            <a:rPr lang="fr-FR" altLang="fr-FR" sz="1100" dirty="0" err="1">
              <a:latin typeface="Arial" panose="020B0604020202020204" pitchFamily="34" charset="0"/>
            </a:rPr>
            <a:t>Implement</a:t>
          </a:r>
          <a:r>
            <a:rPr lang="fr-FR" altLang="fr-FR" sz="1100" dirty="0">
              <a:latin typeface="Arial" panose="020B0604020202020204" pitchFamily="34" charset="0"/>
            </a:rPr>
            <a:t> MAPPO</a:t>
          </a:r>
          <a:endParaRPr lang="fr-FR" sz="1100" dirty="0"/>
        </a:p>
      </dgm:t>
    </dgm:pt>
    <dgm:pt modelId="{798212EF-9987-8840-9E96-60A127957C05}" type="parTrans" cxnId="{8F3229A9-EED8-434B-AEC2-E69FE73201EB}">
      <dgm:prSet/>
      <dgm:spPr/>
      <dgm:t>
        <a:bodyPr/>
        <a:lstStyle/>
        <a:p>
          <a:endParaRPr lang="fr-FR"/>
        </a:p>
      </dgm:t>
    </dgm:pt>
    <dgm:pt modelId="{4B29A402-7729-4940-AF85-F85FB08D0C33}" type="sibTrans" cxnId="{8F3229A9-EED8-434B-AEC2-E69FE73201EB}">
      <dgm:prSet/>
      <dgm:spPr/>
      <dgm:t>
        <a:bodyPr/>
        <a:lstStyle/>
        <a:p>
          <a:endParaRPr lang="fr-FR"/>
        </a:p>
      </dgm:t>
    </dgm:pt>
    <dgm:pt modelId="{6251A589-C2FB-2E4D-8342-20F1D4E194E5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sz="1100" dirty="0">
              <a:latin typeface="Arial" panose="020B0604020202020204" pitchFamily="34" charset="0"/>
            </a:rPr>
            <a:t> </a:t>
          </a:r>
          <a:r>
            <a:rPr lang="fr-FR" sz="1100" dirty="0" err="1">
              <a:latin typeface="Arial" panose="020B0604020202020204" pitchFamily="34" charset="0"/>
            </a:rPr>
            <a:t>Baselines</a:t>
          </a:r>
          <a:endParaRPr lang="fr-FR" sz="1100" dirty="0"/>
        </a:p>
      </dgm:t>
    </dgm:pt>
    <dgm:pt modelId="{54119697-8327-1148-B0F5-2803BBD60332}" type="parTrans" cxnId="{6329D243-C1FD-6F4A-BF22-9A36EE3FA086}">
      <dgm:prSet/>
      <dgm:spPr/>
      <dgm:t>
        <a:bodyPr/>
        <a:lstStyle/>
        <a:p>
          <a:endParaRPr lang="fr-FR"/>
        </a:p>
      </dgm:t>
    </dgm:pt>
    <dgm:pt modelId="{5E145971-C632-A140-BAA1-4B8CA4041BC6}" type="sibTrans" cxnId="{6329D243-C1FD-6F4A-BF22-9A36EE3FA086}">
      <dgm:prSet/>
      <dgm:spPr/>
      <dgm:t>
        <a:bodyPr/>
        <a:lstStyle/>
        <a:p>
          <a:endParaRPr lang="fr-FR"/>
        </a:p>
      </dgm:t>
    </dgm:pt>
    <dgm:pt modelId="{96D95613-254E-7B41-B020-C9FBA56CC8B2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</a:t>
          </a:r>
          <a:r>
            <a:rPr lang="fr-CH" altLang="fr-FR" sz="1100" dirty="0" err="1">
              <a:latin typeface="Arial" panose="020B0604020202020204" pitchFamily="34" charset="0"/>
            </a:rPr>
            <a:t>Evaluate</a:t>
          </a:r>
          <a:r>
            <a:rPr lang="fr-CH" altLang="fr-FR" sz="1100" dirty="0">
              <a:latin typeface="Arial" panose="020B0604020202020204" pitchFamily="34" charset="0"/>
            </a:rPr>
            <a:t> coordination</a:t>
          </a:r>
          <a:endParaRPr lang="fr-FR" sz="1100" dirty="0"/>
        </a:p>
      </dgm:t>
    </dgm:pt>
    <dgm:pt modelId="{2A2B722D-B203-FE4F-8FEA-E66A6D8286EE}" type="parTrans" cxnId="{AC165E1C-8F8B-AC47-ADA0-D03DB6298077}">
      <dgm:prSet/>
      <dgm:spPr/>
      <dgm:t>
        <a:bodyPr/>
        <a:lstStyle/>
        <a:p>
          <a:endParaRPr lang="fr-FR"/>
        </a:p>
      </dgm:t>
    </dgm:pt>
    <dgm:pt modelId="{F0316DBA-2FBC-8844-846F-C4F2727856FA}" type="sibTrans" cxnId="{AC165E1C-8F8B-AC47-ADA0-D03DB6298077}">
      <dgm:prSet/>
      <dgm:spPr/>
      <dgm:t>
        <a:bodyPr/>
        <a:lstStyle/>
        <a:p>
          <a:endParaRPr lang="fr-FR"/>
        </a:p>
      </dgm:t>
    </dgm:pt>
    <dgm:pt modelId="{782AD1F5-3942-3D4B-B89E-657C4DAA7C9C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Compare vs MLP</a:t>
          </a:r>
          <a:endParaRPr lang="fr-FR" sz="1100" dirty="0"/>
        </a:p>
      </dgm:t>
    </dgm:pt>
    <dgm:pt modelId="{AB6023AC-80DC-1342-8630-EF8EF4D5504E}" type="parTrans" cxnId="{EC558EDC-78C1-AE49-B51D-00C8456EC9F7}">
      <dgm:prSet/>
      <dgm:spPr/>
      <dgm:t>
        <a:bodyPr/>
        <a:lstStyle/>
        <a:p>
          <a:endParaRPr lang="fr-FR"/>
        </a:p>
      </dgm:t>
    </dgm:pt>
    <dgm:pt modelId="{9A41F91A-1FDF-7D49-8DF3-95874CFDE2F2}" type="sibTrans" cxnId="{EC558EDC-78C1-AE49-B51D-00C8456EC9F7}">
      <dgm:prSet/>
      <dgm:spPr/>
      <dgm:t>
        <a:bodyPr/>
        <a:lstStyle/>
        <a:p>
          <a:endParaRPr lang="fr-FR"/>
        </a:p>
      </dgm:t>
    </dgm:pt>
    <dgm:pt modelId="{9767CBC7-51A4-4F4C-9979-FAB740B28A4E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sz="1100" dirty="0">
              <a:latin typeface="Arial" panose="020B0604020202020204" pitchFamily="34" charset="0"/>
            </a:rPr>
            <a:t> </a:t>
          </a:r>
          <a:r>
            <a:rPr lang="fr-FR" sz="1100" dirty="0" err="1">
              <a:latin typeface="Arial" panose="020B0604020202020204" pitchFamily="34" charset="0"/>
            </a:rPr>
            <a:t>Abalation</a:t>
          </a:r>
          <a:r>
            <a:rPr lang="fr-FR" sz="1100" dirty="0">
              <a:latin typeface="Arial" panose="020B0604020202020204" pitchFamily="34" charset="0"/>
            </a:rPr>
            <a:t> </a:t>
          </a:r>
          <a:r>
            <a:rPr lang="fr-FR" sz="1100" dirty="0" err="1">
              <a:latin typeface="Arial" panose="020B0604020202020204" pitchFamily="34" charset="0"/>
            </a:rPr>
            <a:t>studies</a:t>
          </a:r>
          <a:endParaRPr lang="fr-FR" sz="1100" dirty="0"/>
        </a:p>
      </dgm:t>
    </dgm:pt>
    <dgm:pt modelId="{417DED5C-940F-9743-B677-A940795629BE}" type="parTrans" cxnId="{EEC14205-6A3A-8B42-A4F5-59F4331EE7B1}">
      <dgm:prSet/>
      <dgm:spPr/>
      <dgm:t>
        <a:bodyPr/>
        <a:lstStyle/>
        <a:p>
          <a:endParaRPr lang="fr-FR"/>
        </a:p>
      </dgm:t>
    </dgm:pt>
    <dgm:pt modelId="{D3BD86F6-72EB-9648-9DBE-F4A82B089C39}" type="sibTrans" cxnId="{EEC14205-6A3A-8B42-A4F5-59F4331EE7B1}">
      <dgm:prSet/>
      <dgm:spPr/>
      <dgm:t>
        <a:bodyPr/>
        <a:lstStyle/>
        <a:p>
          <a:endParaRPr lang="fr-FR"/>
        </a:p>
      </dgm:t>
    </dgm:pt>
    <dgm:pt modelId="{6D12444F-F529-5C42-9E30-1671D22616A7}">
      <dgm:prSet phldrT="[Texte]" custT="1"/>
      <dgm:spPr/>
      <dgm:t>
        <a:bodyPr/>
        <a:lstStyle/>
        <a:p>
          <a:pPr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dirty="0">
              <a:latin typeface="Arial" panose="020B0604020202020204" pitchFamily="34" charset="0"/>
            </a:rPr>
            <a:t> Final </a:t>
          </a:r>
          <a:r>
            <a:rPr lang="fr-CH" altLang="fr-FR" sz="1100" dirty="0" err="1">
              <a:latin typeface="Arial" panose="020B0604020202020204" pitchFamily="34" charset="0"/>
            </a:rPr>
            <a:t>comparison</a:t>
          </a:r>
          <a:endParaRPr lang="fr-FR" sz="1100" dirty="0"/>
        </a:p>
      </dgm:t>
    </dgm:pt>
    <dgm:pt modelId="{B86470B8-2468-754A-92E9-27144059463B}" type="parTrans" cxnId="{0595E1DA-5DA4-1245-BFAD-8D316ACAF944}">
      <dgm:prSet/>
      <dgm:spPr/>
      <dgm:t>
        <a:bodyPr/>
        <a:lstStyle/>
        <a:p>
          <a:endParaRPr lang="fr-FR"/>
        </a:p>
      </dgm:t>
    </dgm:pt>
    <dgm:pt modelId="{5085A23A-AED8-E749-BD43-F900C178BD18}" type="sibTrans" cxnId="{0595E1DA-5DA4-1245-BFAD-8D316ACAF944}">
      <dgm:prSet/>
      <dgm:spPr/>
      <dgm:t>
        <a:bodyPr/>
        <a:lstStyle/>
        <a:p>
          <a:endParaRPr lang="fr-FR"/>
        </a:p>
      </dgm:t>
    </dgm:pt>
    <dgm:pt modelId="{124EF424-4E96-204D-9F8C-4F985D47D50F}" type="pres">
      <dgm:prSet presAssocID="{48A13B1C-FBC2-2140-9CFF-BFCC33EEAB51}" presName="CompostProcess" presStyleCnt="0">
        <dgm:presLayoutVars>
          <dgm:dir/>
          <dgm:resizeHandles val="exact"/>
        </dgm:presLayoutVars>
      </dgm:prSet>
      <dgm:spPr/>
    </dgm:pt>
    <dgm:pt modelId="{97355D3D-DF22-3946-90A7-E9B86D5C2429}" type="pres">
      <dgm:prSet presAssocID="{48A13B1C-FBC2-2140-9CFF-BFCC33EEAB51}" presName="arrow" presStyleLbl="bgShp" presStyleIdx="0" presStyleCnt="1"/>
      <dgm:spPr/>
    </dgm:pt>
    <dgm:pt modelId="{7FF3142F-95FA-2747-AB3E-DA475DBC1FD2}" type="pres">
      <dgm:prSet presAssocID="{48A13B1C-FBC2-2140-9CFF-BFCC33EEAB51}" presName="linearProcess" presStyleCnt="0"/>
      <dgm:spPr/>
    </dgm:pt>
    <dgm:pt modelId="{7CE20655-224E-E74D-B977-E1DA48CD1B75}" type="pres">
      <dgm:prSet presAssocID="{29C872C8-F6E5-B24E-9315-417E1C07BC8C}" presName="textNode" presStyleLbl="node1" presStyleIdx="0" presStyleCnt="5">
        <dgm:presLayoutVars>
          <dgm:bulletEnabled val="1"/>
        </dgm:presLayoutVars>
      </dgm:prSet>
      <dgm:spPr/>
    </dgm:pt>
    <dgm:pt modelId="{08D44C39-5CBE-2945-BFC2-15F096BD1632}" type="pres">
      <dgm:prSet presAssocID="{940D607B-88B8-2343-9669-7ED790F1EFA8}" presName="sibTrans" presStyleCnt="0"/>
      <dgm:spPr/>
    </dgm:pt>
    <dgm:pt modelId="{2ED313CC-BFA4-4D41-8EFD-3F47277F8305}" type="pres">
      <dgm:prSet presAssocID="{9395EB0D-F132-994D-B864-1CC37E8FF280}" presName="textNode" presStyleLbl="node1" presStyleIdx="1" presStyleCnt="5">
        <dgm:presLayoutVars>
          <dgm:bulletEnabled val="1"/>
        </dgm:presLayoutVars>
      </dgm:prSet>
      <dgm:spPr/>
    </dgm:pt>
    <dgm:pt modelId="{C1D7E533-9AF2-DB4B-821A-49B697B26FF7}" type="pres">
      <dgm:prSet presAssocID="{BDA7E433-826B-104A-B413-450B74C8DED7}" presName="sibTrans" presStyleCnt="0"/>
      <dgm:spPr/>
    </dgm:pt>
    <dgm:pt modelId="{EEC79344-52E8-984D-9580-C202624C3550}" type="pres">
      <dgm:prSet presAssocID="{C573DE81-449D-1A4E-BEB8-6BCA08637AB6}" presName="textNode" presStyleLbl="node1" presStyleIdx="2" presStyleCnt="5">
        <dgm:presLayoutVars>
          <dgm:bulletEnabled val="1"/>
        </dgm:presLayoutVars>
      </dgm:prSet>
      <dgm:spPr/>
    </dgm:pt>
    <dgm:pt modelId="{D2CCA07C-717B-014E-80B4-A2DEF5DD06A6}" type="pres">
      <dgm:prSet presAssocID="{443298B9-D622-6B44-9BD3-6C594EE5366D}" presName="sibTrans" presStyleCnt="0"/>
      <dgm:spPr/>
    </dgm:pt>
    <dgm:pt modelId="{69B6FF16-77A0-9741-BFBD-4F9B328D84A8}" type="pres">
      <dgm:prSet presAssocID="{ABBDE3D0-21A6-8C4D-A0BC-089A2A00F023}" presName="textNode" presStyleLbl="node1" presStyleIdx="3" presStyleCnt="5">
        <dgm:presLayoutVars>
          <dgm:bulletEnabled val="1"/>
        </dgm:presLayoutVars>
      </dgm:prSet>
      <dgm:spPr/>
    </dgm:pt>
    <dgm:pt modelId="{742E4794-1CA6-D54B-8E62-039A178762DB}" type="pres">
      <dgm:prSet presAssocID="{A5D89C75-0025-E34E-ADE5-9EE70AB3D5B5}" presName="sibTrans" presStyleCnt="0"/>
      <dgm:spPr/>
    </dgm:pt>
    <dgm:pt modelId="{3B45F42B-A5DF-004E-8487-D42154B9E297}" type="pres">
      <dgm:prSet presAssocID="{CFF13943-02F6-874E-8867-9464792BF363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EF81F501-34C5-B74A-A644-90BA2B367974}" srcId="{48A13B1C-FBC2-2140-9CFF-BFCC33EEAB51}" destId="{9395EB0D-F132-994D-B864-1CC37E8FF280}" srcOrd="1" destOrd="0" parTransId="{99EEEE1D-3E8F-874A-8743-163D8E41A9F6}" sibTransId="{BDA7E433-826B-104A-B413-450B74C8DED7}"/>
    <dgm:cxn modelId="{EEC14205-6A3A-8B42-A4F5-59F4331EE7B1}" srcId="{ABBDE3D0-21A6-8C4D-A0BC-089A2A00F023}" destId="{9767CBC7-51A4-4F4C-9979-FAB740B28A4E}" srcOrd="1" destOrd="0" parTransId="{417DED5C-940F-9743-B677-A940795629BE}" sibTransId="{D3BD86F6-72EB-9648-9DBE-F4A82B089C39}"/>
    <dgm:cxn modelId="{B82B3009-01D2-DB4B-B74F-269D1224B537}" srcId="{ABBDE3D0-21A6-8C4D-A0BC-089A2A00F023}" destId="{CFE7DD26-C553-F544-AFB3-DD4AD0F91DFC}" srcOrd="0" destOrd="0" parTransId="{B9EDD150-E63B-A64C-852B-C7996678E69D}" sibTransId="{F1C85F1C-EC3A-054B-AFF8-2DB964B734FD}"/>
    <dgm:cxn modelId="{8021970D-8D01-8F4E-A49F-0A41D488F2AB}" type="presOf" srcId="{6251A589-C2FB-2E4D-8342-20F1D4E194E5}" destId="{7CE20655-224E-E74D-B977-E1DA48CD1B75}" srcOrd="0" destOrd="3" presId="urn:microsoft.com/office/officeart/2005/8/layout/hProcess9"/>
    <dgm:cxn modelId="{AC165E1C-8F8B-AC47-ADA0-D03DB6298077}" srcId="{C573DE81-449D-1A4E-BEB8-6BCA08637AB6}" destId="{96D95613-254E-7B41-B020-C9FBA56CC8B2}" srcOrd="1" destOrd="0" parTransId="{2A2B722D-B203-FE4F-8FEA-E66A6D8286EE}" sibTransId="{F0316DBA-2FBC-8844-846F-C4F2727856FA}"/>
    <dgm:cxn modelId="{DA6B5122-6841-954D-ABF5-73D452FCE422}" srcId="{C573DE81-449D-1A4E-BEB8-6BCA08637AB6}" destId="{2BFDDC5B-1F94-8E49-89F9-A88C5B1CA7E6}" srcOrd="0" destOrd="0" parTransId="{323C120E-6007-A54A-A1FD-1F5F2F2E9438}" sibTransId="{A990383F-4D79-9942-8C0C-D8C4BF41B5E4}"/>
    <dgm:cxn modelId="{1DCFB624-CA81-3D43-99F9-B0B1CBEAD5F0}" type="presOf" srcId="{ABBDE3D0-21A6-8C4D-A0BC-089A2A00F023}" destId="{69B6FF16-77A0-9741-BFBD-4F9B328D84A8}" srcOrd="0" destOrd="0" presId="urn:microsoft.com/office/officeart/2005/8/layout/hProcess9"/>
    <dgm:cxn modelId="{9706CD29-87FF-5C45-983D-EE429F6A7452}" type="presOf" srcId="{5C2110C2-1292-5042-B11F-320725E56918}" destId="{7CE20655-224E-E74D-B977-E1DA48CD1B75}" srcOrd="0" destOrd="2" presId="urn:microsoft.com/office/officeart/2005/8/layout/hProcess9"/>
    <dgm:cxn modelId="{232CC22E-DE97-FB42-A0F6-CDF256A85DAB}" srcId="{9395EB0D-F132-994D-B864-1CC37E8FF280}" destId="{EB7EAF39-27A5-5642-A3EF-9781AA5E4596}" srcOrd="0" destOrd="0" parTransId="{9F1792A5-BC15-D040-A358-A94678D2CE4E}" sibTransId="{62439B92-1C11-2C4F-A0F3-67AC92F83BF6}"/>
    <dgm:cxn modelId="{2D28423F-EDAF-4248-B95C-BF0F6A0C875E}" type="presOf" srcId="{9395EB0D-F132-994D-B864-1CC37E8FF280}" destId="{2ED313CC-BFA4-4D41-8EFD-3F47277F8305}" srcOrd="0" destOrd="0" presId="urn:microsoft.com/office/officeart/2005/8/layout/hProcess9"/>
    <dgm:cxn modelId="{6329D243-C1FD-6F4A-BF22-9A36EE3FA086}" srcId="{29C872C8-F6E5-B24E-9315-417E1C07BC8C}" destId="{6251A589-C2FB-2E4D-8342-20F1D4E194E5}" srcOrd="2" destOrd="0" parTransId="{54119697-8327-1148-B0F5-2803BBD60332}" sibTransId="{5E145971-C632-A140-BAA1-4B8CA4041BC6}"/>
    <dgm:cxn modelId="{22F0A958-8875-9842-8D3A-20DCE5999B64}" type="presOf" srcId="{48A13B1C-FBC2-2140-9CFF-BFCC33EEAB51}" destId="{124EF424-4E96-204D-9F8C-4F985D47D50F}" srcOrd="0" destOrd="0" presId="urn:microsoft.com/office/officeart/2005/8/layout/hProcess9"/>
    <dgm:cxn modelId="{3E5DE55A-6E1D-7E4E-92D2-24FB786714BD}" srcId="{48A13B1C-FBC2-2140-9CFF-BFCC33EEAB51}" destId="{CFF13943-02F6-874E-8867-9464792BF363}" srcOrd="4" destOrd="0" parTransId="{F46C7B2E-7E9D-DE48-88C4-E859E0ACFA68}" sibTransId="{C8DF9DC8-073F-0748-8EC9-D24C0D93D6D3}"/>
    <dgm:cxn modelId="{2AF31873-ACE3-9141-891D-65FA03CD9B8C}" type="presOf" srcId="{A3511C66-D12F-2145-81C1-1C6EEBDE970A}" destId="{3B45F42B-A5DF-004E-8487-D42154B9E297}" srcOrd="0" destOrd="1" presId="urn:microsoft.com/office/officeart/2005/8/layout/hProcess9"/>
    <dgm:cxn modelId="{7A016775-9749-B247-BFB4-99ED7B3469F7}" type="presOf" srcId="{96D95613-254E-7B41-B020-C9FBA56CC8B2}" destId="{EEC79344-52E8-984D-9580-C202624C3550}" srcOrd="0" destOrd="2" presId="urn:microsoft.com/office/officeart/2005/8/layout/hProcess9"/>
    <dgm:cxn modelId="{0ADE5B76-69D8-3244-B2E3-7C158C3D0F13}" type="presOf" srcId="{C573DE81-449D-1A4E-BEB8-6BCA08637AB6}" destId="{EEC79344-52E8-984D-9580-C202624C3550}" srcOrd="0" destOrd="0" presId="urn:microsoft.com/office/officeart/2005/8/layout/hProcess9"/>
    <dgm:cxn modelId="{50C40B80-41FA-C14A-ABEC-99E26D4D8AD6}" type="presOf" srcId="{782AD1F5-3942-3D4B-B89E-657C4DAA7C9C}" destId="{2ED313CC-BFA4-4D41-8EFD-3F47277F8305}" srcOrd="0" destOrd="2" presId="urn:microsoft.com/office/officeart/2005/8/layout/hProcess9"/>
    <dgm:cxn modelId="{0AAD678E-FA96-AC48-8ABB-FC105E5B7285}" type="presOf" srcId="{9767CBC7-51A4-4F4C-9979-FAB740B28A4E}" destId="{69B6FF16-77A0-9741-BFBD-4F9B328D84A8}" srcOrd="0" destOrd="2" presId="urn:microsoft.com/office/officeart/2005/8/layout/hProcess9"/>
    <dgm:cxn modelId="{BF3CF693-12F3-9244-8103-011B30ED0E02}" type="presOf" srcId="{CFE7DD26-C553-F544-AFB3-DD4AD0F91DFC}" destId="{69B6FF16-77A0-9741-BFBD-4F9B328D84A8}" srcOrd="0" destOrd="1" presId="urn:microsoft.com/office/officeart/2005/8/layout/hProcess9"/>
    <dgm:cxn modelId="{BE26D0A7-6445-504C-AA8A-9D5D7D7536D7}" srcId="{CFF13943-02F6-874E-8867-9464792BF363}" destId="{A3511C66-D12F-2145-81C1-1C6EEBDE970A}" srcOrd="0" destOrd="0" parTransId="{41AFEE74-6695-3945-8646-1E42E1C585CB}" sibTransId="{C341BEB4-65A3-2C49-877C-D5B912AB5838}"/>
    <dgm:cxn modelId="{8F3229A9-EED8-434B-AEC2-E69FE73201EB}" srcId="{29C872C8-F6E5-B24E-9315-417E1C07BC8C}" destId="{5C2110C2-1292-5042-B11F-320725E56918}" srcOrd="1" destOrd="0" parTransId="{798212EF-9987-8840-9E96-60A127957C05}" sibTransId="{4B29A402-7729-4940-AF85-F85FB08D0C33}"/>
    <dgm:cxn modelId="{EFD321B2-B15C-7D4B-B89C-1FE1D78D10E0}" type="presOf" srcId="{CFF13943-02F6-874E-8867-9464792BF363}" destId="{3B45F42B-A5DF-004E-8487-D42154B9E297}" srcOrd="0" destOrd="0" presId="urn:microsoft.com/office/officeart/2005/8/layout/hProcess9"/>
    <dgm:cxn modelId="{C511A9B6-B692-E942-A998-FFEFD3A171E9}" type="presOf" srcId="{9A4D9A84-EC17-C24E-9356-F28E1B4FDC1A}" destId="{7CE20655-224E-E74D-B977-E1DA48CD1B75}" srcOrd="0" destOrd="1" presId="urn:microsoft.com/office/officeart/2005/8/layout/hProcess9"/>
    <dgm:cxn modelId="{1A51B9C3-D3BE-034A-A528-6E7EEC00743A}" type="presOf" srcId="{EB7EAF39-27A5-5642-A3EF-9781AA5E4596}" destId="{2ED313CC-BFA4-4D41-8EFD-3F47277F8305}" srcOrd="0" destOrd="1" presId="urn:microsoft.com/office/officeart/2005/8/layout/hProcess9"/>
    <dgm:cxn modelId="{2E0C53C4-3CDF-BA4D-8246-FD6664F69AB9}" srcId="{29C872C8-F6E5-B24E-9315-417E1C07BC8C}" destId="{9A4D9A84-EC17-C24E-9356-F28E1B4FDC1A}" srcOrd="0" destOrd="0" parTransId="{4A06C498-02D3-9641-BD28-3C3E627231BD}" sibTransId="{EBE209F1-B93D-F64E-A047-B9476E7D9ADD}"/>
    <dgm:cxn modelId="{1F9059C4-7113-2345-822F-A4F011EAC308}" type="presOf" srcId="{6D12444F-F529-5C42-9E30-1671D22616A7}" destId="{3B45F42B-A5DF-004E-8487-D42154B9E297}" srcOrd="0" destOrd="2" presId="urn:microsoft.com/office/officeart/2005/8/layout/hProcess9"/>
    <dgm:cxn modelId="{0595E1DA-5DA4-1245-BFAD-8D316ACAF944}" srcId="{CFF13943-02F6-874E-8867-9464792BF363}" destId="{6D12444F-F529-5C42-9E30-1671D22616A7}" srcOrd="1" destOrd="0" parTransId="{B86470B8-2468-754A-92E9-27144059463B}" sibTransId="{5085A23A-AED8-E749-BD43-F900C178BD18}"/>
    <dgm:cxn modelId="{EC558EDC-78C1-AE49-B51D-00C8456EC9F7}" srcId="{9395EB0D-F132-994D-B864-1CC37E8FF280}" destId="{782AD1F5-3942-3D4B-B89E-657C4DAA7C9C}" srcOrd="1" destOrd="0" parTransId="{AB6023AC-80DC-1342-8630-EF8EF4D5504E}" sibTransId="{9A41F91A-1FDF-7D49-8DF3-95874CFDE2F2}"/>
    <dgm:cxn modelId="{0F17E7E5-4D11-E547-8426-EECEBB0E8E01}" type="presOf" srcId="{29C872C8-F6E5-B24E-9315-417E1C07BC8C}" destId="{7CE20655-224E-E74D-B977-E1DA48CD1B75}" srcOrd="0" destOrd="0" presId="urn:microsoft.com/office/officeart/2005/8/layout/hProcess9"/>
    <dgm:cxn modelId="{72C1CEE8-B2FB-8D42-9250-726E43B068BC}" srcId="{48A13B1C-FBC2-2140-9CFF-BFCC33EEAB51}" destId="{C573DE81-449D-1A4E-BEB8-6BCA08637AB6}" srcOrd="2" destOrd="0" parTransId="{AEE6C157-E963-5047-B8BF-A74576DDF96B}" sibTransId="{443298B9-D622-6B44-9BD3-6C594EE5366D}"/>
    <dgm:cxn modelId="{8606C5F3-76FC-D047-BB46-DCDA7CA1E482}" srcId="{48A13B1C-FBC2-2140-9CFF-BFCC33EEAB51}" destId="{29C872C8-F6E5-B24E-9315-417E1C07BC8C}" srcOrd="0" destOrd="0" parTransId="{E7EF6962-CF83-BE44-969C-7A29E68131A0}" sibTransId="{940D607B-88B8-2343-9669-7ED790F1EFA8}"/>
    <dgm:cxn modelId="{67CED6F6-D59A-3D45-A4CC-92F047837D84}" type="presOf" srcId="{2BFDDC5B-1F94-8E49-89F9-A88C5B1CA7E6}" destId="{EEC79344-52E8-984D-9580-C202624C3550}" srcOrd="0" destOrd="1" presId="urn:microsoft.com/office/officeart/2005/8/layout/hProcess9"/>
    <dgm:cxn modelId="{85707BF8-C896-D248-9084-1A3269087A6A}" srcId="{48A13B1C-FBC2-2140-9CFF-BFCC33EEAB51}" destId="{ABBDE3D0-21A6-8C4D-A0BC-089A2A00F023}" srcOrd="3" destOrd="0" parTransId="{AB3F7861-9A55-1E49-B534-8479F99F888A}" sibTransId="{A5D89C75-0025-E34E-ADE5-9EE70AB3D5B5}"/>
    <dgm:cxn modelId="{904C8253-BABE-804B-89A5-5CA8D3295BCB}" type="presParOf" srcId="{124EF424-4E96-204D-9F8C-4F985D47D50F}" destId="{97355D3D-DF22-3946-90A7-E9B86D5C2429}" srcOrd="0" destOrd="0" presId="urn:microsoft.com/office/officeart/2005/8/layout/hProcess9"/>
    <dgm:cxn modelId="{C6FB9366-F8FA-2B4E-85E0-98958724FF54}" type="presParOf" srcId="{124EF424-4E96-204D-9F8C-4F985D47D50F}" destId="{7FF3142F-95FA-2747-AB3E-DA475DBC1FD2}" srcOrd="1" destOrd="0" presId="urn:microsoft.com/office/officeart/2005/8/layout/hProcess9"/>
    <dgm:cxn modelId="{17B37A98-96A8-FD41-BAA9-01E60B329D53}" type="presParOf" srcId="{7FF3142F-95FA-2747-AB3E-DA475DBC1FD2}" destId="{7CE20655-224E-E74D-B977-E1DA48CD1B75}" srcOrd="0" destOrd="0" presId="urn:microsoft.com/office/officeart/2005/8/layout/hProcess9"/>
    <dgm:cxn modelId="{A05ED31D-83BF-9A4B-874D-3E3D8CB3ACCE}" type="presParOf" srcId="{7FF3142F-95FA-2747-AB3E-DA475DBC1FD2}" destId="{08D44C39-5CBE-2945-BFC2-15F096BD1632}" srcOrd="1" destOrd="0" presId="urn:microsoft.com/office/officeart/2005/8/layout/hProcess9"/>
    <dgm:cxn modelId="{FAA3F08C-8297-CB41-AE8E-C834E828053A}" type="presParOf" srcId="{7FF3142F-95FA-2747-AB3E-DA475DBC1FD2}" destId="{2ED313CC-BFA4-4D41-8EFD-3F47277F8305}" srcOrd="2" destOrd="0" presId="urn:microsoft.com/office/officeart/2005/8/layout/hProcess9"/>
    <dgm:cxn modelId="{B79D931A-BA05-2946-9E7F-53211FC61D63}" type="presParOf" srcId="{7FF3142F-95FA-2747-AB3E-DA475DBC1FD2}" destId="{C1D7E533-9AF2-DB4B-821A-49B697B26FF7}" srcOrd="3" destOrd="0" presId="urn:microsoft.com/office/officeart/2005/8/layout/hProcess9"/>
    <dgm:cxn modelId="{2CB25EFF-922C-CD4B-B5EB-6050CF7E7936}" type="presParOf" srcId="{7FF3142F-95FA-2747-AB3E-DA475DBC1FD2}" destId="{EEC79344-52E8-984D-9580-C202624C3550}" srcOrd="4" destOrd="0" presId="urn:microsoft.com/office/officeart/2005/8/layout/hProcess9"/>
    <dgm:cxn modelId="{B8EFB141-D6C6-0447-AE6B-D7196726C659}" type="presParOf" srcId="{7FF3142F-95FA-2747-AB3E-DA475DBC1FD2}" destId="{D2CCA07C-717B-014E-80B4-A2DEF5DD06A6}" srcOrd="5" destOrd="0" presId="urn:microsoft.com/office/officeart/2005/8/layout/hProcess9"/>
    <dgm:cxn modelId="{4DD24861-0DF7-124C-8581-99150A726AD2}" type="presParOf" srcId="{7FF3142F-95FA-2747-AB3E-DA475DBC1FD2}" destId="{69B6FF16-77A0-9741-BFBD-4F9B328D84A8}" srcOrd="6" destOrd="0" presId="urn:microsoft.com/office/officeart/2005/8/layout/hProcess9"/>
    <dgm:cxn modelId="{CE15858A-DFDF-BC4A-A344-8167F6ACE671}" type="presParOf" srcId="{7FF3142F-95FA-2747-AB3E-DA475DBC1FD2}" destId="{742E4794-1CA6-D54B-8E62-039A178762DB}" srcOrd="7" destOrd="0" presId="urn:microsoft.com/office/officeart/2005/8/layout/hProcess9"/>
    <dgm:cxn modelId="{1AC1BBED-CD06-984A-A007-5193873212EB}" type="presParOf" srcId="{7FF3142F-95FA-2747-AB3E-DA475DBC1FD2}" destId="{3B45F42B-A5DF-004E-8487-D42154B9E297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55D3D-DF22-3946-90A7-E9B86D5C2429}">
      <dsp:nvSpPr>
        <dsp:cNvPr id="0" name=""/>
        <dsp:cNvSpPr/>
      </dsp:nvSpPr>
      <dsp:spPr>
        <a:xfrm>
          <a:off x="564908" y="0"/>
          <a:ext cx="6402296" cy="3946471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20655-224E-E74D-B977-E1DA48CD1B75}">
      <dsp:nvSpPr>
        <dsp:cNvPr id="0" name=""/>
        <dsp:cNvSpPr/>
      </dsp:nvSpPr>
      <dsp:spPr>
        <a:xfrm>
          <a:off x="2206" y="1183941"/>
          <a:ext cx="1328417" cy="1578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April: </a:t>
          </a:r>
          <a:r>
            <a:rPr lang="fr-FR" altLang="fr-FR" sz="1100" b="1" kern="1200" dirty="0" err="1">
              <a:latin typeface="Arial" panose="020B0604020202020204" pitchFamily="34" charset="0"/>
            </a:rPr>
            <a:t>Baselines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altLang="fr-FR" sz="1100" kern="1200" dirty="0">
              <a:latin typeface="Arial" panose="020B0604020202020204" pitchFamily="34" charset="0"/>
            </a:rPr>
            <a:t> Set up MARL2GRID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altLang="fr-FR" sz="1100" kern="1200" dirty="0">
              <a:latin typeface="Arial" panose="020B0604020202020204" pitchFamily="34" charset="0"/>
            </a:rPr>
            <a:t> </a:t>
          </a:r>
          <a:r>
            <a:rPr lang="fr-FR" altLang="fr-FR" sz="1100" kern="1200" dirty="0" err="1">
              <a:latin typeface="Arial" panose="020B0604020202020204" pitchFamily="34" charset="0"/>
            </a:rPr>
            <a:t>Implement</a:t>
          </a:r>
          <a:r>
            <a:rPr lang="fr-FR" altLang="fr-FR" sz="1100" kern="1200" dirty="0">
              <a:latin typeface="Arial" panose="020B0604020202020204" pitchFamily="34" charset="0"/>
            </a:rPr>
            <a:t> MAPPO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sz="1100" kern="1200" dirty="0">
              <a:latin typeface="Arial" panose="020B0604020202020204" pitchFamily="34" charset="0"/>
            </a:rPr>
            <a:t> </a:t>
          </a:r>
          <a:r>
            <a:rPr lang="fr-FR" sz="1100" kern="1200" dirty="0" err="1">
              <a:latin typeface="Arial" panose="020B0604020202020204" pitchFamily="34" charset="0"/>
            </a:rPr>
            <a:t>Baselines</a:t>
          </a:r>
          <a:endParaRPr lang="fr-FR" sz="1100" kern="1200" dirty="0"/>
        </a:p>
      </dsp:txBody>
      <dsp:txXfrm>
        <a:off x="67054" y="1248789"/>
        <a:ext cx="1198721" cy="1448892"/>
      </dsp:txXfrm>
    </dsp:sp>
    <dsp:sp modelId="{2ED313CC-BFA4-4D41-8EFD-3F47277F8305}">
      <dsp:nvSpPr>
        <dsp:cNvPr id="0" name=""/>
        <dsp:cNvSpPr/>
      </dsp:nvSpPr>
      <dsp:spPr>
        <a:xfrm>
          <a:off x="1552027" y="1183941"/>
          <a:ext cx="1328417" cy="1578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May: </a:t>
          </a:r>
          <a:r>
            <a:rPr lang="fr-FR" sz="1100" b="1" kern="1200" dirty="0"/>
            <a:t>Graph </a:t>
          </a:r>
          <a:r>
            <a:rPr lang="fr-FR" sz="1100" b="1" kern="1200" dirty="0" err="1"/>
            <a:t>Models</a:t>
          </a:r>
          <a:endParaRPr lang="fr-FR" sz="1100" b="1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Implement</a:t>
          </a:r>
          <a:r>
            <a:rPr lang="fr-CH" altLang="fr-FR" sz="1100" kern="1200" dirty="0">
              <a:latin typeface="Arial" panose="020B0604020202020204" pitchFamily="34" charset="0"/>
            </a:rPr>
            <a:t> GNN Encoder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Compare vs MLP</a:t>
          </a:r>
          <a:endParaRPr lang="fr-FR" sz="1100" kern="1200" dirty="0"/>
        </a:p>
      </dsp:txBody>
      <dsp:txXfrm>
        <a:off x="1616875" y="1248789"/>
        <a:ext cx="1198721" cy="1448892"/>
      </dsp:txXfrm>
    </dsp:sp>
    <dsp:sp modelId="{EEC79344-52E8-984D-9580-C202624C3550}">
      <dsp:nvSpPr>
        <dsp:cNvPr id="0" name=""/>
        <dsp:cNvSpPr/>
      </dsp:nvSpPr>
      <dsp:spPr>
        <a:xfrm>
          <a:off x="3101848" y="1183941"/>
          <a:ext cx="1328417" cy="1578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June: </a:t>
          </a:r>
          <a:r>
            <a:rPr lang="fr-FR" sz="1100" b="1" kern="1200" dirty="0"/>
            <a:t>MARL + Communication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Add</a:t>
          </a:r>
          <a:r>
            <a:rPr lang="fr-CH" altLang="fr-FR" sz="1100" kern="1200" dirty="0">
              <a:latin typeface="Arial" panose="020B0604020202020204" pitchFamily="34" charset="0"/>
            </a:rPr>
            <a:t> latent communication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Evaluate</a:t>
          </a:r>
          <a:r>
            <a:rPr lang="fr-CH" altLang="fr-FR" sz="1100" kern="1200" dirty="0">
              <a:latin typeface="Arial" panose="020B0604020202020204" pitchFamily="34" charset="0"/>
            </a:rPr>
            <a:t> coordination</a:t>
          </a:r>
          <a:endParaRPr lang="fr-FR" sz="1100" kern="1200" dirty="0"/>
        </a:p>
      </dsp:txBody>
      <dsp:txXfrm>
        <a:off x="3166696" y="1248789"/>
        <a:ext cx="1198721" cy="1448892"/>
      </dsp:txXfrm>
    </dsp:sp>
    <dsp:sp modelId="{69B6FF16-77A0-9741-BFBD-4F9B328D84A8}">
      <dsp:nvSpPr>
        <dsp:cNvPr id="0" name=""/>
        <dsp:cNvSpPr/>
      </dsp:nvSpPr>
      <dsp:spPr>
        <a:xfrm>
          <a:off x="4651668" y="1183941"/>
          <a:ext cx="1328417" cy="1578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July: </a:t>
          </a:r>
          <a:r>
            <a:rPr lang="fr-FR" sz="1100" b="1" kern="1200" dirty="0"/>
            <a:t>Action Abstraction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Add</a:t>
          </a: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topology-target</a:t>
          </a: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prediction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FR" sz="1100" kern="1200" dirty="0">
              <a:latin typeface="Arial" panose="020B0604020202020204" pitchFamily="34" charset="0"/>
            </a:rPr>
            <a:t> </a:t>
          </a:r>
          <a:r>
            <a:rPr lang="fr-FR" sz="1100" kern="1200" dirty="0" err="1">
              <a:latin typeface="Arial" panose="020B0604020202020204" pitchFamily="34" charset="0"/>
            </a:rPr>
            <a:t>Abalation</a:t>
          </a:r>
          <a:r>
            <a:rPr lang="fr-FR" sz="1100" kern="1200" dirty="0">
              <a:latin typeface="Arial" panose="020B0604020202020204" pitchFamily="34" charset="0"/>
            </a:rPr>
            <a:t> </a:t>
          </a:r>
          <a:r>
            <a:rPr lang="fr-FR" sz="1100" kern="1200" dirty="0" err="1">
              <a:latin typeface="Arial" panose="020B0604020202020204" pitchFamily="34" charset="0"/>
            </a:rPr>
            <a:t>studies</a:t>
          </a:r>
          <a:endParaRPr lang="fr-FR" sz="1100" kern="1200" dirty="0"/>
        </a:p>
      </dsp:txBody>
      <dsp:txXfrm>
        <a:off x="4716516" y="1248789"/>
        <a:ext cx="1198721" cy="1448892"/>
      </dsp:txXfrm>
    </dsp:sp>
    <dsp:sp modelId="{3B45F42B-A5DF-004E-8487-D42154B9E297}">
      <dsp:nvSpPr>
        <dsp:cNvPr id="0" name=""/>
        <dsp:cNvSpPr/>
      </dsp:nvSpPr>
      <dsp:spPr>
        <a:xfrm>
          <a:off x="6201489" y="1183941"/>
          <a:ext cx="1328417" cy="1578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August: </a:t>
          </a:r>
          <a:r>
            <a:rPr lang="fr-FR" sz="1100" b="1" kern="1200" dirty="0"/>
            <a:t>Evaluation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Large-</a:t>
          </a:r>
          <a:r>
            <a:rPr lang="fr-CH" altLang="fr-FR" sz="1100" kern="1200" dirty="0" err="1">
              <a:latin typeface="Arial" panose="020B0604020202020204" pitchFamily="34" charset="0"/>
            </a:rPr>
            <a:t>scale</a:t>
          </a:r>
          <a:r>
            <a:rPr lang="fr-CH" altLang="fr-FR" sz="1100" kern="1200" dirty="0">
              <a:latin typeface="Arial" panose="020B0604020202020204" pitchFamily="34" charset="0"/>
            </a:rPr>
            <a:t> </a:t>
          </a:r>
          <a:r>
            <a:rPr lang="fr-CH" altLang="fr-FR" sz="1100" kern="1200" dirty="0" err="1">
              <a:latin typeface="Arial" panose="020B0604020202020204" pitchFamily="34" charset="0"/>
            </a:rPr>
            <a:t>experiments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tx1"/>
            </a:buClr>
            <a:buFont typeface="Arial" panose="020B0604020202020204" pitchFamily="34" charset="0"/>
            <a:buChar char="•"/>
          </a:pPr>
          <a:r>
            <a:rPr lang="fr-CH" altLang="fr-FR" sz="1100" kern="1200" dirty="0">
              <a:latin typeface="Arial" panose="020B0604020202020204" pitchFamily="34" charset="0"/>
            </a:rPr>
            <a:t> Final </a:t>
          </a:r>
          <a:r>
            <a:rPr lang="fr-CH" altLang="fr-FR" sz="1100" kern="1200" dirty="0" err="1">
              <a:latin typeface="Arial" panose="020B0604020202020204" pitchFamily="34" charset="0"/>
            </a:rPr>
            <a:t>comparison</a:t>
          </a:r>
          <a:endParaRPr lang="fr-FR" sz="1100" kern="1200" dirty="0"/>
        </a:p>
      </dsp:txBody>
      <dsp:txXfrm>
        <a:off x="6266337" y="1248789"/>
        <a:ext cx="1198721" cy="14488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NAME EVENT / NAME PRESENTATION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65E91-54C5-BF47-91BF-2E2A520F920D}" type="datetime1">
              <a:rPr lang="fr-CH" smtClean="0">
                <a:latin typeface="Arial" panose="020B0604020202020204" pitchFamily="34" charset="0"/>
              </a:rPr>
              <a:t>06.05.26</a:t>
            </a:fld>
            <a:endParaRPr lang="fr-CH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Speaker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‹N°›</a:t>
            </a:fld>
            <a:endParaRPr lang="fr-CH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NAME EVENT / NAME PRESENTATION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0518" y="619273"/>
            <a:ext cx="6436964" cy="36207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210518" y="4400549"/>
            <a:ext cx="6436964" cy="420100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Today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present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refinement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msc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thesis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graph-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structured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multi-agent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reinforcement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for power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control and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results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the first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baseline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implemented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goal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improve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how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reinforcement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can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coordinate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decisions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realistic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power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environments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08DC05-305F-594F-9F18-9CF1E4DB5A2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43D6B9-C04C-0640-9F0E-12EE3DC37A82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2F41A5-B12E-1843-83F7-B86B38C0CE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e l'en-tête 6">
            <a:extLst>
              <a:ext uri="{FF2B5EF4-FFF2-40B4-BE49-F238E27FC236}">
                <a16:creationId xmlns:a16="http://schemas.microsoft.com/office/drawing/2014/main" id="{4D206A73-DDB0-2740-9475-00E48E475A1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04361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Power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operation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challenging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control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problem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Operators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need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make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real-time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decisions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under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uncertainty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maintaining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strict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safety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constraints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like line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limits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supply-demand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balance.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One important control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mechanism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actions,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allow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rerouting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power flows by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modifying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structure.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Reinforcement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promising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for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type of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sequential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decision-making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problem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but 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extremely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large.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Current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approaches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have limitations:</a:t>
            </a:r>
          </a:p>
          <a:p>
            <a:pPr lvl="0"/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optimization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are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too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slow and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don’t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well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don't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enable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real time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monitoring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single-agent RL ignores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decentralization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happening in real life</a:t>
            </a:r>
          </a:p>
          <a:p>
            <a:pPr lvl="0"/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existing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multi-agent RL still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struggles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coordination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scalability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096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literature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control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mainly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tackled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reinforcement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like PPO, DQN variants, SMAAC, or MCTS.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 key observation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structure of the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whole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pipeline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matters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as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much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as the RL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algorithm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itself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Many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successful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approaches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are not pure RL, but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hybrid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systems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include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action-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reduction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safety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heuristics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or simulation-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filtering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Another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important trend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use of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graph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encoders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since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naturally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graph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changes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directly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affect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structure.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920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 dive a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little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deeper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 have been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looking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at a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survey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summarize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all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algorithms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won the l2rpn challenge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main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categories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succesfull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agentthat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won the challenge.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Some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approaches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a single global 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strong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engineering tricks.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For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example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use graph neural networks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combined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value-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RL,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validate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power-flow simulations.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Others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reduce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masking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pruning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can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work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so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mixing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single 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rules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but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suffer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because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remains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very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large.”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Another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important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idea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predict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 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target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instead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raw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used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in SMAAC,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where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agent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afterstate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representation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—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basically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resulting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after an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action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helps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because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multiple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sequences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actions can lead to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same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configuration. So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reduces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578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parallel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multi-agent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approaches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distribute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control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across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or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allows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one agent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choose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substation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need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work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another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choose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action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take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substation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improves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scalability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but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introduces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coordination challenges.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Some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works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also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use imitation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improve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sample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efficiency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232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MARL2GRID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paper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central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work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introduces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first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standardized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benchmark for multi-agent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reinforcement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in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realistic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power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operations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 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includes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decentralized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control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across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substations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partial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observability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safety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constraints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idle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heuristics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Agents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different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parts of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but must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coordinate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through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environment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evaluate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standard MARL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like MAPPO and QPLEX.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key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result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MARL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works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reasonably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well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small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systems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but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fails to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scale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realistic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control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tasks</a:t>
            </a:r>
            <a:endParaRPr lang="fr-CH" sz="1200" b="1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mainly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due to: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combinatorial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strong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coupling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between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difficult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credit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assignment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problem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(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actually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beneficial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who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gets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credit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)</a:t>
            </a: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paper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clearly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shows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current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MARL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are not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sufficient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493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From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both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literature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MARL2GRID,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can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identify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clear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gaps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First,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MARL2GRID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provides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benchmark,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current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still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do not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well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struggle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coordination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do not exploit the graph structure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effectively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So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what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missing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graph-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structured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MARL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better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coordination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mechanisms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under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partial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observability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improved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 abstractions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handle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combinatorial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complexity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833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goal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develop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graph-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structured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multi-agent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reinforcement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framework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improves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coordination,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scalability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generalization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it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idea is to combine: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graph-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representations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latent communication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between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agents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possibly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topology-target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abstractions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inspired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by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afterstates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leads us to 4 main questions: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775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proposed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architecture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three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components.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First, a 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shared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graph encoder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which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captures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structure.</a:t>
            </a: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decentralized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local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regions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embeddings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(((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During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training,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use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centralized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but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execution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remains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decentralized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.)))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also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introduce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optional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latent communication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where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agents exchange compact information.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Finally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compare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two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representations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direct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actions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or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higher-level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targets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en-US" dirty="0"/>
          </a:p>
          <a:p>
            <a:endParaRPr lang="en-US" dirty="0"/>
          </a:p>
          <a:p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For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evaluation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I will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MARL2GRID benchmark.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compare: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standard MARL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baselines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like MAPPO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MLP vs GNN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encoders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without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communication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And I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run ablations on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representations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de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Performance will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measured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using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survival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time</a:t>
            </a:r>
          </a:p>
          <a:p>
            <a:pPr lvl="0"/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overload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metrics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safety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violations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sample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efficiency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07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timeline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structured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in four stages: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First,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implementing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baselines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adding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GNN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encoder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introducing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communication.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finally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testing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topology-target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abstractions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larger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1876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first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baseline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 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greedy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simulation.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each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step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generates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set of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feasible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actions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simulates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their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effect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If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safe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meaning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maximum line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load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below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threshold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does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nothing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If 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stressed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tests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different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actions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as: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changes 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critical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substations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reconnection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disconnected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lines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or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disconnection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of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overloaded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lines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Then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selects 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avoids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failure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minimizes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maximum line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load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reduces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overloads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maximizes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immediate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reward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 </a:t>
            </a:r>
          </a:p>
          <a:p>
            <a:endParaRPr lang="it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it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second baseline is a PPO agent.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It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follows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simplified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strategy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only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acts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when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de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de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stressed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otherwise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does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nothing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reduced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133 actions,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mainly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focusing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line reconnections.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input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includes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line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loads</a:t>
            </a:r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power flows</a:t>
            </a:r>
          </a:p>
          <a:p>
            <a:pPr lvl="0"/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topology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configuration</a:t>
            </a:r>
          </a:p>
          <a:p>
            <a:pPr lvl="0"/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reward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encourages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maintaining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safe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margins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below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thermal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limits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policy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 simple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fully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connected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neural network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trained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for about 100,000 interactions.”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443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‘do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nothing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’ 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performs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poorly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especially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the 14-bus system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where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quickly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fails.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 shows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active control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necessary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random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performs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extremely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poorly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confirming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the action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highly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structured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cannot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explored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naively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greedy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agent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performs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very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on the 14-bus system,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achieving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full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survival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However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performance drops on the 36-bus system.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 highlights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</a:t>
            </a:r>
            <a:b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</a:b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=&gt;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heuristic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approaches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do not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scale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well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more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complex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grids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 </a:t>
            </a: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fr-CH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 PPO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baseline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achieves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strong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performance on the 14-bus system,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with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around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80%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survival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This shows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that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learning-based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methods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can capture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useful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strategies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but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still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do not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reach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perfect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fr-CH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reliability</a:t>
            </a:r>
            <a:r>
              <a:rPr lang="fr-CH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.” </a:t>
            </a:r>
          </a:p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903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01F3EA-C8BD-D544-8519-665215575D25}" type="datetime1">
              <a:rPr lang="fr-CH" smtClean="0"/>
              <a:t>06.05.26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98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Facul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en-GB" noProof="0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Modifiez le style du titre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/>
              <a:t>Modifiez le style des sous-titres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en-GB" noProof="0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EPF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5041849-939B-E04F-AABC-A900B2B4E3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25" y="4579268"/>
            <a:ext cx="561543" cy="367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865CD0-FD83-AF44-9C32-763AAD652C05}"/>
              </a:ext>
            </a:extLst>
          </p:cNvPr>
          <p:cNvSpPr/>
          <p:nvPr userDrawn="1"/>
        </p:nvSpPr>
        <p:spPr>
          <a:xfrm rot="16200000">
            <a:off x="89679" y="4591427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6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5" orient="horz" pos="123">
          <p15:clr>
            <a:srgbClr val="FBAE40"/>
          </p15:clr>
        </p15:guide>
        <p15:guide id="6" orient="horz" pos="3117">
          <p15:clr>
            <a:srgbClr val="FBAE40"/>
          </p15:clr>
        </p15:guide>
        <p15:guide id="7" pos="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5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6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4" y="2571751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48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7955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en-GB" noProof="0"/>
              <a:t>Modifiez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en-GB" noProof="0"/>
              <a:t>Modifier les styles du </a:t>
            </a:r>
            <a:r>
              <a:rPr lang="en-GB" noProof="0" err="1"/>
              <a:t>texte</a:t>
            </a:r>
            <a:r>
              <a:rPr lang="en-GB" noProof="0"/>
              <a:t> du masque</a:t>
            </a:r>
          </a:p>
          <a:p>
            <a:pPr lvl="1"/>
            <a:r>
              <a:rPr lang="en-GB" noProof="0" err="1"/>
              <a:t>Deuxième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Troisième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r>
              <a:rPr lang="en-GB" noProof="0"/>
              <a:t>
</a:t>
            </a:r>
            <a:r>
              <a:rPr lang="en-GB" noProof="0" err="1"/>
              <a:t>Quatrième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r>
              <a:rPr lang="en-GB" noProof="0"/>
              <a:t>
</a:t>
            </a:r>
            <a:r>
              <a:rPr lang="en-GB" noProof="0" err="1"/>
              <a:t>Cinquième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 noProof="0"/>
              <a:t>WELCOME TO EPFL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noProof="0"/>
              <a:t>Speaker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en-GB" noProof="0" smtClean="0"/>
              <a:pPr/>
              <a:t>‹N°›</a:t>
            </a:fld>
            <a:endParaRPr lang="en-GB" noProof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4" r:id="rId2"/>
    <p:sldLayoutId id="2147483663" r:id="rId3"/>
    <p:sldLayoutId id="2147483681" r:id="rId4"/>
    <p:sldLayoutId id="2147483673" r:id="rId5"/>
    <p:sldLayoutId id="2147483685" r:id="rId6"/>
    <p:sldLayoutId id="2147483662" r:id="rId7"/>
    <p:sldLayoutId id="2147483674" r:id="rId8"/>
    <p:sldLayoutId id="2147483675" r:id="rId9"/>
    <p:sldLayoutId id="2147483676" r:id="rId10"/>
    <p:sldLayoutId id="2147483664" r:id="rId11"/>
    <p:sldLayoutId id="2147483666" r:id="rId12"/>
    <p:sldLayoutId id="2147483677" r:id="rId13"/>
    <p:sldLayoutId id="2147483678" r:id="rId14"/>
    <p:sldLayoutId id="2147483679" r:id="rId15"/>
    <p:sldLayoutId id="2147483667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E77B827-BF2D-1ADD-C70B-598754D88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4" t="6047" r="6904" b="5735"/>
          <a:stretch/>
        </p:blipFill>
        <p:spPr>
          <a:xfrm>
            <a:off x="1198414" y="77771"/>
            <a:ext cx="7945586" cy="4987957"/>
          </a:xfrm>
          <a:prstGeom prst="rect">
            <a:avLst/>
          </a:prstGeo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6AF2DA65-CF00-774A-9D7C-EEFA627B2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499" y="785335"/>
            <a:ext cx="4430598" cy="1920159"/>
          </a:xfrm>
        </p:spPr>
        <p:txBody>
          <a:bodyPr anchor="ctr">
            <a:noAutofit/>
          </a:bodyPr>
          <a:lstStyle/>
          <a:p>
            <a:pPr lvl="0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CH" sz="2800" b="0" dirty="0"/>
              <a:t>Graph-</a:t>
            </a:r>
            <a:r>
              <a:rPr lang="fr-CH" sz="2800" b="0" dirty="0" err="1"/>
              <a:t>Structured</a:t>
            </a:r>
            <a:r>
              <a:rPr lang="fr-CH" sz="2800" b="0" dirty="0"/>
              <a:t> Multi-Agent </a:t>
            </a:r>
            <a:r>
              <a:rPr lang="fr-CH" sz="2800" b="0" dirty="0" err="1"/>
              <a:t>Reinforcement</a:t>
            </a:r>
            <a:r>
              <a:rPr lang="fr-CH" sz="2800" b="0" dirty="0"/>
              <a:t> Learning for Power </a:t>
            </a:r>
            <a:r>
              <a:rPr lang="fr-CH" sz="2800" b="0" dirty="0" err="1"/>
              <a:t>Grid</a:t>
            </a:r>
            <a:r>
              <a:rPr lang="fr-CH" sz="2800" b="0" dirty="0"/>
              <a:t> </a:t>
            </a:r>
            <a:r>
              <a:rPr lang="fr-CH" sz="2800" b="0" dirty="0" err="1"/>
              <a:t>Topology</a:t>
            </a:r>
            <a:r>
              <a:rPr lang="fr-CH" sz="2800" b="0" dirty="0"/>
              <a:t> Control</a:t>
            </a:r>
            <a:endParaRPr lang="fr-FR" altLang="fr-FR" sz="2000" b="0" dirty="0">
              <a:latin typeface="+mj-lt"/>
            </a:endParaRP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2F4A7CFE-65FA-E249-9125-D938BCA44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7097" y="2705494"/>
            <a:ext cx="1828800" cy="1568450"/>
          </a:xfrm>
        </p:spPr>
        <p:txBody>
          <a:bodyPr lIns="90000" anchor="ctr">
            <a:normAutofit/>
          </a:bodyPr>
          <a:lstStyle/>
          <a:p>
            <a:r>
              <a:rPr lang="en-US" b="1" noProof="0" dirty="0"/>
              <a:t>Corentin Plumet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F0A55C-66AB-F046-AA02-AFC919A1C1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</p:spPr>
        <p:txBody>
          <a:bodyPr anchor="ctr">
            <a:normAutofit/>
          </a:bodyPr>
          <a:lstStyle/>
          <a:p>
            <a:r>
              <a:rPr lang="en-US" b="1" noProof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21301715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92EC-33B3-CAB6-3089-60843B404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13CE9-E965-4924-5C8C-4C8F8B07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Why This Thesis Topic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921D69-417C-BE6E-3879-97E54FBD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DA01F4-529A-46A0-D301-FBAC4471CB9B}"/>
              </a:ext>
            </a:extLst>
          </p:cNvPr>
          <p:cNvSpPr txBox="1"/>
          <p:nvPr/>
        </p:nvSpPr>
        <p:spPr>
          <a:xfrm>
            <a:off x="547694" y="2224883"/>
            <a:ext cx="8048612" cy="125140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Problem Statement:</a:t>
            </a:r>
            <a:r>
              <a:rPr lang="en-US" b="1" dirty="0"/>
              <a:t> Power grid operation requires:</a:t>
            </a:r>
          </a:p>
          <a:p>
            <a:pPr lvl="1">
              <a:buClr>
                <a:schemeClr val="accent1"/>
              </a:buClr>
            </a:pPr>
            <a:endParaRPr lang="en-US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Real-time decisions under uncertainty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Maintaining safety constraints (line limits, demand balance)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Operating over large, combinatorial action spaces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057A38C-AEE4-848E-8A1C-E70129E5C426}"/>
              </a:ext>
            </a:extLst>
          </p:cNvPr>
          <p:cNvSpPr txBox="1"/>
          <p:nvPr/>
        </p:nvSpPr>
        <p:spPr>
          <a:xfrm>
            <a:off x="547694" y="758204"/>
            <a:ext cx="8048612" cy="125140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noProof="0" dirty="0"/>
              <a:t>Motivation</a:t>
            </a:r>
            <a:endParaRPr lang="en-US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endParaRPr lang="en-US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TSO need fast congestion management under renewable variability and unforeseen events.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Topology actions are attractive because they can reroute flows before using costly redispatch.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RL is appealing for sequential decisions, but the control space is huge and safety-critical.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1AB50AB-5FFD-5A73-1D87-929BE1AB5532}"/>
              </a:ext>
            </a:extLst>
          </p:cNvPr>
          <p:cNvSpPr txBox="1"/>
          <p:nvPr/>
        </p:nvSpPr>
        <p:spPr>
          <a:xfrm>
            <a:off x="547694" y="3691563"/>
            <a:ext cx="8048612" cy="125140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Limitations of current approaches</a:t>
            </a:r>
            <a:endParaRPr lang="en-US" u="sng" dirty="0"/>
          </a:p>
          <a:p>
            <a:pPr lvl="1">
              <a:buClr>
                <a:schemeClr val="accent1"/>
              </a:buClr>
            </a:pPr>
            <a:endParaRPr lang="en-US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Optimization (OPF) is not scalable and too slow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Single-Agent RL: ignores decentralization 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Existing MARL: struggles with coordination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1740207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400D-32A2-9931-8A81-FE7D9E7A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23456-7CA3-6B28-E369-81855589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/>
              <a:t>Short Literature Review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A1AEB7-2D01-6C67-5668-78AFF3F8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33D93D-3336-B04A-59CF-5651A797A0A5}"/>
              </a:ext>
            </a:extLst>
          </p:cNvPr>
          <p:cNvSpPr txBox="1"/>
          <p:nvPr/>
        </p:nvSpPr>
        <p:spPr>
          <a:xfrm>
            <a:off x="582627" y="4088399"/>
            <a:ext cx="8048612" cy="615881"/>
          </a:xfrm>
          <a:prstGeom prst="roundRect">
            <a:avLst>
              <a:gd name="adj" fmla="val 3040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noProof="0" dirty="0">
                <a:solidFill>
                  <a:schemeClr val="tx1"/>
                </a:solidFill>
              </a:rPr>
              <a:t>Takeaway</a:t>
            </a:r>
            <a:r>
              <a:rPr lang="en-US" noProof="0" dirty="0">
                <a:solidFill>
                  <a:schemeClr val="tx1"/>
                </a:solidFill>
              </a:rPr>
              <a:t> 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noProof="0" dirty="0" err="1">
                <a:solidFill>
                  <a:schemeClr val="tx1"/>
                </a:solidFill>
              </a:rPr>
              <a:t>tructure</a:t>
            </a:r>
            <a:r>
              <a:rPr lang="en-US" noProof="0" dirty="0">
                <a:solidFill>
                  <a:schemeClr val="tx1"/>
                </a:solidFill>
              </a:rPr>
              <a:t> in the controller matters at least as much as the RL algorithm choice.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358E2E-B995-75EF-1BC1-4B5223DC2B84}"/>
              </a:ext>
            </a:extLst>
          </p:cNvPr>
          <p:cNvSpPr txBox="1"/>
          <p:nvPr/>
        </p:nvSpPr>
        <p:spPr>
          <a:xfrm>
            <a:off x="582627" y="1045440"/>
            <a:ext cx="8048612" cy="2515538"/>
          </a:xfrm>
          <a:prstGeom prst="roundRect">
            <a:avLst>
              <a:gd name="adj" fmla="val 1082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noProof="0" dirty="0">
                <a:solidFill>
                  <a:schemeClr val="tx1"/>
                </a:solidFill>
              </a:rPr>
              <a:t>Hybrid Systems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>
                <a:solidFill>
                  <a:schemeClr val="tx1"/>
                </a:solidFill>
              </a:rPr>
              <a:t>Recent surveys show that strong controllers are rarely pure end-to-end RL; they are hybrid systems.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>
                <a:solidFill>
                  <a:schemeClr val="tx1"/>
                </a:solidFill>
              </a:rPr>
              <a:t>Dominant ingredients are action-space reduction, rule-based safety logic, simulator filtering, and imitation bootstrapping.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Clr>
                <a:schemeClr val="accent1"/>
              </a:buClr>
            </a:pPr>
            <a:r>
              <a:rPr lang="en-US" b="1" u="sng" dirty="0">
                <a:solidFill>
                  <a:schemeClr val="tx1"/>
                </a:solidFill>
              </a:rPr>
              <a:t>Learning Methods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Topology control is the main transmission-grid use case, with PPO, DQN variants, SMAAC, MCTS, and multi-agent methods.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Graph encoders are increasingly used because the grid is naturally relational and topology changes alter the graph itself.</a:t>
            </a:r>
          </a:p>
        </p:txBody>
      </p:sp>
    </p:spTree>
    <p:extLst>
      <p:ext uri="{BB962C8B-B14F-4D97-AF65-F5344CB8AC3E}">
        <p14:creationId xmlns:p14="http://schemas.microsoft.com/office/powerpoint/2010/main" val="21289501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Dive Into the Main Solutions </a:t>
            </a:r>
            <a:r>
              <a:rPr lang="en-US" dirty="0" err="1"/>
              <a:t>Developped</a:t>
            </a: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 txBox="1"/>
          <p:nvPr/>
        </p:nvSpPr>
        <p:spPr>
          <a:xfrm>
            <a:off x="418220" y="1004453"/>
            <a:ext cx="8307557" cy="15465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One RL Agent with Safety Layers</a:t>
            </a:r>
            <a:endParaRPr lang="en-US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[7] uses a GCN with Double-Q and verifies top-Q actions with power-flow simulation.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[1] trains PPO with dynamic action masking so infeasible busbar actions are never sampled.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These methods keep one global controller but rely on hard engineering tricks to stay safe.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Typical tricks are do-nothing fallback, pruning of symmetric actions, and simulator-based validation.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Their weakness is sample efficiency: the agent still sees a huge discrete action space.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77E8EF-527B-900B-B8B5-6FC75CC37895}"/>
              </a:ext>
            </a:extLst>
          </p:cNvPr>
          <p:cNvSpPr txBox="1"/>
          <p:nvPr/>
        </p:nvSpPr>
        <p:spPr>
          <a:xfrm>
            <a:off x="418220" y="2992165"/>
            <a:ext cx="8307557" cy="15465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Predict a target topology, not a raw switch</a:t>
            </a:r>
            <a:endParaRPr lang="en-US" u="sng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[8] SMAAC and [3] predict a goal topology, then a low-level policy realizes it.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Their key idea is the </a:t>
            </a:r>
            <a:r>
              <a:rPr lang="en-US" dirty="0" err="1"/>
              <a:t>afterstate</a:t>
            </a:r>
            <a:r>
              <a:rPr lang="en-US" dirty="0"/>
              <a:t>: learn from the resulting topology, not only from the raw switch action.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That matters because different switching sequences can lead to the same effective substation configuration.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First decide where to intervene, then decide how.</a:t>
            </a:r>
          </a:p>
        </p:txBody>
      </p:sp>
    </p:spTree>
    <p:extLst>
      <p:ext uri="{BB962C8B-B14F-4D97-AF65-F5344CB8AC3E}">
        <p14:creationId xmlns:p14="http://schemas.microsoft.com/office/powerpoint/2010/main" val="20124015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420E-48D0-8268-6E13-644379EF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963C8-041F-DD46-09C6-14E1AD101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Dive Into the Main Solutions </a:t>
            </a:r>
            <a:r>
              <a:rPr lang="en-US" dirty="0" err="1"/>
              <a:t>Developped</a:t>
            </a: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4C7670-4D33-8C6C-738F-EC914296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E983E03-E4B6-5810-3814-5FA2D31B89B5}"/>
              </a:ext>
            </a:extLst>
          </p:cNvPr>
          <p:cNvSpPr txBox="1"/>
          <p:nvPr/>
        </p:nvSpPr>
        <p:spPr>
          <a:xfrm>
            <a:off x="323681" y="1798461"/>
            <a:ext cx="8307557" cy="15465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Multi-agent and Imitation-enhanced GRL</a:t>
            </a:r>
            <a:endParaRPr lang="en-US" u="sng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[4] uses hierarchical multi-agent PPO/SAC where higher levels detect critical areas and lower levels act.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Multi-agent decomposition reduces the effective action space by assigning local responsibility to components.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[2] and [9] use expert demonstrations or imitation learning to improve sample efficiency.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The logic is practical: start from expert behavior, then let RL improve beyond it through interaction.</a:t>
            </a:r>
          </a:p>
        </p:txBody>
      </p:sp>
    </p:spTree>
    <p:extLst>
      <p:ext uri="{BB962C8B-B14F-4D97-AF65-F5344CB8AC3E}">
        <p14:creationId xmlns:p14="http://schemas.microsoft.com/office/powerpoint/2010/main" val="35627145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9518-7A01-40F6-C170-7432CD97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20C56-34EF-229D-738F-ABB6848C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631919" cy="601301"/>
          </a:xfrm>
        </p:spPr>
        <p:txBody>
          <a:bodyPr>
            <a:noAutofit/>
          </a:bodyPr>
          <a:lstStyle/>
          <a:p>
            <a:r>
              <a:rPr lang="fr-CH" sz="2800" dirty="0"/>
              <a:t>MARL2Grid: Multi-Agent RL for Power </a:t>
            </a:r>
            <a:r>
              <a:rPr lang="fr-CH" sz="2800" dirty="0" err="1"/>
              <a:t>Grid</a:t>
            </a:r>
            <a:r>
              <a:rPr lang="fr-CH" sz="2800" dirty="0"/>
              <a:t> Control [10]</a:t>
            </a:r>
            <a:endParaRPr lang="en-US" sz="2800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67A682-619E-9201-D9A3-E3A69EA0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6E58E1-0C11-39F3-60B1-7D462AE29327}"/>
              </a:ext>
            </a:extLst>
          </p:cNvPr>
          <p:cNvSpPr txBox="1"/>
          <p:nvPr/>
        </p:nvSpPr>
        <p:spPr>
          <a:xfrm>
            <a:off x="756039" y="944954"/>
            <a:ext cx="7631920" cy="2539960"/>
          </a:xfrm>
          <a:prstGeom prst="roundRect">
            <a:avLst>
              <a:gd name="adj" fmla="val 1083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The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paper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introduces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the first benchmark for </a:t>
            </a:r>
            <a:r>
              <a:rPr lang="fr-CH" b="1" i="0" dirty="0">
                <a:solidFill>
                  <a:schemeClr val="tx1"/>
                </a:solidFill>
                <a:effectLst/>
              </a:rPr>
              <a:t>multi-agent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reinforcement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learning</a:t>
            </a:r>
            <a:r>
              <a:rPr lang="fr-CH" b="1" i="0" dirty="0">
                <a:solidFill>
                  <a:schemeClr val="tx1"/>
                </a:solidFill>
                <a:effectLst/>
              </a:rPr>
              <a:t> in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realistic</a:t>
            </a:r>
            <a:r>
              <a:rPr lang="fr-CH" b="1" i="0" dirty="0">
                <a:solidFill>
                  <a:schemeClr val="tx1"/>
                </a:solidFill>
                <a:effectLst/>
              </a:rPr>
              <a:t> power-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grid</a:t>
            </a:r>
            <a:r>
              <a:rPr lang="fr-CH" b="1" i="0" dirty="0">
                <a:solidFill>
                  <a:schemeClr val="tx1"/>
                </a:solidFill>
                <a:effectLst/>
              </a:rPr>
              <a:t> control</a:t>
            </a:r>
            <a:r>
              <a:rPr lang="fr-CH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285750" indent="-285750"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It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studies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two</a:t>
            </a:r>
            <a:r>
              <a:rPr lang="fr-CH" b="0" i="0" dirty="0">
                <a:solidFill>
                  <a:schemeClr val="tx1"/>
                </a:solidFill>
                <a:effectLst/>
              </a:rPr>
              <a:t> types of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tasks</a:t>
            </a:r>
            <a:r>
              <a:rPr lang="fr-CH" b="0" i="0" dirty="0">
                <a:solidFill>
                  <a:schemeClr val="tx1"/>
                </a:solidFill>
                <a:effectLst/>
              </a:rPr>
              <a:t>: 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discrete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topology</a:t>
            </a:r>
            <a:r>
              <a:rPr lang="fr-CH" b="1" i="0" dirty="0">
                <a:solidFill>
                  <a:schemeClr val="tx1"/>
                </a:solidFill>
                <a:effectLst/>
              </a:rPr>
              <a:t> control</a:t>
            </a:r>
            <a:r>
              <a:rPr lang="fr-CH" b="0" i="0" dirty="0">
                <a:solidFill>
                  <a:schemeClr val="tx1"/>
                </a:solidFill>
                <a:effectLst/>
              </a:rPr>
              <a:t> and 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continuous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redispatch</a:t>
            </a:r>
            <a:r>
              <a:rPr lang="fr-CH" b="1" i="0" dirty="0">
                <a:solidFill>
                  <a:schemeClr val="tx1"/>
                </a:solidFill>
                <a:effectLst/>
              </a:rPr>
              <a:t> /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curtailment</a:t>
            </a:r>
            <a:r>
              <a:rPr lang="fr-CH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285750" indent="-285750"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The benchmark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is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built</a:t>
            </a:r>
            <a:r>
              <a:rPr lang="fr-CH" b="0" i="0" dirty="0">
                <a:solidFill>
                  <a:schemeClr val="tx1"/>
                </a:solidFill>
                <a:effectLst/>
              </a:rPr>
              <a:t> on </a:t>
            </a:r>
            <a:r>
              <a:rPr lang="fr-CH" b="1" i="0" dirty="0">
                <a:solidFill>
                  <a:schemeClr val="tx1"/>
                </a:solidFill>
                <a:effectLst/>
              </a:rPr>
              <a:t>Grid2Op</a:t>
            </a:r>
            <a:r>
              <a:rPr lang="fr-CH" b="0" i="0" dirty="0">
                <a:solidFill>
                  <a:schemeClr val="tx1"/>
                </a:solidFill>
                <a:effectLst/>
              </a:rPr>
              <a:t> and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models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decentralized</a:t>
            </a:r>
            <a:r>
              <a:rPr lang="fr-CH" b="0" i="0" dirty="0">
                <a:solidFill>
                  <a:schemeClr val="tx1"/>
                </a:solidFill>
                <a:effectLst/>
              </a:rPr>
              <a:t> control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with</a:t>
            </a:r>
            <a:r>
              <a:rPr lang="fr-CH" b="0" i="0" dirty="0">
                <a:solidFill>
                  <a:schemeClr val="tx1"/>
                </a:solidFill>
                <a:effectLst/>
              </a:rPr>
              <a:t> multiple agents acting on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different</a:t>
            </a:r>
            <a:r>
              <a:rPr lang="fr-CH" b="0" i="0" dirty="0">
                <a:solidFill>
                  <a:schemeClr val="tx1"/>
                </a:solidFill>
                <a:effectLst/>
              </a:rPr>
              <a:t> parts of the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grid</a:t>
            </a:r>
            <a:r>
              <a:rPr lang="fr-CH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285750" indent="-285750"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It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includes</a:t>
            </a:r>
            <a:r>
              <a:rPr lang="fr-CH" b="0" i="0" dirty="0">
                <a:solidFill>
                  <a:schemeClr val="tx1"/>
                </a:solidFill>
                <a:effectLst/>
              </a:rPr>
              <a:t> </a:t>
            </a:r>
            <a:r>
              <a:rPr lang="fr-CH" b="1" i="0" dirty="0">
                <a:solidFill>
                  <a:schemeClr val="tx1"/>
                </a:solidFill>
                <a:effectLst/>
              </a:rPr>
              <a:t>local or global observations</a:t>
            </a:r>
            <a:r>
              <a:rPr lang="fr-CH" b="0" i="0" dirty="0">
                <a:solidFill>
                  <a:schemeClr val="tx1"/>
                </a:solidFill>
                <a:effectLst/>
              </a:rPr>
              <a:t>, 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shared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rewards</a:t>
            </a:r>
            <a:r>
              <a:rPr lang="fr-CH" b="0" i="0" dirty="0">
                <a:solidFill>
                  <a:schemeClr val="tx1"/>
                </a:solidFill>
                <a:effectLst/>
              </a:rPr>
              <a:t>, 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safety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constraints</a:t>
            </a:r>
            <a:r>
              <a:rPr lang="fr-CH" b="0" i="0" dirty="0">
                <a:solidFill>
                  <a:schemeClr val="tx1"/>
                </a:solidFill>
                <a:effectLst/>
              </a:rPr>
              <a:t>, and an 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idle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heuristic</a:t>
            </a:r>
            <a:r>
              <a:rPr lang="fr-CH" b="0" i="0" dirty="0">
                <a:solidFill>
                  <a:schemeClr val="tx1"/>
                </a:solidFill>
                <a:effectLst/>
              </a:rPr>
              <a:t> to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simplify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learning</a:t>
            </a:r>
            <a:r>
              <a:rPr lang="fr-CH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285750" indent="-285750"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The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authors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evaluate</a:t>
            </a:r>
            <a:r>
              <a:rPr lang="fr-CH" b="0" i="0" dirty="0">
                <a:solidFill>
                  <a:schemeClr val="tx1"/>
                </a:solidFill>
                <a:effectLst/>
              </a:rPr>
              <a:t> standard MARL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methods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such</a:t>
            </a:r>
            <a:r>
              <a:rPr lang="fr-CH" b="0" i="0" dirty="0">
                <a:solidFill>
                  <a:schemeClr val="tx1"/>
                </a:solidFill>
                <a:effectLst/>
              </a:rPr>
              <a:t> as </a:t>
            </a:r>
            <a:r>
              <a:rPr lang="fr-CH" b="1" i="0" dirty="0">
                <a:solidFill>
                  <a:schemeClr val="tx1"/>
                </a:solidFill>
                <a:effectLst/>
              </a:rPr>
              <a:t>MAPPO, QPLEX, MASAC, and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LagrMAPPO</a:t>
            </a:r>
            <a:r>
              <a:rPr lang="fr-CH" b="0" i="0" dirty="0"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312835-6CE2-A12A-8A18-B323F1FE70BE}"/>
              </a:ext>
            </a:extLst>
          </p:cNvPr>
          <p:cNvSpPr txBox="1"/>
          <p:nvPr/>
        </p:nvSpPr>
        <p:spPr>
          <a:xfrm>
            <a:off x="756039" y="3834155"/>
            <a:ext cx="7631919" cy="7831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lnSpc>
                <a:spcPts val="1575"/>
              </a:lnSpc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Main conclusion: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current</a:t>
            </a:r>
            <a:r>
              <a:rPr lang="fr-CH" b="0" i="0" dirty="0">
                <a:solidFill>
                  <a:schemeClr val="tx1"/>
                </a:solidFill>
                <a:effectLst/>
              </a:rPr>
              <a:t> MARL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methods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can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handle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some</a:t>
            </a:r>
            <a:r>
              <a:rPr lang="fr-CH" b="0" i="0" dirty="0">
                <a:solidFill>
                  <a:schemeClr val="tx1"/>
                </a:solidFill>
                <a:effectLst/>
              </a:rPr>
              <a:t> settings, but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still</a:t>
            </a:r>
            <a:r>
              <a:rPr lang="fr-CH" b="0" i="0" dirty="0">
                <a:solidFill>
                  <a:schemeClr val="tx1"/>
                </a:solidFill>
                <a:effectLst/>
              </a:rPr>
              <a:t> </a:t>
            </a:r>
            <a:r>
              <a:rPr lang="fr-CH" b="1" i="0" dirty="0">
                <a:solidFill>
                  <a:schemeClr val="tx1"/>
                </a:solidFill>
                <a:effectLst/>
              </a:rPr>
              <a:t>struggle on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realistic</a:t>
            </a:r>
            <a:r>
              <a:rPr lang="fr-CH" b="1" i="0" dirty="0">
                <a:solidFill>
                  <a:schemeClr val="tx1"/>
                </a:solidFill>
                <a:effectLst/>
              </a:rPr>
              <a:t> 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topology</a:t>
            </a:r>
            <a:r>
              <a:rPr lang="fr-CH" b="1" i="0" dirty="0">
                <a:solidFill>
                  <a:schemeClr val="tx1"/>
                </a:solidFill>
                <a:effectLst/>
              </a:rPr>
              <a:t> control</a:t>
            </a:r>
            <a:r>
              <a:rPr lang="fr-CH" b="0" i="0" dirty="0">
                <a:solidFill>
                  <a:schemeClr val="tx1"/>
                </a:solidFill>
                <a:effectLst/>
              </a:rPr>
              <a:t> 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because</a:t>
            </a:r>
            <a:r>
              <a:rPr lang="fr-CH" b="0" i="0" dirty="0">
                <a:solidFill>
                  <a:schemeClr val="tx1"/>
                </a:solidFill>
                <a:effectLst/>
              </a:rPr>
              <a:t> of partial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observability</a:t>
            </a:r>
            <a:r>
              <a:rPr lang="fr-CH" b="0" i="0" dirty="0">
                <a:solidFill>
                  <a:schemeClr val="tx1"/>
                </a:solidFill>
                <a:effectLst/>
              </a:rPr>
              <a:t>, coordination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difficulty</a:t>
            </a:r>
            <a:r>
              <a:rPr lang="fr-CH" b="0" i="0" dirty="0">
                <a:solidFill>
                  <a:schemeClr val="tx1"/>
                </a:solidFill>
                <a:effectLst/>
              </a:rPr>
              <a:t>, and large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combinatorial</a:t>
            </a:r>
            <a:r>
              <a:rPr lang="fr-CH" b="0" i="0" dirty="0">
                <a:solidFill>
                  <a:schemeClr val="tx1"/>
                </a:solidFill>
                <a:effectLst/>
              </a:rPr>
              <a:t> action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spaces</a:t>
            </a:r>
            <a:r>
              <a:rPr lang="fr-CH" b="0" i="0" dirty="0"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38488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Research Gap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CC4B205-C4B4-0432-A602-49A9CFE88DC7}"/>
              </a:ext>
            </a:extLst>
          </p:cNvPr>
          <p:cNvSpPr txBox="1"/>
          <p:nvPr/>
        </p:nvSpPr>
        <p:spPr>
          <a:xfrm>
            <a:off x="547691" y="935153"/>
            <a:ext cx="8048611" cy="12514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dirty="0">
                <a:solidFill>
                  <a:schemeClr val="tx1"/>
                </a:solidFill>
              </a:rPr>
              <a:t>Limits of these studies</a:t>
            </a:r>
            <a:endParaRPr lang="en-US" b="1" u="sng" noProof="0" dirty="0">
              <a:solidFill>
                <a:schemeClr val="tx1"/>
              </a:solidFill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b="1" noProof="0" dirty="0">
                <a:solidFill>
                  <a:schemeClr val="tx1"/>
                </a:solidFill>
              </a:rPr>
              <a:t>No standardized </a:t>
            </a:r>
            <a:r>
              <a:rPr lang="en-US" b="1" noProof="0" dirty="0" err="1">
                <a:solidFill>
                  <a:schemeClr val="tx1"/>
                </a:solidFill>
              </a:rPr>
              <a:t>Evalution</a:t>
            </a:r>
            <a:r>
              <a:rPr lang="en-US" b="1" noProof="0" dirty="0">
                <a:solidFill>
                  <a:schemeClr val="tx1"/>
                </a:solidFill>
              </a:rPr>
              <a:t>:</a:t>
            </a:r>
            <a:r>
              <a:rPr lang="en-US" noProof="0" dirty="0">
                <a:solidFill>
                  <a:schemeClr val="tx1"/>
                </a:solidFill>
              </a:rPr>
              <a:t> Evaluation protocols differ a lot across papers: rewards, seeds, horizons, contingencies, and grid sizes are inconsistent.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b="1" noProof="0" dirty="0">
                <a:solidFill>
                  <a:schemeClr val="tx1"/>
                </a:solidFill>
              </a:rPr>
              <a:t>Mostly Proof-of-Concept: </a:t>
            </a:r>
            <a:r>
              <a:rPr lang="en-US" noProof="0" dirty="0">
                <a:solidFill>
                  <a:schemeClr val="tx1"/>
                </a:solidFill>
              </a:rPr>
              <a:t>Most studies rely on Grid2Op and relatively small IEEE-style benchmarks, with limited stressed-condition testing.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FAD7E78-A825-B3D8-5BE6-57ABF0537A26}"/>
              </a:ext>
            </a:extLst>
          </p:cNvPr>
          <p:cNvSpPr txBox="1"/>
          <p:nvPr/>
        </p:nvSpPr>
        <p:spPr>
          <a:xfrm>
            <a:off x="547690" y="2404885"/>
            <a:ext cx="8048611" cy="2075929"/>
          </a:xfrm>
          <a:prstGeom prst="roundRect">
            <a:avLst>
              <a:gd name="adj" fmla="val 947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Limit in MARL:</a:t>
            </a: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Limited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scalability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to large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grids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(e.g., bus118)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Weak coordination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under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decentralization</a:t>
            </a: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Poor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representation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of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grid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structure in MARL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baselines</a:t>
            </a: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 err="1">
                <a:solidFill>
                  <a:schemeClr val="tx1"/>
                </a:solidFill>
                <a:latin typeface="Arial" panose="020B0604020202020204" pitchFamily="34" charset="0"/>
              </a:rPr>
              <a:t>Missing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Graph-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structured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MARL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Efficient coordination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under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partial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observability</a:t>
            </a: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Better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abstraction of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topology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actions</a:t>
            </a:r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2DFA-0C94-1BC5-EAE5-A1D12D75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F48F4-F886-15DE-DE2C-4500BB8D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Thesis Refinement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E159BA-265E-9DC8-F015-A5A2DF0E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CFB600-8E05-8435-A8F7-A9101A0084DE}"/>
              </a:ext>
            </a:extLst>
          </p:cNvPr>
          <p:cNvSpPr txBox="1"/>
          <p:nvPr/>
        </p:nvSpPr>
        <p:spPr>
          <a:xfrm>
            <a:off x="468956" y="854129"/>
            <a:ext cx="8127347" cy="15323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solidFill>
                  <a:schemeClr val="tx1"/>
                </a:solidFill>
              </a:rPr>
              <a:t>Main Goal: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fr-FR" altLang="fr-FR" dirty="0">
              <a:solidFill>
                <a:schemeClr val="tx1"/>
              </a:solidFill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 err="1">
                <a:solidFill>
                  <a:schemeClr val="tx1"/>
                </a:solidFill>
              </a:rPr>
              <a:t>Develop</a:t>
            </a:r>
            <a:r>
              <a:rPr lang="fr-FR" altLang="fr-FR" dirty="0">
                <a:solidFill>
                  <a:schemeClr val="tx1"/>
                </a:solidFill>
              </a:rPr>
              <a:t> a </a:t>
            </a:r>
            <a:r>
              <a:rPr lang="fr-FR" altLang="fr-FR" b="1" dirty="0">
                <a:solidFill>
                  <a:schemeClr val="tx1"/>
                </a:solidFill>
              </a:rPr>
              <a:t>graph-</a:t>
            </a:r>
            <a:r>
              <a:rPr lang="fr-FR" altLang="fr-FR" b="1" dirty="0" err="1">
                <a:solidFill>
                  <a:schemeClr val="tx1"/>
                </a:solidFill>
              </a:rPr>
              <a:t>structured</a:t>
            </a:r>
            <a:r>
              <a:rPr lang="fr-FR" altLang="fr-FR" b="1" dirty="0">
                <a:solidFill>
                  <a:schemeClr val="tx1"/>
                </a:solidFill>
              </a:rPr>
              <a:t> multi-agent </a:t>
            </a:r>
            <a:r>
              <a:rPr lang="fr-FR" altLang="fr-FR" b="1" dirty="0" err="1">
                <a:solidFill>
                  <a:schemeClr val="tx1"/>
                </a:solidFill>
              </a:rPr>
              <a:t>reinforcement</a:t>
            </a:r>
            <a:r>
              <a:rPr lang="fr-FR" altLang="fr-FR" b="1" dirty="0">
                <a:solidFill>
                  <a:schemeClr val="tx1"/>
                </a:solidFill>
              </a:rPr>
              <a:t> </a:t>
            </a:r>
            <a:r>
              <a:rPr lang="fr-FR" altLang="fr-FR" b="1" dirty="0" err="1">
                <a:solidFill>
                  <a:schemeClr val="tx1"/>
                </a:solidFill>
              </a:rPr>
              <a:t>learning</a:t>
            </a:r>
            <a:r>
              <a:rPr lang="fr-FR" altLang="fr-FR" b="1" dirty="0">
                <a:solidFill>
                  <a:schemeClr val="tx1"/>
                </a:solidFill>
              </a:rPr>
              <a:t> </a:t>
            </a:r>
            <a:r>
              <a:rPr lang="fr-FR" altLang="fr-FR" b="1" dirty="0" err="1">
                <a:solidFill>
                  <a:schemeClr val="tx1"/>
                </a:solidFill>
              </a:rPr>
              <a:t>framework</a:t>
            </a:r>
            <a:r>
              <a:rPr lang="fr-FR" altLang="fr-FR" dirty="0">
                <a:solidFill>
                  <a:schemeClr val="tx1"/>
                </a:solidFill>
              </a:rPr>
              <a:t> for power </a:t>
            </a:r>
            <a:r>
              <a:rPr lang="fr-FR" altLang="fr-FR" dirty="0" err="1">
                <a:solidFill>
                  <a:schemeClr val="tx1"/>
                </a:solidFill>
              </a:rPr>
              <a:t>grid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topology</a:t>
            </a:r>
            <a:r>
              <a:rPr lang="fr-FR" altLang="fr-FR" dirty="0">
                <a:solidFill>
                  <a:schemeClr val="tx1"/>
                </a:solidFill>
              </a:rPr>
              <a:t> control </a:t>
            </a:r>
            <a:r>
              <a:rPr lang="fr-FR" altLang="fr-FR" dirty="0" err="1">
                <a:solidFill>
                  <a:schemeClr val="tx1"/>
                </a:solidFill>
              </a:rPr>
              <a:t>that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improves</a:t>
            </a:r>
            <a:r>
              <a:rPr lang="fr-FR" altLang="fr-FR" dirty="0">
                <a:solidFill>
                  <a:schemeClr val="tx1"/>
                </a:solidFill>
              </a:rPr>
              <a:t>: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dirty="0">
                <a:solidFill>
                  <a:schemeClr val="tx1"/>
                </a:solidFill>
              </a:rPr>
              <a:t>Coordination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dirty="0" err="1">
                <a:solidFill>
                  <a:schemeClr val="tx1"/>
                </a:solidFill>
              </a:rPr>
              <a:t>Scalability</a:t>
            </a:r>
            <a:endParaRPr lang="fr-FR" altLang="fr-FR" dirty="0">
              <a:solidFill>
                <a:schemeClr val="tx1"/>
              </a:solidFill>
            </a:endParaRP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dirty="0" err="1">
                <a:solidFill>
                  <a:schemeClr val="tx1"/>
                </a:solidFill>
              </a:rPr>
              <a:t>Generalization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B94C53D-6EB8-505E-8C49-52A1C22D87D4}"/>
              </a:ext>
            </a:extLst>
          </p:cNvPr>
          <p:cNvSpPr txBox="1"/>
          <p:nvPr/>
        </p:nvSpPr>
        <p:spPr>
          <a:xfrm>
            <a:off x="468956" y="2900709"/>
            <a:ext cx="8127347" cy="1597551"/>
          </a:xfrm>
          <a:prstGeom prst="roundRect">
            <a:avLst>
              <a:gd name="adj" fmla="val 141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spcAft>
                <a:spcPts val="600"/>
              </a:spcAft>
              <a:buClr>
                <a:schemeClr val="accent1"/>
              </a:buClr>
            </a:pPr>
            <a:r>
              <a:rPr lang="en-US" b="1" u="sng" dirty="0">
                <a:solidFill>
                  <a:schemeClr val="tx1"/>
                </a:solidFill>
              </a:rPr>
              <a:t>Research Questions:</a:t>
            </a:r>
          </a:p>
          <a:p>
            <a:pPr marL="685800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fr-FR" altLang="fr-FR" dirty="0" err="1">
                <a:solidFill>
                  <a:schemeClr val="tx1"/>
                </a:solidFill>
              </a:rPr>
              <a:t>Does</a:t>
            </a:r>
            <a:r>
              <a:rPr lang="fr-FR" altLang="fr-FR" dirty="0">
                <a:solidFill>
                  <a:schemeClr val="tx1"/>
                </a:solidFill>
              </a:rPr>
              <a:t> a GNN encoder </a:t>
            </a:r>
            <a:r>
              <a:rPr lang="fr-FR" altLang="fr-FR" dirty="0" err="1">
                <a:solidFill>
                  <a:schemeClr val="tx1"/>
                </a:solidFill>
              </a:rPr>
              <a:t>improve</a:t>
            </a:r>
            <a:r>
              <a:rPr lang="fr-FR" altLang="fr-FR" dirty="0">
                <a:solidFill>
                  <a:schemeClr val="tx1"/>
                </a:solidFill>
              </a:rPr>
              <a:t> performance vs standard MARL </a:t>
            </a:r>
            <a:r>
              <a:rPr lang="fr-FR" altLang="fr-FR" dirty="0" err="1">
                <a:solidFill>
                  <a:schemeClr val="tx1"/>
                </a:solidFill>
              </a:rPr>
              <a:t>baselines</a:t>
            </a:r>
            <a:r>
              <a:rPr lang="fr-FR" altLang="fr-FR" dirty="0">
                <a:solidFill>
                  <a:schemeClr val="tx1"/>
                </a:solidFill>
              </a:rPr>
              <a:t>?</a:t>
            </a:r>
          </a:p>
          <a:p>
            <a:pPr marL="685800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fr-FR" altLang="fr-FR" dirty="0">
                <a:solidFill>
                  <a:schemeClr val="tx1"/>
                </a:solidFill>
              </a:rPr>
              <a:t>Can latent communication </a:t>
            </a:r>
            <a:r>
              <a:rPr lang="fr-FR" altLang="fr-FR" dirty="0" err="1">
                <a:solidFill>
                  <a:schemeClr val="tx1"/>
                </a:solidFill>
              </a:rPr>
              <a:t>improve</a:t>
            </a:r>
            <a:r>
              <a:rPr lang="fr-FR" altLang="fr-FR" dirty="0">
                <a:solidFill>
                  <a:schemeClr val="tx1"/>
                </a:solidFill>
              </a:rPr>
              <a:t> coordination </a:t>
            </a:r>
            <a:r>
              <a:rPr lang="fr-FR" altLang="fr-FR" dirty="0" err="1">
                <a:solidFill>
                  <a:schemeClr val="tx1"/>
                </a:solidFill>
              </a:rPr>
              <a:t>under</a:t>
            </a:r>
            <a:r>
              <a:rPr lang="fr-FR" altLang="fr-FR">
                <a:solidFill>
                  <a:schemeClr val="tx1"/>
                </a:solidFill>
              </a:rPr>
              <a:t> partial </a:t>
            </a:r>
            <a:r>
              <a:rPr lang="fr-FR" altLang="fr-FR" dirty="0" err="1">
                <a:solidFill>
                  <a:schemeClr val="tx1"/>
                </a:solidFill>
              </a:rPr>
              <a:t>observability</a:t>
            </a:r>
            <a:r>
              <a:rPr lang="fr-FR" altLang="fr-FR" dirty="0">
                <a:solidFill>
                  <a:schemeClr val="tx1"/>
                </a:solidFill>
              </a:rPr>
              <a:t>?</a:t>
            </a:r>
          </a:p>
          <a:p>
            <a:pPr marL="685800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fr-FR" altLang="fr-FR" dirty="0">
                <a:solidFill>
                  <a:schemeClr val="tx1"/>
                </a:solidFill>
              </a:rPr>
              <a:t>Is </a:t>
            </a:r>
            <a:r>
              <a:rPr lang="fr-FR" altLang="fr-FR" dirty="0" err="1">
                <a:solidFill>
                  <a:schemeClr val="tx1"/>
                </a:solidFill>
              </a:rPr>
              <a:t>it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better</a:t>
            </a:r>
            <a:r>
              <a:rPr lang="fr-FR" altLang="fr-FR" dirty="0">
                <a:solidFill>
                  <a:schemeClr val="tx1"/>
                </a:solidFill>
              </a:rPr>
              <a:t> to </a:t>
            </a:r>
            <a:r>
              <a:rPr lang="fr-FR" altLang="fr-FR" dirty="0" err="1">
                <a:solidFill>
                  <a:schemeClr val="tx1"/>
                </a:solidFill>
              </a:rPr>
              <a:t>predict</a:t>
            </a:r>
            <a:r>
              <a:rPr lang="fr-FR" altLang="fr-FR" dirty="0">
                <a:solidFill>
                  <a:schemeClr val="tx1"/>
                </a:solidFill>
              </a:rPr>
              <a:t>: </a:t>
            </a:r>
            <a:r>
              <a:rPr lang="fr-FR" altLang="fr-FR" dirty="0" err="1">
                <a:solidFill>
                  <a:schemeClr val="tx1"/>
                </a:solidFill>
              </a:rPr>
              <a:t>raw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topology</a:t>
            </a:r>
            <a:r>
              <a:rPr lang="fr-FR" altLang="fr-FR" dirty="0">
                <a:solidFill>
                  <a:schemeClr val="tx1"/>
                </a:solidFill>
              </a:rPr>
              <a:t> actions or </a:t>
            </a:r>
            <a:r>
              <a:rPr lang="fr-FR" altLang="fr-FR" dirty="0" err="1">
                <a:solidFill>
                  <a:schemeClr val="tx1"/>
                </a:solidFill>
              </a:rPr>
              <a:t>topology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targets</a:t>
            </a:r>
            <a:r>
              <a:rPr lang="fr-FR" altLang="fr-FR" dirty="0">
                <a:solidFill>
                  <a:schemeClr val="tx1"/>
                </a:solidFill>
              </a:rPr>
              <a:t> (</a:t>
            </a:r>
            <a:r>
              <a:rPr lang="fr-FR" altLang="fr-FR" dirty="0" err="1">
                <a:solidFill>
                  <a:schemeClr val="tx1"/>
                </a:solidFill>
              </a:rPr>
              <a:t>after</a:t>
            </a:r>
            <a:r>
              <a:rPr lang="fr-FR" altLang="fr-FR" dirty="0">
                <a:solidFill>
                  <a:schemeClr val="tx1"/>
                </a:solidFill>
              </a:rPr>
              <a:t>-state)</a:t>
            </a:r>
          </a:p>
          <a:p>
            <a:pPr marL="685800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fr-FR" altLang="fr-FR" dirty="0" err="1">
                <a:solidFill>
                  <a:schemeClr val="tx1"/>
                </a:solidFill>
              </a:rPr>
              <a:t>Does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any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improvements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generalize</a:t>
            </a:r>
            <a:r>
              <a:rPr lang="fr-FR" altLang="fr-FR" dirty="0">
                <a:solidFill>
                  <a:schemeClr val="tx1"/>
                </a:solidFill>
              </a:rPr>
              <a:t> to </a:t>
            </a:r>
            <a:r>
              <a:rPr lang="fr-FR" altLang="fr-FR" dirty="0" err="1">
                <a:solidFill>
                  <a:schemeClr val="tx1"/>
                </a:solidFill>
              </a:rPr>
              <a:t>larger</a:t>
            </a:r>
            <a:r>
              <a:rPr lang="fr-FR" altLang="fr-FR" dirty="0">
                <a:solidFill>
                  <a:schemeClr val="tx1"/>
                </a:solidFill>
              </a:rPr>
              <a:t> </a:t>
            </a:r>
            <a:r>
              <a:rPr lang="fr-FR" altLang="fr-FR" dirty="0" err="1">
                <a:solidFill>
                  <a:schemeClr val="tx1"/>
                </a:solidFill>
              </a:rPr>
              <a:t>grid</a:t>
            </a:r>
            <a:r>
              <a:rPr lang="fr-FR" altLang="fr-FR" dirty="0">
                <a:solidFill>
                  <a:schemeClr val="tx1"/>
                </a:solidFill>
              </a:rPr>
              <a:t> (bus14 to bus 118)</a:t>
            </a:r>
          </a:p>
        </p:txBody>
      </p:sp>
    </p:spTree>
    <p:extLst>
      <p:ext uri="{BB962C8B-B14F-4D97-AF65-F5344CB8AC3E}">
        <p14:creationId xmlns:p14="http://schemas.microsoft.com/office/powerpoint/2010/main" val="18114048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Method Overview</a:t>
            </a: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1625FA-6F29-E625-041A-48A1C3621F0B}"/>
              </a:ext>
            </a:extLst>
          </p:cNvPr>
          <p:cNvSpPr txBox="1"/>
          <p:nvPr/>
        </p:nvSpPr>
        <p:spPr>
          <a:xfrm>
            <a:off x="348285" y="854129"/>
            <a:ext cx="3944503" cy="4195837"/>
          </a:xfrm>
          <a:prstGeom prst="roundRect">
            <a:avLst>
              <a:gd name="adj" fmla="val 773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fr-CH" b="1" i="0" u="sng" dirty="0" err="1">
                <a:solidFill>
                  <a:schemeClr val="tx1"/>
                </a:solidFill>
                <a:effectLst/>
              </a:rPr>
              <a:t>Proposed</a:t>
            </a:r>
            <a:r>
              <a:rPr lang="fr-CH" b="1" i="0" u="sng" dirty="0">
                <a:solidFill>
                  <a:schemeClr val="tx1"/>
                </a:solidFill>
                <a:effectLst/>
              </a:rPr>
              <a:t> Architecture</a:t>
            </a:r>
          </a:p>
          <a:p>
            <a:pPr algn="l"/>
            <a:endParaRPr lang="fr-CH" b="1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fr-CH" b="1" i="0" dirty="0">
                <a:solidFill>
                  <a:schemeClr val="tx1"/>
                </a:solidFill>
                <a:effectLst/>
              </a:rPr>
              <a:t>Graph Encoder (GNN)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4000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chemeClr val="tx1"/>
                </a:solidFill>
                <a:effectLst/>
              </a:rPr>
              <a:t>Shared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across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agents</a:t>
            </a:r>
          </a:p>
          <a:p>
            <a:pPr marL="4000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Captures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grid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topology</a:t>
            </a:r>
            <a:r>
              <a:rPr lang="fr-CH" b="0" i="0" dirty="0">
                <a:solidFill>
                  <a:schemeClr val="tx1"/>
                </a:solidFill>
                <a:effectLst/>
              </a:rPr>
              <a:t> and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physical</a:t>
            </a:r>
            <a:r>
              <a:rPr lang="fr-CH" b="0" i="0" dirty="0">
                <a:solidFill>
                  <a:schemeClr val="tx1"/>
                </a:solidFill>
                <a:effectLst/>
              </a:rPr>
              <a:t> structure</a:t>
            </a:r>
          </a:p>
          <a:p>
            <a:pPr algn="l"/>
            <a:endParaRPr lang="fr-CH" b="1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fr-CH" b="1" i="0" dirty="0" err="1">
                <a:solidFill>
                  <a:schemeClr val="tx1"/>
                </a:solidFill>
                <a:effectLst/>
              </a:rPr>
              <a:t>Decentralized</a:t>
            </a:r>
            <a:r>
              <a:rPr lang="fr-CH" b="1" i="0" dirty="0">
                <a:solidFill>
                  <a:schemeClr val="tx1"/>
                </a:solidFill>
                <a:effectLst/>
              </a:rPr>
              <a:t> Agents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4000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chemeClr val="tx1"/>
                </a:solidFill>
                <a:effectLst/>
              </a:rPr>
              <a:t>Each</a:t>
            </a:r>
            <a:r>
              <a:rPr lang="fr-CH" b="0" i="0" dirty="0">
                <a:solidFill>
                  <a:schemeClr val="tx1"/>
                </a:solidFill>
                <a:effectLst/>
              </a:rPr>
              <a:t> agent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acts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on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its</a:t>
            </a:r>
            <a:r>
              <a:rPr lang="fr-CH" b="0" i="0" dirty="0">
                <a:solidFill>
                  <a:schemeClr val="tx1"/>
                </a:solidFill>
                <a:effectLst/>
              </a:rPr>
              <a:t> local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region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4000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Uses local graph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embeddings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algn="l"/>
            <a:endParaRPr lang="fr-CH" b="1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fr-CH" b="1" i="0" dirty="0">
                <a:solidFill>
                  <a:schemeClr val="tx1"/>
                </a:solidFill>
                <a:effectLst/>
              </a:rPr>
              <a:t>Latent Communication (</a:t>
            </a:r>
            <a:r>
              <a:rPr lang="fr-CH" b="1" i="0" dirty="0" err="1">
                <a:solidFill>
                  <a:schemeClr val="tx1"/>
                </a:solidFill>
                <a:effectLst/>
              </a:rPr>
              <a:t>optional</a:t>
            </a:r>
            <a:r>
              <a:rPr lang="fr-CH" b="1" i="0" dirty="0">
                <a:solidFill>
                  <a:schemeClr val="tx1"/>
                </a:solidFill>
                <a:effectLst/>
              </a:rPr>
              <a:t>)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4000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Low-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dimensional</a:t>
            </a:r>
            <a:r>
              <a:rPr lang="fr-CH" b="0" i="0" dirty="0">
                <a:solidFill>
                  <a:schemeClr val="tx1"/>
                </a:solidFill>
                <a:effectLst/>
              </a:rPr>
              <a:t> messages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between</a:t>
            </a:r>
            <a:r>
              <a:rPr lang="fr-CH" b="0" i="0" dirty="0">
                <a:solidFill>
                  <a:schemeClr val="tx1"/>
                </a:solidFill>
                <a:effectLst/>
              </a:rPr>
              <a:t> agents</a:t>
            </a:r>
          </a:p>
          <a:p>
            <a:pPr marL="4000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Encodes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intent</a:t>
            </a:r>
            <a:r>
              <a:rPr lang="fr-CH" b="0" i="0" dirty="0">
                <a:solidFill>
                  <a:schemeClr val="tx1"/>
                </a:solidFill>
                <a:effectLst/>
              </a:rPr>
              <a:t> or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risk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algn="l"/>
            <a:endParaRPr lang="fr-CH" b="1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fr-CH" b="1" i="0" dirty="0">
                <a:solidFill>
                  <a:schemeClr val="tx1"/>
                </a:solidFill>
                <a:effectLst/>
              </a:rPr>
              <a:t>Action Head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1" dirty="0">
                <a:solidFill>
                  <a:schemeClr val="tx1"/>
                </a:solidFill>
              </a:rPr>
              <a:t>  </a:t>
            </a:r>
            <a:r>
              <a:rPr lang="fr-CH" dirty="0" err="1">
                <a:solidFill>
                  <a:schemeClr val="tx1"/>
                </a:solidFill>
              </a:rPr>
              <a:t>raw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topology</a:t>
            </a:r>
            <a:r>
              <a:rPr lang="fr-CH" dirty="0">
                <a:solidFill>
                  <a:schemeClr val="tx1"/>
                </a:solidFill>
              </a:rPr>
              <a:t> actions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chemeClr val="tx1"/>
                </a:solidFill>
              </a:rPr>
              <a:t>  OR </a:t>
            </a:r>
            <a:r>
              <a:rPr lang="fr-CH" dirty="0" err="1">
                <a:solidFill>
                  <a:schemeClr val="tx1"/>
                </a:solidFill>
              </a:rPr>
              <a:t>topology</a:t>
            </a:r>
            <a:r>
              <a:rPr lang="fr-CH" dirty="0">
                <a:solidFill>
                  <a:schemeClr val="tx1"/>
                </a:solidFill>
              </a:rPr>
              <a:t> </a:t>
            </a:r>
            <a:r>
              <a:rPr lang="fr-CH" dirty="0" err="1">
                <a:solidFill>
                  <a:schemeClr val="tx1"/>
                </a:solidFill>
              </a:rPr>
              <a:t>targets</a:t>
            </a:r>
            <a:r>
              <a:rPr lang="fr-CH" dirty="0">
                <a:solidFill>
                  <a:schemeClr val="tx1"/>
                </a:solidFill>
              </a:rPr>
              <a:t> (extension)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EE1AD92-6B4A-38DB-A53E-4B1C33F2C4A3}"/>
              </a:ext>
            </a:extLst>
          </p:cNvPr>
          <p:cNvSpPr txBox="1"/>
          <p:nvPr/>
        </p:nvSpPr>
        <p:spPr>
          <a:xfrm>
            <a:off x="4651514" y="854129"/>
            <a:ext cx="4144201" cy="3980051"/>
          </a:xfrm>
          <a:prstGeom prst="roundRect">
            <a:avLst>
              <a:gd name="adj" fmla="val 770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fr-CH" b="1" i="0" u="sng" dirty="0">
                <a:solidFill>
                  <a:schemeClr val="tx1"/>
                </a:solidFill>
                <a:effectLst/>
              </a:rPr>
              <a:t>Evaluation Protocol</a:t>
            </a:r>
          </a:p>
          <a:p>
            <a:pPr algn="l">
              <a:buNone/>
            </a:pPr>
            <a:endParaRPr lang="fr-CH" b="1" i="0" dirty="0">
              <a:solidFill>
                <a:schemeClr val="tx1"/>
              </a:solidFill>
              <a:effectLst/>
            </a:endParaRPr>
          </a:p>
          <a:p>
            <a:pPr algn="l">
              <a:buNone/>
            </a:pPr>
            <a:r>
              <a:rPr lang="fr-CH" b="1" i="0" dirty="0" err="1">
                <a:solidFill>
                  <a:schemeClr val="tx1"/>
                </a:solidFill>
                <a:effectLst/>
              </a:rPr>
              <a:t>Environments</a:t>
            </a:r>
            <a:r>
              <a:rPr lang="fr-CH" b="1" i="0" dirty="0">
                <a:solidFill>
                  <a:schemeClr val="tx1"/>
                </a:solidFill>
                <a:effectLst/>
              </a:rPr>
              <a:t>: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MARL2GRID: bus14, bus36, bus118</a:t>
            </a:r>
          </a:p>
          <a:p>
            <a:pPr algn="l">
              <a:buNone/>
            </a:pPr>
            <a:endParaRPr lang="fr-CH" b="1" i="0" dirty="0">
              <a:solidFill>
                <a:schemeClr val="tx1"/>
              </a:solidFill>
              <a:effectLst/>
            </a:endParaRPr>
          </a:p>
          <a:p>
            <a:pPr algn="l">
              <a:buNone/>
            </a:pPr>
            <a:r>
              <a:rPr lang="fr-CH" b="1" i="0" dirty="0" err="1">
                <a:solidFill>
                  <a:schemeClr val="tx1"/>
                </a:solidFill>
                <a:effectLst/>
              </a:rPr>
              <a:t>Baselines</a:t>
            </a:r>
            <a:r>
              <a:rPr lang="fr-CH" b="1" i="0" dirty="0">
                <a:solidFill>
                  <a:schemeClr val="tx1"/>
                </a:solidFill>
                <a:effectLst/>
              </a:rPr>
              <a:t>: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MAPPO / QPLEX</a:t>
            </a: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MLP vs GNN</a:t>
            </a:r>
          </a:p>
          <a:p>
            <a:pPr algn="l">
              <a:buNone/>
            </a:pPr>
            <a:endParaRPr lang="fr-CH" b="1" i="0" dirty="0">
              <a:solidFill>
                <a:schemeClr val="tx1"/>
              </a:solidFill>
              <a:effectLst/>
            </a:endParaRPr>
          </a:p>
          <a:p>
            <a:pPr algn="l">
              <a:buNone/>
            </a:pPr>
            <a:r>
              <a:rPr lang="fr-CH" b="1" i="0" dirty="0">
                <a:solidFill>
                  <a:schemeClr val="tx1"/>
                </a:solidFill>
                <a:effectLst/>
              </a:rPr>
              <a:t>Ablations: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No communication vs latent communication</a:t>
            </a: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Raw actions vs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topology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targets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algn="l">
              <a:buNone/>
            </a:pPr>
            <a:endParaRPr lang="fr-CH" b="1" i="0" dirty="0">
              <a:solidFill>
                <a:schemeClr val="tx1"/>
              </a:solidFill>
              <a:effectLst/>
            </a:endParaRPr>
          </a:p>
          <a:p>
            <a:pPr algn="l">
              <a:buNone/>
            </a:pPr>
            <a:r>
              <a:rPr lang="fr-CH" b="1" i="0" dirty="0" err="1">
                <a:solidFill>
                  <a:schemeClr val="tx1"/>
                </a:solidFill>
                <a:effectLst/>
              </a:rPr>
              <a:t>Metrics</a:t>
            </a:r>
            <a:r>
              <a:rPr lang="fr-CH" b="1" i="0" dirty="0">
                <a:solidFill>
                  <a:schemeClr val="tx1"/>
                </a:solidFill>
                <a:effectLst/>
              </a:rPr>
              <a:t>: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chemeClr val="tx1"/>
                </a:solidFill>
                <a:effectLst/>
              </a:rPr>
              <a:t>Episode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survival</a:t>
            </a:r>
            <a:endParaRPr lang="fr-CH" b="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chemeClr val="tx1"/>
                </a:solidFill>
                <a:effectLst/>
              </a:rPr>
              <a:t>Number</a:t>
            </a:r>
            <a:r>
              <a:rPr lang="fr-CH" b="0" i="0" dirty="0">
                <a:solidFill>
                  <a:schemeClr val="tx1"/>
                </a:solidFill>
                <a:effectLst/>
              </a:rPr>
              <a:t> of interventions</a:t>
            </a: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chemeClr val="tx1"/>
                </a:solidFill>
                <a:effectLst/>
              </a:rPr>
              <a:t>Safety</a:t>
            </a:r>
            <a:r>
              <a:rPr lang="fr-CH" b="0" i="0" dirty="0">
                <a:solidFill>
                  <a:schemeClr val="tx1"/>
                </a:solidFill>
                <a:effectLst/>
              </a:rPr>
              <a:t> violations</a:t>
            </a: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chemeClr val="tx1"/>
                </a:solidFill>
                <a:effectLst/>
              </a:rPr>
              <a:t>Sample</a:t>
            </a:r>
            <a:r>
              <a:rPr lang="fr-CH" b="0" i="0" dirty="0">
                <a:solidFill>
                  <a:schemeClr val="tx1"/>
                </a:solidFill>
                <a:effectLst/>
              </a:rPr>
              <a:t> </a:t>
            </a:r>
            <a:r>
              <a:rPr lang="fr-CH" b="0" i="0" dirty="0" err="1">
                <a:solidFill>
                  <a:schemeClr val="tx1"/>
                </a:solidFill>
                <a:effectLst/>
              </a:rPr>
              <a:t>efficiency</a:t>
            </a:r>
            <a:endParaRPr lang="fr-CH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A215-F949-314E-524C-C349B067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58E1A-9924-4CDF-F353-0D0A98B8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Timeline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D7960C-8943-446A-D67C-C53E33DE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 noProof="0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01EBE887-6784-8165-301A-357C35D4D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030416"/>
              </p:ext>
            </p:extLst>
          </p:nvPr>
        </p:nvGraphicFramePr>
        <p:xfrm>
          <a:off x="805943" y="854129"/>
          <a:ext cx="7532114" cy="3946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613738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BDD4-100A-42A9-C803-C6CEFC6F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47277-D727-E80E-440B-B1E21803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Agent logic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70E1DE-9FDF-E349-BC20-66BA997B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585226E-D7F1-4273-337A-01A79F6E855D}"/>
              </a:ext>
            </a:extLst>
          </p:cNvPr>
          <p:cNvSpPr txBox="1"/>
          <p:nvPr/>
        </p:nvSpPr>
        <p:spPr>
          <a:xfrm>
            <a:off x="157450" y="771086"/>
            <a:ext cx="4315619" cy="4277439"/>
          </a:xfrm>
          <a:prstGeom prst="roundRect">
            <a:avLst>
              <a:gd name="adj" fmla="val 1098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fr-CH" b="1" i="0" dirty="0" err="1">
                <a:solidFill>
                  <a:srgbClr val="1A1C1F"/>
                </a:solidFill>
                <a:effectLst/>
              </a:rPr>
              <a:t>Greedy</a:t>
            </a:r>
            <a:r>
              <a:rPr lang="fr-CH" b="1" i="0" dirty="0">
                <a:solidFill>
                  <a:srgbClr val="1A1C1F"/>
                </a:solidFill>
                <a:effectLst/>
              </a:rPr>
              <a:t> Agent</a:t>
            </a:r>
            <a:endParaRPr lang="fr-CH" b="0" i="0" dirty="0">
              <a:solidFill>
                <a:srgbClr val="1A1C1F"/>
              </a:solidFill>
              <a:effectLst/>
            </a:endParaRPr>
          </a:p>
          <a:p>
            <a:pPr marL="285750" indent="-285750" algn="l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rgbClr val="1A1C1F"/>
                </a:solidFill>
                <a:effectLst/>
              </a:rPr>
              <a:t>At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each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step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the agent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generates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feasible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actions and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simulates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them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endParaRPr lang="fr-CH" dirty="0">
              <a:solidFill>
                <a:srgbClr val="1A1C1F"/>
              </a:solidFill>
            </a:endParaRPr>
          </a:p>
          <a:p>
            <a:pPr marL="285750" indent="-285750" algn="l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rgbClr val="1A1C1F"/>
                </a:solidFill>
                <a:effectLst/>
              </a:rPr>
              <a:t>If the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is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safe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(max rho &lt; 0.95),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it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does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nothing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endParaRPr lang="fr-CH" dirty="0">
              <a:solidFill>
                <a:srgbClr val="1A1C1F"/>
              </a:solidFill>
            </a:endParaRPr>
          </a:p>
          <a:p>
            <a:pPr marL="285750" indent="-285750" algn="l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rgbClr val="1A1C1F"/>
                </a:solidFill>
                <a:effectLst/>
              </a:rPr>
              <a:t>It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periodically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checks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whether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returning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to the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reference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topology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is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useful</a:t>
            </a:r>
            <a:r>
              <a:rPr lang="fr-CH" b="0" i="0" dirty="0">
                <a:solidFill>
                  <a:srgbClr val="1A1C1F"/>
                </a:solidFill>
                <a:effectLst/>
              </a:rPr>
              <a:t>.</a:t>
            </a:r>
          </a:p>
          <a:p>
            <a:pPr marL="285750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>
                <a:solidFill>
                  <a:srgbClr val="1A1C1F"/>
                </a:solidFill>
                <a:effectLst/>
              </a:rPr>
              <a:t>If the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is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stressed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it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tests:</a:t>
            </a:r>
          </a:p>
          <a:p>
            <a:pPr marL="742950" lvl="1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rgbClr val="1A1C1F"/>
                </a:solidFill>
                <a:effectLst/>
              </a:rPr>
              <a:t>topology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changes on the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most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relevant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substations</a:t>
            </a:r>
            <a:endParaRPr lang="fr-CH" b="0" i="0" dirty="0">
              <a:solidFill>
                <a:srgbClr val="1A1C1F"/>
              </a:solidFill>
              <a:effectLst/>
            </a:endParaRPr>
          </a:p>
          <a:p>
            <a:pPr marL="742950" lvl="1" indent="-285750" algn="l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rgbClr val="1A1C1F"/>
                </a:solidFill>
                <a:effectLst/>
              </a:rPr>
              <a:t>reconnection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of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disconnected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lines</a:t>
            </a:r>
            <a:endParaRPr lang="fr-CH" b="0" i="0" dirty="0">
              <a:solidFill>
                <a:srgbClr val="1A1C1F"/>
              </a:solidFill>
              <a:effectLst/>
            </a:endParaRPr>
          </a:p>
          <a:p>
            <a:pPr marL="742950" lvl="1" indent="-285750" algn="l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b="0" i="0" dirty="0" err="1">
                <a:solidFill>
                  <a:srgbClr val="1A1C1F"/>
                </a:solidFill>
                <a:effectLst/>
              </a:rPr>
              <a:t>disconnection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of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overloaded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lines</a:t>
            </a:r>
            <a:endParaRPr lang="fr-CH" dirty="0">
              <a:solidFill>
                <a:srgbClr val="1A1C1F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It </a:t>
            </a:r>
            <a:r>
              <a:rPr lang="fr-CH" dirty="0" err="1">
                <a:solidFill>
                  <a:srgbClr val="1A1C1F"/>
                </a:solidFill>
              </a:rPr>
              <a:t>then</a:t>
            </a:r>
            <a:r>
              <a:rPr lang="fr-CH" dirty="0">
                <a:solidFill>
                  <a:srgbClr val="1A1C1F"/>
                </a:solidFill>
              </a:rPr>
              <a:t> selects the action </a:t>
            </a:r>
            <a:r>
              <a:rPr lang="fr-CH" dirty="0" err="1">
                <a:solidFill>
                  <a:srgbClr val="1A1C1F"/>
                </a:solidFill>
              </a:rPr>
              <a:t>that</a:t>
            </a:r>
            <a:r>
              <a:rPr lang="fr-CH" dirty="0">
                <a:solidFill>
                  <a:srgbClr val="1A1C1F"/>
                </a:solidFill>
              </a:rPr>
              <a:t>:</a:t>
            </a:r>
          </a:p>
          <a:p>
            <a:pPr marL="7429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 err="1">
                <a:solidFill>
                  <a:srgbClr val="1A1C1F"/>
                </a:solidFill>
              </a:rPr>
              <a:t>avoids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failure</a:t>
            </a:r>
            <a:endParaRPr lang="fr-CH" dirty="0">
              <a:solidFill>
                <a:srgbClr val="1A1C1F"/>
              </a:solidFill>
            </a:endParaRPr>
          </a:p>
          <a:p>
            <a:pPr marL="7429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 err="1">
                <a:solidFill>
                  <a:srgbClr val="1A1C1F"/>
                </a:solidFill>
              </a:rPr>
              <a:t>minimizes</a:t>
            </a:r>
            <a:r>
              <a:rPr lang="fr-CH" dirty="0">
                <a:solidFill>
                  <a:srgbClr val="1A1C1F"/>
                </a:solidFill>
              </a:rPr>
              <a:t> max rho</a:t>
            </a:r>
          </a:p>
          <a:p>
            <a:pPr marL="7429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 err="1">
                <a:solidFill>
                  <a:srgbClr val="1A1C1F"/>
                </a:solidFill>
              </a:rPr>
              <a:t>Reduces</a:t>
            </a:r>
            <a:r>
              <a:rPr lang="fr-CH" dirty="0">
                <a:solidFill>
                  <a:srgbClr val="1A1C1F"/>
                </a:solidFill>
              </a:rPr>
              <a:t> the </a:t>
            </a:r>
            <a:r>
              <a:rPr lang="fr-CH" dirty="0" err="1">
                <a:solidFill>
                  <a:srgbClr val="1A1C1F"/>
                </a:solidFill>
              </a:rPr>
              <a:t>number</a:t>
            </a:r>
            <a:r>
              <a:rPr lang="fr-CH" dirty="0">
                <a:solidFill>
                  <a:srgbClr val="1A1C1F"/>
                </a:solidFill>
              </a:rPr>
              <a:t> of </a:t>
            </a:r>
            <a:r>
              <a:rPr lang="fr-CH" dirty="0" err="1">
                <a:solidFill>
                  <a:srgbClr val="1A1C1F"/>
                </a:solidFill>
              </a:rPr>
              <a:t>overloaded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lines</a:t>
            </a:r>
            <a:endParaRPr lang="fr-CH" dirty="0">
              <a:solidFill>
                <a:srgbClr val="1A1C1F"/>
              </a:solidFill>
            </a:endParaRPr>
          </a:p>
          <a:p>
            <a:pPr marL="7429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 err="1">
                <a:solidFill>
                  <a:srgbClr val="1A1C1F"/>
                </a:solidFill>
              </a:rPr>
              <a:t>Maximizes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immediate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reward</a:t>
            </a:r>
            <a:endParaRPr lang="fr-CH" dirty="0">
              <a:solidFill>
                <a:srgbClr val="1A1C1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023E06-BB5B-6EE6-473C-265C0F10E826}"/>
              </a:ext>
            </a:extLst>
          </p:cNvPr>
          <p:cNvSpPr txBox="1"/>
          <p:nvPr/>
        </p:nvSpPr>
        <p:spPr>
          <a:xfrm>
            <a:off x="4670933" y="771086"/>
            <a:ext cx="4315619" cy="4000857"/>
          </a:xfrm>
          <a:prstGeom prst="roundRect">
            <a:avLst>
              <a:gd name="adj" fmla="val 1098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575"/>
              </a:lnSpc>
              <a:spcBef>
                <a:spcPts val="600"/>
              </a:spcBef>
            </a:pPr>
            <a:r>
              <a:rPr lang="fr-CH" b="1" dirty="0">
                <a:solidFill>
                  <a:srgbClr val="1A1C1F"/>
                </a:solidFill>
              </a:rPr>
              <a:t>PPO Baseline [11] </a:t>
            </a:r>
            <a:endParaRPr lang="fr-CH" dirty="0">
              <a:solidFill>
                <a:srgbClr val="1A1C1F"/>
              </a:solidFill>
            </a:endParaRPr>
          </a:p>
          <a:p>
            <a:pPr marL="285750" indent="-285750">
              <a:lnSpc>
                <a:spcPts val="1575"/>
              </a:lnSpc>
              <a:spcBef>
                <a:spcPts val="600"/>
              </a:spcBef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The agent </a:t>
            </a:r>
            <a:r>
              <a:rPr lang="fr-CH" dirty="0" err="1">
                <a:solidFill>
                  <a:srgbClr val="1A1C1F"/>
                </a:solidFill>
              </a:rPr>
              <a:t>acts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only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when</a:t>
            </a:r>
            <a:r>
              <a:rPr lang="fr-CH" dirty="0">
                <a:solidFill>
                  <a:srgbClr val="1A1C1F"/>
                </a:solidFill>
              </a:rPr>
              <a:t> </a:t>
            </a:r>
            <a:r>
              <a:rPr lang="el-GR" dirty="0">
                <a:solidFill>
                  <a:srgbClr val="1A1C1F"/>
                </a:solidFill>
              </a:rPr>
              <a:t>ρ_</a:t>
            </a:r>
            <a:r>
              <a:rPr lang="fr-CH" dirty="0">
                <a:solidFill>
                  <a:srgbClr val="1A1C1F"/>
                </a:solidFill>
              </a:rPr>
              <a:t>max &gt; 0.95; </a:t>
            </a:r>
            <a:r>
              <a:rPr lang="fr-CH" dirty="0" err="1">
                <a:solidFill>
                  <a:srgbClr val="1A1C1F"/>
                </a:solidFill>
              </a:rPr>
              <a:t>otherwise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it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does</a:t>
            </a:r>
            <a:r>
              <a:rPr lang="fr-CH" dirty="0">
                <a:solidFill>
                  <a:srgbClr val="1A1C1F"/>
                </a:solidFill>
              </a:rPr>
              <a:t> </a:t>
            </a:r>
            <a:r>
              <a:rPr lang="fr-CH" b="1" dirty="0" err="1">
                <a:solidFill>
                  <a:srgbClr val="1A1C1F"/>
                </a:solidFill>
              </a:rPr>
              <a:t>nothing</a:t>
            </a:r>
            <a:r>
              <a:rPr lang="fr-CH" dirty="0">
                <a:solidFill>
                  <a:srgbClr val="1A1C1F"/>
                </a:solidFill>
              </a:rPr>
              <a:t>.</a:t>
            </a:r>
          </a:p>
          <a:p>
            <a:pPr marL="285750" indent="-285750">
              <a:lnSpc>
                <a:spcPts val="1575"/>
              </a:lnSpc>
              <a:spcBef>
                <a:spcPts val="600"/>
              </a:spcBef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It uses a </a:t>
            </a:r>
            <a:r>
              <a:rPr lang="fr-CH" dirty="0" err="1">
                <a:solidFill>
                  <a:srgbClr val="1A1C1F"/>
                </a:solidFill>
              </a:rPr>
              <a:t>reduced</a:t>
            </a:r>
            <a:r>
              <a:rPr lang="fr-CH" dirty="0">
                <a:solidFill>
                  <a:srgbClr val="1A1C1F"/>
                </a:solidFill>
              </a:rPr>
              <a:t> 133 action </a:t>
            </a:r>
            <a:r>
              <a:rPr lang="fr-CH" dirty="0" err="1">
                <a:solidFill>
                  <a:srgbClr val="1A1C1F"/>
                </a:solidFill>
              </a:rPr>
              <a:t>space</a:t>
            </a:r>
            <a:r>
              <a:rPr lang="fr-CH" dirty="0">
                <a:solidFill>
                  <a:srgbClr val="1A1C1F"/>
                </a:solidFill>
              </a:rPr>
              <a:t>, line </a:t>
            </a:r>
            <a:r>
              <a:rPr lang="fr-CH" dirty="0" err="1">
                <a:solidFill>
                  <a:srgbClr val="1A1C1F"/>
                </a:solidFill>
              </a:rPr>
              <a:t>reconnection</a:t>
            </a:r>
            <a:r>
              <a:rPr lang="fr-CH" dirty="0">
                <a:solidFill>
                  <a:srgbClr val="1A1C1F"/>
                </a:solidFill>
              </a:rPr>
              <a:t>, and </a:t>
            </a:r>
            <a:r>
              <a:rPr lang="fr-CH" b="1" dirty="0">
                <a:solidFill>
                  <a:srgbClr val="1A1C1F"/>
                </a:solidFill>
              </a:rPr>
              <a:t>no</a:t>
            </a:r>
            <a:r>
              <a:rPr lang="fr-CH" dirty="0">
                <a:solidFill>
                  <a:srgbClr val="1A1C1F"/>
                </a:solidFill>
              </a:rPr>
              <a:t> </a:t>
            </a:r>
            <a:r>
              <a:rPr lang="fr-CH" dirty="0" err="1">
                <a:solidFill>
                  <a:srgbClr val="1A1C1F"/>
                </a:solidFill>
              </a:rPr>
              <a:t>revert</a:t>
            </a:r>
            <a:r>
              <a:rPr lang="fr-CH" dirty="0">
                <a:solidFill>
                  <a:srgbClr val="1A1C1F"/>
                </a:solidFill>
              </a:rPr>
              <a:t>-to-</a:t>
            </a:r>
            <a:r>
              <a:rPr lang="fr-CH" dirty="0" err="1">
                <a:solidFill>
                  <a:srgbClr val="1A1C1F"/>
                </a:solidFill>
              </a:rPr>
              <a:t>reference</a:t>
            </a:r>
            <a:r>
              <a:rPr lang="fr-CH" dirty="0">
                <a:solidFill>
                  <a:srgbClr val="1A1C1F"/>
                </a:solidFill>
              </a:rPr>
              <a:t>-</a:t>
            </a:r>
            <a:r>
              <a:rPr lang="fr-CH" dirty="0" err="1">
                <a:solidFill>
                  <a:srgbClr val="1A1C1F"/>
                </a:solidFill>
              </a:rPr>
              <a:t>topology</a:t>
            </a:r>
            <a:r>
              <a:rPr lang="fr-CH" dirty="0">
                <a:solidFill>
                  <a:srgbClr val="1A1C1F"/>
                </a:solidFill>
              </a:rPr>
              <a:t> or simulation-</a:t>
            </a:r>
            <a:r>
              <a:rPr lang="fr-CH" dirty="0" err="1">
                <a:solidFill>
                  <a:srgbClr val="1A1C1F"/>
                </a:solidFill>
              </a:rPr>
              <a:t>based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steering</a:t>
            </a:r>
            <a:r>
              <a:rPr lang="fr-CH" dirty="0">
                <a:solidFill>
                  <a:srgbClr val="1A1C1F"/>
                </a:solidFill>
              </a:rPr>
              <a:t>.</a:t>
            </a:r>
          </a:p>
          <a:p>
            <a:pPr marL="285750" indent="-285750">
              <a:lnSpc>
                <a:spcPts val="1575"/>
              </a:lnSpc>
              <a:spcBef>
                <a:spcPts val="600"/>
              </a:spcBef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The input </a:t>
            </a:r>
            <a:r>
              <a:rPr lang="fr-CH" dirty="0" err="1">
                <a:solidFill>
                  <a:srgbClr val="1A1C1F"/>
                </a:solidFill>
              </a:rPr>
              <a:t>contains</a:t>
            </a:r>
            <a:r>
              <a:rPr lang="fr-CH" dirty="0">
                <a:solidFill>
                  <a:srgbClr val="1A1C1F"/>
                </a:solidFill>
              </a:rPr>
              <a:t> active power </a:t>
            </a:r>
            <a:r>
              <a:rPr lang="fr-CH" dirty="0" err="1">
                <a:solidFill>
                  <a:srgbClr val="1A1C1F"/>
                </a:solidFill>
              </a:rPr>
              <a:t>features</a:t>
            </a:r>
            <a:r>
              <a:rPr lang="fr-CH" dirty="0">
                <a:solidFill>
                  <a:srgbClr val="1A1C1F"/>
                </a:solidFill>
              </a:rPr>
              <a:t>, line </a:t>
            </a:r>
            <a:r>
              <a:rPr lang="fr-CH" dirty="0" err="1">
                <a:solidFill>
                  <a:srgbClr val="1A1C1F"/>
                </a:solidFill>
              </a:rPr>
              <a:t>loads</a:t>
            </a:r>
            <a:r>
              <a:rPr lang="fr-CH" dirty="0">
                <a:solidFill>
                  <a:srgbClr val="1A1C1F"/>
                </a:solidFill>
              </a:rPr>
              <a:t> </a:t>
            </a:r>
            <a:r>
              <a:rPr lang="el-GR" dirty="0">
                <a:solidFill>
                  <a:srgbClr val="1A1C1F"/>
                </a:solidFill>
              </a:rPr>
              <a:t>ρ, </a:t>
            </a:r>
            <a:r>
              <a:rPr lang="fr-CH" dirty="0" err="1">
                <a:solidFill>
                  <a:srgbClr val="1A1C1F"/>
                </a:solidFill>
              </a:rPr>
              <a:t>overflow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timer</a:t>
            </a:r>
            <a:r>
              <a:rPr lang="fr-CH" dirty="0">
                <a:solidFill>
                  <a:srgbClr val="1A1C1F"/>
                </a:solidFill>
              </a:rPr>
              <a:t>, and </a:t>
            </a:r>
            <a:r>
              <a:rPr lang="fr-CH" dirty="0" err="1">
                <a:solidFill>
                  <a:srgbClr val="1A1C1F"/>
                </a:solidFill>
              </a:rPr>
              <a:t>topology</a:t>
            </a:r>
            <a:r>
              <a:rPr lang="fr-CH" dirty="0">
                <a:solidFill>
                  <a:srgbClr val="1A1C1F"/>
                </a:solidFill>
              </a:rPr>
              <a:t> configuration.</a:t>
            </a:r>
          </a:p>
          <a:p>
            <a:pPr marL="285750" indent="-285750">
              <a:lnSpc>
                <a:spcPts val="1575"/>
              </a:lnSpc>
              <a:spcBef>
                <a:spcPts val="600"/>
              </a:spcBef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The </a:t>
            </a:r>
            <a:r>
              <a:rPr lang="fr-CH" dirty="0" err="1">
                <a:solidFill>
                  <a:srgbClr val="1A1C1F"/>
                </a:solidFill>
              </a:rPr>
              <a:t>reward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is</a:t>
            </a:r>
            <a:r>
              <a:rPr lang="fr-CH" dirty="0">
                <a:solidFill>
                  <a:srgbClr val="1A1C1F"/>
                </a:solidFill>
              </a:rPr>
              <a:t> </a:t>
            </a:r>
            <a:r>
              <a:rPr lang="fr-CH" b="1" dirty="0" err="1">
                <a:solidFill>
                  <a:srgbClr val="1A1C1F"/>
                </a:solidFill>
              </a:rPr>
              <a:t>RMargins</a:t>
            </a:r>
            <a:r>
              <a:rPr lang="fr-CH" dirty="0">
                <a:solidFill>
                  <a:srgbClr val="1A1C1F"/>
                </a:solidFill>
              </a:rPr>
              <a:t>, </a:t>
            </a:r>
            <a:r>
              <a:rPr lang="fr-CH" dirty="0" err="1">
                <a:solidFill>
                  <a:srgbClr val="1A1C1F"/>
                </a:solidFill>
              </a:rPr>
              <a:t>encouraging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safe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margins</a:t>
            </a:r>
            <a:r>
              <a:rPr lang="fr-CH" dirty="0">
                <a:solidFill>
                  <a:srgbClr val="1A1C1F"/>
                </a:solidFill>
              </a:rPr>
              <a:t> </a:t>
            </a:r>
            <a:r>
              <a:rPr lang="fr-CH" dirty="0" err="1">
                <a:solidFill>
                  <a:srgbClr val="1A1C1F"/>
                </a:solidFill>
              </a:rPr>
              <a:t>below</a:t>
            </a:r>
            <a:r>
              <a:rPr lang="fr-CH" dirty="0">
                <a:solidFill>
                  <a:srgbClr val="1A1C1F"/>
                </a:solidFill>
              </a:rPr>
              <a:t> thermal </a:t>
            </a:r>
            <a:r>
              <a:rPr lang="fr-CH" dirty="0" err="1">
                <a:solidFill>
                  <a:srgbClr val="1A1C1F"/>
                </a:solidFill>
              </a:rPr>
              <a:t>limits</a:t>
            </a:r>
            <a:r>
              <a:rPr lang="fr-CH" dirty="0">
                <a:solidFill>
                  <a:srgbClr val="1A1C1F"/>
                </a:solidFill>
              </a:rPr>
              <a:t>.</a:t>
            </a:r>
          </a:p>
          <a:p>
            <a:pPr marL="285750" indent="-285750">
              <a:lnSpc>
                <a:spcPts val="1575"/>
              </a:lnSpc>
              <a:spcBef>
                <a:spcPts val="600"/>
              </a:spcBef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The </a:t>
            </a:r>
            <a:r>
              <a:rPr lang="fr-CH" dirty="0" err="1">
                <a:solidFill>
                  <a:srgbClr val="1A1C1F"/>
                </a:solidFill>
              </a:rPr>
              <a:t>policy</a:t>
            </a:r>
            <a:r>
              <a:rPr lang="fr-CH" dirty="0">
                <a:solidFill>
                  <a:srgbClr val="1A1C1F"/>
                </a:solidFill>
              </a:rPr>
              <a:t> network </a:t>
            </a:r>
            <a:r>
              <a:rPr lang="fr-CH" dirty="0" err="1">
                <a:solidFill>
                  <a:srgbClr val="1A1C1F"/>
                </a:solidFill>
              </a:rPr>
              <a:t>is</a:t>
            </a:r>
            <a:r>
              <a:rPr lang="fr-CH" dirty="0">
                <a:solidFill>
                  <a:srgbClr val="1A1C1F"/>
                </a:solidFill>
              </a:rPr>
              <a:t> a </a:t>
            </a:r>
            <a:r>
              <a:rPr lang="fr-CH" b="1" dirty="0">
                <a:solidFill>
                  <a:srgbClr val="1A1C1F"/>
                </a:solidFill>
              </a:rPr>
              <a:t>3-layer FCNN (256-256-256, </a:t>
            </a:r>
            <a:r>
              <a:rPr lang="fr-CH" b="1" dirty="0" err="1">
                <a:solidFill>
                  <a:srgbClr val="1A1C1F"/>
                </a:solidFill>
              </a:rPr>
              <a:t>ReLU</a:t>
            </a:r>
            <a:r>
              <a:rPr lang="fr-CH" b="1" dirty="0">
                <a:solidFill>
                  <a:srgbClr val="1A1C1F"/>
                </a:solidFill>
              </a:rPr>
              <a:t>)</a:t>
            </a:r>
            <a:r>
              <a:rPr lang="fr-CH" dirty="0">
                <a:solidFill>
                  <a:srgbClr val="1A1C1F"/>
                </a:solidFill>
              </a:rPr>
              <a:t>.</a:t>
            </a:r>
          </a:p>
          <a:p>
            <a:pPr marL="285750" indent="-285750">
              <a:lnSpc>
                <a:spcPts val="1575"/>
              </a:lnSpc>
              <a:spcBef>
                <a:spcPts val="600"/>
              </a:spcBef>
              <a:spcAft>
                <a:spcPts val="45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dirty="0">
                <a:solidFill>
                  <a:srgbClr val="1A1C1F"/>
                </a:solidFill>
              </a:rPr>
              <a:t>Training uses </a:t>
            </a:r>
            <a:r>
              <a:rPr lang="fr-CH" b="1" dirty="0">
                <a:solidFill>
                  <a:srgbClr val="1A1C1F"/>
                </a:solidFill>
              </a:rPr>
              <a:t>100k </a:t>
            </a:r>
            <a:r>
              <a:rPr lang="fr-CH" b="1" dirty="0" err="1">
                <a:solidFill>
                  <a:srgbClr val="1A1C1F"/>
                </a:solidFill>
              </a:rPr>
              <a:t>environment</a:t>
            </a:r>
            <a:r>
              <a:rPr lang="fr-CH" b="1" dirty="0">
                <a:solidFill>
                  <a:srgbClr val="1A1C1F"/>
                </a:solidFill>
              </a:rPr>
              <a:t> interactions</a:t>
            </a:r>
            <a:endParaRPr lang="fr-CH" dirty="0">
              <a:solidFill>
                <a:srgbClr val="1A1C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60961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1F78-647D-42B3-2D7A-EA8D26D48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C699A-D40B-B285-2F44-FF1DC91F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Baseline </a:t>
            </a:r>
            <a:r>
              <a:rPr lang="en-US" noProof="0" dirty="0"/>
              <a:t>Results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7E7A58-BDF6-F221-EE07-01351A94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 noProof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D7880AA-73A3-04C3-9D10-4FC7E3932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02751"/>
              </p:ext>
            </p:extLst>
          </p:nvPr>
        </p:nvGraphicFramePr>
        <p:xfrm>
          <a:off x="156116" y="1043700"/>
          <a:ext cx="8831768" cy="3230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971">
                  <a:extLst>
                    <a:ext uri="{9D8B030D-6E8A-4147-A177-3AD203B41FA5}">
                      <a16:colId xmlns:a16="http://schemas.microsoft.com/office/drawing/2014/main" val="182432074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2687860527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2111767136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3570296231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2575132748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1707261703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1193360994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2986488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Nb Episodes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  <a:r>
                        <a:rPr lang="fr-CH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CH" sz="135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% of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Episode survival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Interventions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Safety Violations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5443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 Nothing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1205.4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9035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4610.3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57.2%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45452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8064.0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04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5136.3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63.7%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52082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8444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5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PPO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7040.7</a:t>
                      </a:r>
                      <a:endParaRPr lang="fr-CH" sz="13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87.3%</a:t>
                      </a:r>
                      <a:endParaRPr lang="fr-CH" sz="135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658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19264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51C5-DDD8-C32B-9039-8372C777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05D3B-9B07-4573-62C8-6580877E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References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C9AC55-9F26-916C-E335-C5EFF5F5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283A15-06B8-0027-DDEB-31E69C88F53B}"/>
              </a:ext>
            </a:extLst>
          </p:cNvPr>
          <p:cNvSpPr txBox="1"/>
          <p:nvPr/>
        </p:nvSpPr>
        <p:spPr>
          <a:xfrm>
            <a:off x="399074" y="649962"/>
            <a:ext cx="8488545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[1] </a:t>
            </a:r>
            <a:r>
              <a:rPr lang="fr-CH" sz="1100" b="0" i="0" dirty="0" err="1">
                <a:effectLst/>
              </a:rPr>
              <a:t>Batanero</a:t>
            </a:r>
            <a:r>
              <a:rPr lang="fr-CH" sz="1100" b="0" i="0" dirty="0">
                <a:effectLst/>
              </a:rPr>
              <a:t>, E.A., Fernández, </a:t>
            </a:r>
            <a:r>
              <a:rPr lang="fr-CH" sz="1100" b="0" i="0" dirty="0" err="1">
                <a:effectLst/>
              </a:rPr>
              <a:t>Á</a:t>
            </a:r>
            <a:r>
              <a:rPr lang="fr-CH" sz="1100" b="0" i="0" dirty="0">
                <a:effectLst/>
              </a:rPr>
              <a:t>., </a:t>
            </a:r>
            <a:r>
              <a:rPr lang="fr-CH" sz="1100" b="0" i="0" dirty="0" err="1">
                <a:effectLst/>
              </a:rPr>
              <a:t>Barbero</a:t>
            </a:r>
            <a:r>
              <a:rPr lang="fr-CH" sz="1100" b="0" i="0" dirty="0">
                <a:effectLst/>
              </a:rPr>
              <a:t>, </a:t>
            </a:r>
            <a:r>
              <a:rPr lang="fr-CH" sz="1100" b="0" i="0" dirty="0" err="1">
                <a:effectLst/>
              </a:rPr>
              <a:t>Á</a:t>
            </a:r>
            <a:r>
              <a:rPr lang="fr-CH" sz="1100" b="0" i="0" dirty="0">
                <a:effectLst/>
              </a:rPr>
              <a:t>. Graph-</a:t>
            </a:r>
            <a:r>
              <a:rPr lang="fr-CH" sz="1100" b="0" i="0" dirty="0" err="1">
                <a:effectLst/>
              </a:rPr>
              <a:t>enhanced</a:t>
            </a:r>
            <a:r>
              <a:rPr lang="fr-CH" sz="1100" b="0" i="0" dirty="0">
                <a:effectLst/>
              </a:rPr>
              <a:t> model-free </a:t>
            </a:r>
            <a:r>
              <a:rPr lang="fr-CH" sz="1100" b="0" i="0" dirty="0" err="1">
                <a:effectLst/>
              </a:rPr>
              <a:t>reinforcement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learning</a:t>
            </a:r>
            <a:r>
              <a:rPr lang="fr-CH" sz="1100" b="0" i="0" dirty="0">
                <a:effectLst/>
              </a:rPr>
              <a:t> agents for efficient power </a:t>
            </a:r>
            <a:r>
              <a:rPr lang="fr-CH" sz="1100" b="0" i="0" dirty="0" err="1">
                <a:effectLst/>
              </a:rPr>
              <a:t>grid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topological</a:t>
            </a:r>
            <a:r>
              <a:rPr lang="fr-CH" sz="1100" b="0" i="0" dirty="0">
                <a:effectLst/>
              </a:rPr>
              <a:t> control (2025)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</a:t>
            </a:r>
            <a:r>
              <a:rPr lang="fr-CH" sz="1100" b="1" dirty="0"/>
              <a:t>2</a:t>
            </a:r>
            <a:r>
              <a:rPr lang="fr-CH" sz="1100" b="1" i="0" dirty="0">
                <a:effectLst/>
              </a:rPr>
              <a:t>] </a:t>
            </a:r>
            <a:r>
              <a:rPr lang="fr-CH" sz="1100" b="0" i="0" dirty="0">
                <a:effectLst/>
              </a:rPr>
              <a:t>Fabrizio, C., </a:t>
            </a:r>
            <a:r>
              <a:rPr lang="fr-CH" sz="1100" b="0" i="0" dirty="0" err="1">
                <a:effectLst/>
              </a:rPr>
              <a:t>Losapio</a:t>
            </a:r>
            <a:r>
              <a:rPr lang="fr-CH" sz="1100" b="0" i="0" dirty="0">
                <a:effectLst/>
              </a:rPr>
              <a:t>, G., </a:t>
            </a:r>
            <a:r>
              <a:rPr lang="fr-CH" sz="1100" b="0" i="0" dirty="0" err="1">
                <a:effectLst/>
              </a:rPr>
              <a:t>Mussi</a:t>
            </a:r>
            <a:r>
              <a:rPr lang="fr-CH" sz="1100" b="0" i="0" dirty="0">
                <a:effectLst/>
              </a:rPr>
              <a:t>, M., </a:t>
            </a:r>
            <a:r>
              <a:rPr lang="fr-CH" sz="1100" b="0" i="0" dirty="0" err="1">
                <a:effectLst/>
              </a:rPr>
              <a:t>Metelli</a:t>
            </a:r>
            <a:r>
              <a:rPr lang="fr-CH" sz="1100" b="0" i="0" dirty="0">
                <a:effectLst/>
              </a:rPr>
              <a:t>, A.M., </a:t>
            </a:r>
            <a:r>
              <a:rPr lang="fr-CH" sz="1100" b="0" i="0" dirty="0" err="1">
                <a:effectLst/>
              </a:rPr>
              <a:t>Restelli</a:t>
            </a:r>
            <a:r>
              <a:rPr lang="fr-CH" sz="1100" b="0" i="0" dirty="0">
                <a:effectLst/>
              </a:rPr>
              <a:t>, M. Power </a:t>
            </a:r>
            <a:r>
              <a:rPr lang="fr-CH" sz="1100" b="0" i="0" dirty="0" err="1">
                <a:effectLst/>
              </a:rPr>
              <a:t>grid</a:t>
            </a:r>
            <a:r>
              <a:rPr lang="fr-CH" sz="1100" b="0" i="0" dirty="0">
                <a:effectLst/>
              </a:rPr>
              <a:t> control </a:t>
            </a:r>
            <a:r>
              <a:rPr lang="fr-CH" sz="1100" b="0" i="0" dirty="0" err="1">
                <a:effectLst/>
              </a:rPr>
              <a:t>with</a:t>
            </a:r>
            <a:r>
              <a:rPr lang="fr-CH" sz="1100" b="0" i="0" dirty="0">
                <a:effectLst/>
              </a:rPr>
              <a:t> graph-</a:t>
            </a:r>
            <a:r>
              <a:rPr lang="fr-CH" sz="1100" b="0" i="0" dirty="0" err="1">
                <a:effectLst/>
              </a:rPr>
              <a:t>based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distributed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reinforcement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learning</a:t>
            </a:r>
            <a:r>
              <a:rPr lang="fr-CH" sz="1100" b="0" i="0" dirty="0">
                <a:effectLst/>
              </a:rPr>
              <a:t> (2025)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[3] </a:t>
            </a:r>
            <a:r>
              <a:rPr lang="fr-CH" sz="1100" b="0" i="0" dirty="0">
                <a:effectLst/>
              </a:rPr>
              <a:t>Qiu, Z., Zhao, Y., Shi, W., Su, F., Zhu, Z. Distribution Network </a:t>
            </a:r>
            <a:r>
              <a:rPr lang="fr-CH" sz="1100" b="0" i="0" dirty="0" err="1">
                <a:effectLst/>
              </a:rPr>
              <a:t>Topology</a:t>
            </a:r>
            <a:r>
              <a:rPr lang="fr-CH" sz="1100" b="0" i="0" dirty="0">
                <a:effectLst/>
              </a:rPr>
              <a:t> Control </a:t>
            </a:r>
            <a:r>
              <a:rPr lang="fr-CH" sz="1100" b="0" i="0" dirty="0" err="1">
                <a:effectLst/>
              </a:rPr>
              <a:t>Using</a:t>
            </a:r>
            <a:r>
              <a:rPr lang="fr-CH" sz="1100" b="0" i="0" dirty="0">
                <a:effectLst/>
              </a:rPr>
              <a:t> Attention </a:t>
            </a:r>
            <a:r>
              <a:rPr lang="fr-CH" sz="1100" b="0" i="0" dirty="0" err="1">
                <a:effectLst/>
              </a:rPr>
              <a:t>Mechanism-Based</a:t>
            </a:r>
            <a:r>
              <a:rPr lang="fr-CH" sz="1100" b="0" i="0" dirty="0">
                <a:effectLst/>
              </a:rPr>
              <a:t> Deep </a:t>
            </a:r>
            <a:r>
              <a:rPr lang="fr-CH" sz="1100" b="0" i="0" dirty="0" err="1">
                <a:effectLst/>
              </a:rPr>
              <a:t>Reinforcement</a:t>
            </a:r>
            <a:r>
              <a:rPr lang="fr-CH" sz="1100" b="0" i="0" dirty="0">
                <a:effectLst/>
              </a:rPr>
              <a:t> Learning (2022)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[4] </a:t>
            </a:r>
            <a:r>
              <a:rPr lang="fr-CH" sz="1100" b="0" i="0" dirty="0">
                <a:effectLst/>
              </a:rPr>
              <a:t>Sar, E., </a:t>
            </a:r>
            <a:r>
              <a:rPr lang="fr-CH" sz="1100" b="0" i="0" dirty="0" err="1">
                <a:effectLst/>
              </a:rPr>
              <a:t>Zocca</a:t>
            </a:r>
            <a:r>
              <a:rPr lang="fr-CH" sz="1100" b="0" i="0" dirty="0">
                <a:effectLst/>
              </a:rPr>
              <a:t>, A., </a:t>
            </a:r>
            <a:r>
              <a:rPr lang="fr-CH" sz="1100" b="0" i="0" dirty="0" err="1">
                <a:effectLst/>
              </a:rPr>
              <a:t>Bhulai</a:t>
            </a:r>
            <a:r>
              <a:rPr lang="fr-CH" sz="1100" b="0" i="0" dirty="0">
                <a:effectLst/>
              </a:rPr>
              <a:t>, S. Multi-Agent </a:t>
            </a:r>
            <a:r>
              <a:rPr lang="fr-CH" sz="1100" b="0" i="0" dirty="0" err="1">
                <a:effectLst/>
              </a:rPr>
              <a:t>Reinforcement</a:t>
            </a:r>
            <a:r>
              <a:rPr lang="fr-CH" sz="1100" b="0" i="0" dirty="0">
                <a:effectLst/>
              </a:rPr>
              <a:t> Learning for Power </a:t>
            </a:r>
            <a:r>
              <a:rPr lang="fr-CH" sz="1100" b="0" i="0" dirty="0" err="1">
                <a:effectLst/>
              </a:rPr>
              <a:t>Grid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Topology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Optimization</a:t>
            </a:r>
            <a:r>
              <a:rPr lang="fr-CH" sz="1100" b="0" i="0" dirty="0">
                <a:effectLst/>
              </a:rPr>
              <a:t> (2023)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[5] </a:t>
            </a:r>
            <a:r>
              <a:rPr lang="fr-CH" sz="1100" b="0" i="0" dirty="0">
                <a:effectLst/>
              </a:rPr>
              <a:t>Taha, S., </a:t>
            </a:r>
            <a:r>
              <a:rPr lang="fr-CH" sz="1100" b="0" i="0" dirty="0" err="1">
                <a:effectLst/>
              </a:rPr>
              <a:t>Poland</a:t>
            </a:r>
            <a:r>
              <a:rPr lang="fr-CH" sz="1100" b="0" i="0" dirty="0">
                <a:effectLst/>
              </a:rPr>
              <a:t>, J., </a:t>
            </a:r>
            <a:r>
              <a:rPr lang="fr-CH" sz="1100" b="0" i="0" dirty="0" err="1">
                <a:effectLst/>
              </a:rPr>
              <a:t>Knezovic</a:t>
            </a:r>
            <a:r>
              <a:rPr lang="fr-CH" sz="1100" b="0" i="0" dirty="0">
                <a:effectLst/>
              </a:rPr>
              <a:t>, K., </a:t>
            </a:r>
            <a:r>
              <a:rPr lang="fr-CH" sz="1100" b="0" i="0" dirty="0" err="1">
                <a:effectLst/>
              </a:rPr>
              <a:t>Shchetinin</a:t>
            </a:r>
            <a:r>
              <a:rPr lang="fr-CH" sz="1100" b="0" i="0" dirty="0">
                <a:effectLst/>
              </a:rPr>
              <a:t>, D. Learning to Run a Power Network </a:t>
            </a:r>
            <a:r>
              <a:rPr lang="fr-CH" sz="1100" b="0" i="0" dirty="0" err="1">
                <a:effectLst/>
              </a:rPr>
              <a:t>under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Varying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Grid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Topology</a:t>
            </a:r>
            <a:r>
              <a:rPr lang="fr-CH" sz="1100" b="0" i="0" dirty="0">
                <a:effectLst/>
              </a:rPr>
              <a:t> (2022)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[6] </a:t>
            </a:r>
            <a:r>
              <a:rPr lang="fr-CH" sz="1100" b="0" i="0" dirty="0">
                <a:effectLst/>
              </a:rPr>
              <a:t>Xu, P., Duan, J., Zhang, J., Pei, Y., Shi, D., Wang, Z., Dong, X., Sun, Y. Active Power Correction </a:t>
            </a:r>
            <a:r>
              <a:rPr lang="fr-CH" sz="1100" b="0" i="0" dirty="0" err="1">
                <a:effectLst/>
              </a:rPr>
              <a:t>Strategies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Based</a:t>
            </a:r>
            <a:r>
              <a:rPr lang="fr-CH" sz="1100" b="0" i="0" dirty="0">
                <a:effectLst/>
              </a:rPr>
              <a:t> on Deep </a:t>
            </a:r>
            <a:r>
              <a:rPr lang="fr-CH" sz="1100" b="0" i="0" dirty="0" err="1">
                <a:effectLst/>
              </a:rPr>
              <a:t>Reinforcement</a:t>
            </a:r>
            <a:r>
              <a:rPr lang="fr-CH" sz="1100" b="0" i="0" dirty="0">
                <a:effectLst/>
              </a:rPr>
              <a:t> Learning—Part I: A Simulation-</a:t>
            </a:r>
            <a:r>
              <a:rPr lang="fr-CH" sz="1100" b="0" i="0" dirty="0" err="1">
                <a:effectLst/>
              </a:rPr>
              <a:t>driven</a:t>
            </a:r>
            <a:r>
              <a:rPr lang="fr-CH" sz="1100" b="0" i="0" dirty="0">
                <a:effectLst/>
              </a:rPr>
              <a:t> Solution for </a:t>
            </a:r>
            <a:r>
              <a:rPr lang="fr-CH" sz="1100" b="0" i="0" dirty="0" err="1">
                <a:effectLst/>
              </a:rPr>
              <a:t>Robustness</a:t>
            </a:r>
            <a:r>
              <a:rPr lang="fr-CH" sz="1100" b="0" i="0" dirty="0">
                <a:effectLst/>
              </a:rPr>
              <a:t> (2022)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[7] </a:t>
            </a:r>
            <a:r>
              <a:rPr lang="fr-CH" sz="1100" b="0" i="0" dirty="0">
                <a:effectLst/>
              </a:rPr>
              <a:t>Xu, P., Pei, Y., Zheng, X., Zhang, J. A simulation-</a:t>
            </a:r>
            <a:r>
              <a:rPr lang="fr-CH" sz="1100" b="0" i="0" dirty="0" err="1">
                <a:effectLst/>
              </a:rPr>
              <a:t>constraint</a:t>
            </a:r>
            <a:r>
              <a:rPr lang="fr-CH" sz="1100" b="0" i="0" dirty="0">
                <a:effectLst/>
              </a:rPr>
              <a:t> graph </a:t>
            </a:r>
            <a:r>
              <a:rPr lang="fr-CH" sz="1100" b="0" i="0" dirty="0" err="1">
                <a:effectLst/>
              </a:rPr>
              <a:t>reinforcement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learning</a:t>
            </a:r>
            <a:r>
              <a:rPr lang="fr-CH" sz="1100" b="0" i="0" dirty="0">
                <a:effectLst/>
              </a:rPr>
              <a:t> </a:t>
            </a:r>
            <a:r>
              <a:rPr lang="fr-CH" sz="1100" b="0" i="0" dirty="0" err="1">
                <a:effectLst/>
              </a:rPr>
              <a:t>method</a:t>
            </a:r>
            <a:r>
              <a:rPr lang="fr-CH" sz="1100" b="0" i="0" dirty="0">
                <a:effectLst/>
              </a:rPr>
              <a:t> for line flow control (2020)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i="0" dirty="0">
                <a:effectLst/>
              </a:rPr>
              <a:t>[8] </a:t>
            </a:r>
            <a:r>
              <a:rPr lang="fr-CH" sz="1100" b="0" i="0" dirty="0">
                <a:effectLst/>
              </a:rPr>
              <a:t>Yoon, D., Hong, S., Lee, B.J., Kim, K.E. </a:t>
            </a:r>
            <a:r>
              <a:rPr lang="fr-CH" sz="1100" b="0" i="0" dirty="0" err="1">
                <a:effectLst/>
              </a:rPr>
              <a:t>Winning</a:t>
            </a:r>
            <a:r>
              <a:rPr lang="fr-CH" sz="1100" b="0" i="0" dirty="0">
                <a:effectLst/>
              </a:rPr>
              <a:t> the L2RPN Challenge: Power </a:t>
            </a:r>
            <a:r>
              <a:rPr lang="fr-CH" sz="1100" b="0" i="0" dirty="0" err="1">
                <a:effectLst/>
              </a:rPr>
              <a:t>Grid</a:t>
            </a:r>
            <a:r>
              <a:rPr lang="fr-CH" sz="1100" b="0" i="0" dirty="0">
                <a:effectLst/>
              </a:rPr>
              <a:t> Management via Semi-Markov </a:t>
            </a:r>
            <a:r>
              <a:rPr lang="fr-CH" sz="1100" b="0" i="0" dirty="0" err="1">
                <a:effectLst/>
              </a:rPr>
              <a:t>Afterstate</a:t>
            </a:r>
            <a:r>
              <a:rPr lang="fr-CH" sz="1100" b="0" i="0" dirty="0">
                <a:effectLst/>
              </a:rPr>
              <a:t> Actor-</a:t>
            </a:r>
            <a:r>
              <a:rPr lang="fr-CH" sz="1100" b="0" i="0" dirty="0" err="1">
                <a:effectLst/>
              </a:rPr>
              <a:t>Critic</a:t>
            </a:r>
            <a:r>
              <a:rPr lang="fr-CH" sz="1100" b="0" i="0" dirty="0">
                <a:effectLst/>
              </a:rPr>
              <a:t> (2021)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dirty="0"/>
              <a:t>[9] </a:t>
            </a:r>
            <a:r>
              <a:rPr lang="fr-CH" sz="1100" dirty="0"/>
              <a:t>Zhao, Y., Liu, J., Liu, X., Yuan, K., Ren, K., Yang, M. A graph-</a:t>
            </a:r>
            <a:r>
              <a:rPr lang="fr-CH" sz="1100" dirty="0" err="1"/>
              <a:t>based</a:t>
            </a:r>
            <a:r>
              <a:rPr lang="fr-CH" sz="1100" dirty="0"/>
              <a:t> </a:t>
            </a:r>
            <a:r>
              <a:rPr lang="fr-CH" sz="1100" dirty="0" err="1"/>
              <a:t>deep</a:t>
            </a:r>
            <a:r>
              <a:rPr lang="fr-CH" sz="1100" dirty="0"/>
              <a:t> </a:t>
            </a:r>
            <a:r>
              <a:rPr lang="fr-CH" sz="1100" dirty="0" err="1"/>
              <a:t>reinforcement</a:t>
            </a:r>
            <a:r>
              <a:rPr lang="fr-CH" sz="1100" dirty="0"/>
              <a:t> </a:t>
            </a:r>
            <a:r>
              <a:rPr lang="fr-CH" sz="1100" dirty="0" err="1"/>
              <a:t>learning</a:t>
            </a:r>
            <a:r>
              <a:rPr lang="fr-CH" sz="1100" dirty="0"/>
              <a:t> </a:t>
            </a:r>
            <a:r>
              <a:rPr lang="fr-CH" sz="1100" dirty="0" err="1"/>
              <a:t>framework</a:t>
            </a:r>
            <a:r>
              <a:rPr lang="fr-CH" sz="1100" dirty="0"/>
              <a:t> for </a:t>
            </a:r>
            <a:r>
              <a:rPr lang="fr-CH" sz="1100" dirty="0" err="1"/>
              <a:t>autonomous</a:t>
            </a:r>
            <a:r>
              <a:rPr lang="fr-CH" sz="1100" dirty="0"/>
              <a:t> power dispatch on power </a:t>
            </a:r>
            <a:r>
              <a:rPr lang="fr-CH" sz="1100" dirty="0" err="1"/>
              <a:t>systems</a:t>
            </a:r>
            <a:r>
              <a:rPr lang="fr-CH" sz="1100" dirty="0"/>
              <a:t> </a:t>
            </a:r>
            <a:r>
              <a:rPr lang="fr-CH" sz="1100" dirty="0" err="1"/>
              <a:t>with</a:t>
            </a:r>
            <a:r>
              <a:rPr lang="fr-CH" sz="1100" dirty="0"/>
              <a:t> </a:t>
            </a:r>
            <a:r>
              <a:rPr lang="fr-CH" sz="1100" dirty="0" err="1"/>
              <a:t>changing</a:t>
            </a:r>
            <a:r>
              <a:rPr lang="fr-CH" sz="1100" dirty="0"/>
              <a:t> topologies (2022)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H" sz="1100" b="1" dirty="0"/>
              <a:t>[10] </a:t>
            </a:r>
            <a:r>
              <a:rPr lang="fr-CH" sz="1100" dirty="0" err="1"/>
              <a:t>Marchesini</a:t>
            </a:r>
            <a:r>
              <a:rPr lang="fr-CH" sz="1100" dirty="0"/>
              <a:t>, E., </a:t>
            </a:r>
            <a:r>
              <a:rPr lang="fr-CH" sz="1100" dirty="0" err="1"/>
              <a:t>Boguslawski</a:t>
            </a:r>
            <a:r>
              <a:rPr lang="fr-CH" sz="1100" dirty="0"/>
              <a:t>, E., </a:t>
            </a:r>
            <a:r>
              <a:rPr lang="fr-CH" sz="1100" dirty="0" err="1"/>
              <a:t>Leite</a:t>
            </a:r>
            <a:r>
              <a:rPr lang="fr-CH" sz="1100" dirty="0"/>
              <a:t>, A., Amato, C., </a:t>
            </a:r>
            <a:r>
              <a:rPr lang="fr-CH" sz="1100" dirty="0" err="1"/>
              <a:t>Dussartre</a:t>
            </a:r>
            <a:r>
              <a:rPr lang="fr-CH" sz="1100" dirty="0"/>
              <a:t>, M., </a:t>
            </a:r>
            <a:r>
              <a:rPr lang="fr-CH" sz="1100" dirty="0" err="1"/>
              <a:t>Schoenauer</a:t>
            </a:r>
            <a:r>
              <a:rPr lang="fr-CH" sz="1100" dirty="0"/>
              <a:t>, M., </a:t>
            </a:r>
            <a:r>
              <a:rPr lang="fr-CH" sz="1100" dirty="0" err="1"/>
              <a:t>Donnot</a:t>
            </a:r>
            <a:r>
              <a:rPr lang="fr-CH" sz="1100" dirty="0"/>
              <a:t>, B., </a:t>
            </a:r>
            <a:r>
              <a:rPr lang="fr-CH" sz="1100" dirty="0" err="1"/>
              <a:t>Donti</a:t>
            </a:r>
            <a:r>
              <a:rPr lang="fr-CH" sz="1100" dirty="0"/>
              <a:t>, P.L. MARL2GRID-TR: A Multi-Agent RL Benchmark in Power </a:t>
            </a:r>
            <a:r>
              <a:rPr lang="fr-CH" sz="1100" dirty="0" err="1"/>
              <a:t>Grid</a:t>
            </a:r>
            <a:r>
              <a:rPr lang="fr-CH" sz="1100" dirty="0"/>
              <a:t> Operations (2026)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altLang="fr-FR" sz="1100" b="1" dirty="0"/>
              <a:t>[11]</a:t>
            </a:r>
            <a:r>
              <a:rPr lang="fr-FR" altLang="fr-FR" sz="1100" dirty="0"/>
              <a:t> van der Sar, E., </a:t>
            </a:r>
            <a:r>
              <a:rPr lang="fr-FR" altLang="fr-FR" sz="1100" dirty="0" err="1"/>
              <a:t>Zocca</a:t>
            </a:r>
            <a:r>
              <a:rPr lang="fr-FR" altLang="fr-FR" sz="1100" dirty="0"/>
              <a:t>, A., </a:t>
            </a:r>
            <a:r>
              <a:rPr lang="fr-FR" altLang="fr-FR" sz="1100" dirty="0" err="1"/>
              <a:t>Bhulai</a:t>
            </a:r>
            <a:r>
              <a:rPr lang="fr-FR" altLang="fr-FR" sz="1100" dirty="0"/>
              <a:t>, S. </a:t>
            </a:r>
            <a:r>
              <a:rPr lang="fr-FR" altLang="fr-FR" sz="1100" i="1" dirty="0" err="1"/>
              <a:t>Optimizing</a:t>
            </a:r>
            <a:r>
              <a:rPr lang="fr-FR" altLang="fr-FR" sz="1100" i="1" dirty="0"/>
              <a:t> Power </a:t>
            </a:r>
            <a:r>
              <a:rPr lang="fr-FR" altLang="fr-FR" sz="1100" i="1" dirty="0" err="1"/>
              <a:t>Grid</a:t>
            </a:r>
            <a:r>
              <a:rPr lang="fr-FR" altLang="fr-FR" sz="1100" i="1" dirty="0"/>
              <a:t> Topologies </a:t>
            </a:r>
            <a:r>
              <a:rPr lang="fr-FR" altLang="fr-FR" sz="1100" i="1" dirty="0" err="1"/>
              <a:t>with</a:t>
            </a:r>
            <a:r>
              <a:rPr lang="fr-FR" altLang="fr-FR" sz="1100" i="1" dirty="0"/>
              <a:t> </a:t>
            </a:r>
            <a:r>
              <a:rPr lang="fr-FR" altLang="fr-FR" sz="1100" i="1" dirty="0" err="1"/>
              <a:t>Reinforcement</a:t>
            </a:r>
            <a:r>
              <a:rPr lang="fr-FR" altLang="fr-FR" sz="1100" i="1" dirty="0"/>
              <a:t> Learning: A Survey of Methods and Challenges</a:t>
            </a:r>
            <a:r>
              <a:rPr lang="fr-FR" altLang="fr-FR" sz="1100" dirty="0"/>
              <a:t> (2025).</a:t>
            </a:r>
          </a:p>
        </p:txBody>
      </p:sp>
    </p:spTree>
    <p:extLst>
      <p:ext uri="{BB962C8B-B14F-4D97-AF65-F5344CB8AC3E}">
        <p14:creationId xmlns:p14="http://schemas.microsoft.com/office/powerpoint/2010/main" val="5287470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6100</TotalTime>
  <Words>2945</Words>
  <Application>Microsoft Macintosh PowerPoint</Application>
  <PresentationFormat>Affichage à l'écran (16:9)</PresentationFormat>
  <Paragraphs>454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Franklin Gothic Demi Cond</vt:lpstr>
      <vt:lpstr>Wingdings</vt:lpstr>
      <vt:lpstr>Thème Office</vt:lpstr>
      <vt:lpstr>Graph-Structured Multi-Agent Reinforcement Learning for Power Grid Topology Control</vt:lpstr>
      <vt:lpstr>Why This Thesis Topic</vt:lpstr>
      <vt:lpstr>Short Literature Review</vt:lpstr>
      <vt:lpstr>Dive Into the Main Solutions Developped</vt:lpstr>
      <vt:lpstr>Dive Into the Main Solutions Developped</vt:lpstr>
      <vt:lpstr>MARL2Grid: Multi-Agent RL for Power Grid Control [10]</vt:lpstr>
      <vt:lpstr>Research Gap</vt:lpstr>
      <vt:lpstr>Thesis Refinement</vt:lpstr>
      <vt:lpstr>Method Overview</vt:lpstr>
      <vt:lpstr>Timeline</vt:lpstr>
      <vt:lpstr>Agent logic</vt:lpstr>
      <vt:lpstr>Baseline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Corentin Stéphane Marin Plumet</cp:lastModifiedBy>
  <cp:revision>11</cp:revision>
  <cp:lastPrinted>2019-06-19T13:21:30Z</cp:lastPrinted>
  <dcterms:created xsi:type="dcterms:W3CDTF">2019-04-02T06:24:35Z</dcterms:created>
  <dcterms:modified xsi:type="dcterms:W3CDTF">2026-05-09T07:42:12Z</dcterms:modified>
</cp:coreProperties>
</file>