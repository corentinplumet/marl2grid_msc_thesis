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147470169" r:id="rId3"/>
    <p:sldId id="2147470157" r:id="rId4"/>
    <p:sldId id="2147470162" r:id="rId5"/>
    <p:sldId id="2147470166" r:id="rId6"/>
    <p:sldId id="2147470130" r:id="rId7"/>
    <p:sldId id="2147470168" r:id="rId8"/>
    <p:sldId id="2147470159" r:id="rId9"/>
    <p:sldId id="2417" r:id="rId10"/>
    <p:sldId id="2147470167" r:id="rId11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BF3FFFD-C098-4740-BA83-AF7494E26753}">
          <p14:sldIdLst>
            <p14:sldId id="256"/>
            <p14:sldId id="2147470169"/>
            <p14:sldId id="2147470157"/>
            <p14:sldId id="2147470162"/>
            <p14:sldId id="2147470166"/>
            <p14:sldId id="2147470130"/>
            <p14:sldId id="2147470168"/>
            <p14:sldId id="2147470159"/>
            <p14:sldId id="2417"/>
            <p14:sldId id="21474701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373" userDrawn="1">
          <p15:clr>
            <a:srgbClr val="A4A3A4"/>
          </p15:clr>
        </p15:guide>
        <p15:guide id="4" pos="136" userDrawn="1">
          <p15:clr>
            <a:srgbClr val="A4A3A4"/>
          </p15:clr>
        </p15:guide>
        <p15:guide id="5" pos="419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0D8"/>
    <a:srgbClr val="00677B"/>
    <a:srgbClr val="070707"/>
    <a:srgbClr val="BFD730"/>
    <a:srgbClr val="4B8FCC"/>
    <a:srgbClr val="5C2D91"/>
    <a:srgbClr val="F1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/>
    <p:restoredTop sz="94591"/>
  </p:normalViewPr>
  <p:slideViewPr>
    <p:cSldViewPr snapToGrid="0">
      <p:cViewPr>
        <p:scale>
          <a:sx n="128" d="100"/>
          <a:sy n="128" d="100"/>
        </p:scale>
        <p:origin x="1488" y="656"/>
      </p:cViewPr>
      <p:guideLst>
        <p:guide orient="horz" pos="15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90"/>
        <p:guide pos="2160"/>
        <p:guide orient="horz" pos="373"/>
        <p:guide pos="136"/>
        <p:guide pos="41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NAME EVENT / NAME PRESENTATION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65E91-54C5-BF47-91BF-2E2A520F920D}" type="datetime1">
              <a:rPr lang="fr-CH" smtClean="0">
                <a:latin typeface="Arial" panose="020B0604020202020204" pitchFamily="34" charset="0"/>
              </a:rPr>
              <a:t>21.04.26</a:t>
            </a:fld>
            <a:endParaRPr lang="fr-CH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Speaker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‹N°›</a:t>
            </a:fld>
            <a:endParaRPr lang="fr-CH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NAME EVENT / NAME PRESENTATION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701F3EA-C8BD-D544-8519-665215575D25}" type="datetime1">
              <a:rPr lang="fr-CH" smtClean="0"/>
              <a:t>21.04.26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0518" y="619273"/>
            <a:ext cx="6436964" cy="36207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210518" y="4400549"/>
            <a:ext cx="6436964" cy="420100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1138" y="619125"/>
            <a:ext cx="6435725" cy="36210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08DC05-305F-594F-9F18-9CF1E4DB5A2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43D6B9-C04C-0640-9F0E-12EE3DC37A82}" type="datetime1">
              <a:rPr lang="fr-CH" smtClean="0"/>
              <a:t>21.04.26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2F41A5-B12E-1843-83F7-B86B38C0CE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e l'en-tête 6">
            <a:extLst>
              <a:ext uri="{FF2B5EF4-FFF2-40B4-BE49-F238E27FC236}">
                <a16:creationId xmlns:a16="http://schemas.microsoft.com/office/drawing/2014/main" id="{4D206A73-DDB0-2740-9475-00E48E475A1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NAME EVENT / NAME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04361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Facul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en-GB" noProof="0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Modifiez le style du titre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/>
              <a:t>Modifiez le style des sous-titres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en-GB" noProof="0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EPF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5041849-939B-E04F-AABC-A900B2B4E3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25" y="4579268"/>
            <a:ext cx="561543" cy="3673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865CD0-FD83-AF44-9C32-763AAD652C05}"/>
              </a:ext>
            </a:extLst>
          </p:cNvPr>
          <p:cNvSpPr/>
          <p:nvPr userDrawn="1"/>
        </p:nvSpPr>
        <p:spPr>
          <a:xfrm rot="16200000">
            <a:off x="89679" y="4591427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6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5" orient="horz" pos="123">
          <p15:clr>
            <a:srgbClr val="FBAE40"/>
          </p15:clr>
        </p15:guide>
        <p15:guide id="6" orient="horz" pos="3117">
          <p15:clr>
            <a:srgbClr val="FBAE40"/>
          </p15:clr>
        </p15:guide>
        <p15:guide id="7" pos="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5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Image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6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4" y="2571751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WELCOME TO EPFL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48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7955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en-GB" noProof="0"/>
              <a:t>Modifiez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en-GB" noProof="0"/>
              <a:t>Modifier les styles du </a:t>
            </a:r>
            <a:r>
              <a:rPr lang="en-GB" noProof="0" err="1"/>
              <a:t>texte</a:t>
            </a:r>
            <a:r>
              <a:rPr lang="en-GB" noProof="0"/>
              <a:t> du masque</a:t>
            </a:r>
          </a:p>
          <a:p>
            <a:pPr lvl="1"/>
            <a:r>
              <a:rPr lang="en-GB" noProof="0" err="1"/>
              <a:t>Deuxième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Troisième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r>
              <a:rPr lang="en-GB" noProof="0"/>
              <a:t>
</a:t>
            </a:r>
            <a:r>
              <a:rPr lang="en-GB" noProof="0" err="1"/>
              <a:t>Quatrième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r>
              <a:rPr lang="en-GB" noProof="0"/>
              <a:t>
</a:t>
            </a:r>
            <a:r>
              <a:rPr lang="en-GB" noProof="0" err="1"/>
              <a:t>Cinquième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 noProof="0"/>
              <a:t>WELCOME TO EPFL</a:t>
            </a:r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noProof="0"/>
              <a:t>Speaker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en-GB" noProof="0" smtClean="0"/>
              <a:pPr/>
              <a:t>‹N°›</a:t>
            </a:fld>
            <a:endParaRPr lang="en-GB" noProof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4" r:id="rId2"/>
    <p:sldLayoutId id="2147483663" r:id="rId3"/>
    <p:sldLayoutId id="2147483681" r:id="rId4"/>
    <p:sldLayoutId id="2147483673" r:id="rId5"/>
    <p:sldLayoutId id="2147483685" r:id="rId6"/>
    <p:sldLayoutId id="2147483662" r:id="rId7"/>
    <p:sldLayoutId id="2147483674" r:id="rId8"/>
    <p:sldLayoutId id="2147483675" r:id="rId9"/>
    <p:sldLayoutId id="2147483676" r:id="rId10"/>
    <p:sldLayoutId id="2147483664" r:id="rId11"/>
    <p:sldLayoutId id="2147483666" r:id="rId12"/>
    <p:sldLayoutId id="2147483677" r:id="rId13"/>
    <p:sldLayoutId id="2147483678" r:id="rId14"/>
    <p:sldLayoutId id="2147483679" r:id="rId15"/>
    <p:sldLayoutId id="2147483667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E77B827-BF2D-1ADD-C70B-598754D88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4" t="6047" r="6904" b="5735"/>
          <a:stretch/>
        </p:blipFill>
        <p:spPr>
          <a:xfrm>
            <a:off x="1198414" y="77771"/>
            <a:ext cx="7945586" cy="4987957"/>
          </a:xfrm>
          <a:prstGeom prst="rect">
            <a:avLst/>
          </a:prstGeo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6AF2DA65-CF00-774A-9D7C-EEFA627B2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499" y="785335"/>
            <a:ext cx="4430598" cy="1920159"/>
          </a:xfrm>
        </p:spPr>
        <p:txBody>
          <a:bodyPr anchor="ctr">
            <a:normAutofit/>
          </a:bodyPr>
          <a:lstStyle/>
          <a:p>
            <a:r>
              <a:rPr lang="en-US" sz="2800" noProof="0"/>
              <a:t>Research Plan:</a:t>
            </a:r>
          </a:p>
          <a:p>
            <a:r>
              <a:rPr lang="en-US" sz="2800" noProof="0"/>
              <a:t>Reliable Graph Reinforcement Learning for</a:t>
            </a:r>
          </a:p>
          <a:p>
            <a:r>
              <a:rPr lang="en-US" sz="2800" noProof="0"/>
              <a:t>Transmission Grid Topology Control</a:t>
            </a: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2F4A7CFE-65FA-E249-9125-D938BCA44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7097" y="2705494"/>
            <a:ext cx="1828800" cy="1568450"/>
          </a:xfrm>
        </p:spPr>
        <p:txBody>
          <a:bodyPr lIns="90000" anchor="ctr">
            <a:normAutofit/>
          </a:bodyPr>
          <a:lstStyle/>
          <a:p>
            <a:r>
              <a:rPr lang="en-US" b="1" noProof="0"/>
              <a:t>Corentin Plumet</a:t>
            </a:r>
          </a:p>
          <a:p>
            <a:r>
              <a:rPr lang="en-US" noProof="0"/>
              <a:t>Master Thesis Proposal</a:t>
            </a:r>
          </a:p>
          <a:p>
            <a:r>
              <a:rPr lang="en-US" noProof="0"/>
              <a:t>Grid2Op + reliability-oriented evaluation</a:t>
            </a:r>
          </a:p>
          <a:p>
            <a:r>
              <a:rPr lang="en-US" noProof="0"/>
              <a:t>Underexplored direction: busbar-aware heterogeneous GRL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F0A55C-66AB-F046-AA02-AFC919A1C1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</p:spPr>
        <p:txBody>
          <a:bodyPr anchor="ctr">
            <a:normAutofit/>
          </a:bodyPr>
          <a:lstStyle/>
          <a:p>
            <a:r>
              <a:rPr lang="en-US" b="1" noProof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21301715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92EC-33B3-CAB6-3089-60843B404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13CE9-E965-4924-5C8C-4C8F8B07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Why This Thesis Topic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921D69-417C-BE6E-3879-97E54FBD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DA01F4-529A-46A0-D301-FBAC4471CB9B}"/>
              </a:ext>
            </a:extLst>
          </p:cNvPr>
          <p:cNvSpPr txBox="1"/>
          <p:nvPr/>
        </p:nvSpPr>
        <p:spPr>
          <a:xfrm>
            <a:off x="582627" y="2570663"/>
            <a:ext cx="8048612" cy="19620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Problem Statement</a:t>
            </a:r>
            <a:endParaRPr lang="en-US" u="sng" dirty="0"/>
          </a:p>
          <a:p>
            <a:pPr lvl="1">
              <a:buClr>
                <a:schemeClr val="accent1"/>
              </a:buClr>
            </a:pPr>
            <a:r>
              <a:rPr lang="en-US" dirty="0"/>
              <a:t>Traditional optimization methods: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Struggle with scalability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Are too slow for real time decision making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endParaRPr lang="en-US" dirty="0"/>
          </a:p>
          <a:p>
            <a:pPr lvl="1">
              <a:buClr>
                <a:schemeClr val="accent1"/>
              </a:buClr>
            </a:pPr>
            <a:r>
              <a:rPr lang="en-US" dirty="0"/>
              <a:t>RL approaches: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Remain mostly proof-of-concept on benchmark grids and simplified operating assumptions.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The open question is not only whether GRL can act, but whether it acts reliably under nominal and stressed conditions.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057A38C-AEE4-848E-8A1C-E70129E5C426}"/>
              </a:ext>
            </a:extLst>
          </p:cNvPr>
          <p:cNvSpPr txBox="1"/>
          <p:nvPr/>
        </p:nvSpPr>
        <p:spPr>
          <a:xfrm>
            <a:off x="582627" y="854129"/>
            <a:ext cx="8048612" cy="133882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noProof="0" dirty="0"/>
              <a:t>Motivation</a:t>
            </a:r>
            <a:endParaRPr lang="en-US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Transmission operators need fast congestion management under renewable variability and unforeseen events.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Topology actions are attractive because they can reroute flows before using costly redispatch.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Reinforcement learning is appealing for sequential decisions, but the control space is huge and safety-critical.</a:t>
            </a:r>
          </a:p>
        </p:txBody>
      </p:sp>
    </p:spTree>
    <p:extLst>
      <p:ext uri="{BB962C8B-B14F-4D97-AF65-F5344CB8AC3E}">
        <p14:creationId xmlns:p14="http://schemas.microsoft.com/office/powerpoint/2010/main" val="11740207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/>
              <a:t>Short Literature Review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 txBox="1"/>
          <p:nvPr/>
        </p:nvSpPr>
        <p:spPr>
          <a:xfrm>
            <a:off x="582627" y="2594369"/>
            <a:ext cx="8048612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sz="1400" b="1" u="sng" noProof="0" dirty="0"/>
              <a:t>Learning Methods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400" noProof="0" dirty="0"/>
              <a:t>Topology control is the main transmission-grid use case, with PPO, DQN variants, SMAAC, MCTS, and multi-agent methods.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400" noProof="0" dirty="0"/>
              <a:t>Graph encoders are increasingly used because the grid is naturally relational and topology changes alter the graph itself.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71D7B7-A333-80D7-0D77-9FB91573C417}"/>
              </a:ext>
            </a:extLst>
          </p:cNvPr>
          <p:cNvSpPr txBox="1"/>
          <p:nvPr/>
        </p:nvSpPr>
        <p:spPr>
          <a:xfrm>
            <a:off x="582627" y="4088399"/>
            <a:ext cx="804861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sz="1400" b="1" u="sng" noProof="0" dirty="0"/>
              <a:t>Takeaway</a:t>
            </a:r>
            <a:r>
              <a:rPr lang="en-US" sz="1400" noProof="0" dirty="0"/>
              <a:t> 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400" dirty="0"/>
              <a:t>S</a:t>
            </a:r>
            <a:r>
              <a:rPr lang="en-US" sz="1400" noProof="0" dirty="0" err="1"/>
              <a:t>tructure</a:t>
            </a:r>
            <a:r>
              <a:rPr lang="en-US" sz="1400" noProof="0" dirty="0"/>
              <a:t> in the controller matters at least as much as the RL algorithm choice.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710EFE9-3373-11B3-64D8-35C8F7071AE8}"/>
              </a:ext>
            </a:extLst>
          </p:cNvPr>
          <p:cNvSpPr txBox="1"/>
          <p:nvPr/>
        </p:nvSpPr>
        <p:spPr>
          <a:xfrm>
            <a:off x="582627" y="1045440"/>
            <a:ext cx="8048612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sz="1400" b="1" u="sng" noProof="0" dirty="0"/>
              <a:t>Hybrid Systems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400" noProof="0" dirty="0"/>
              <a:t>Recent surveys show that strong controllers are rarely pure end-to-end RL; they are hybrid systems.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1400" noProof="0" dirty="0"/>
              <a:t>Dominant ingredients are action-space reduction, rule-based safety logic, simulator filtering, and imitation bootstrapping.</a:t>
            </a:r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Dive Into the Main Solutions </a:t>
            </a:r>
            <a:r>
              <a:rPr lang="en-US" dirty="0" err="1"/>
              <a:t>Developped</a:t>
            </a: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 txBox="1"/>
          <p:nvPr/>
        </p:nvSpPr>
        <p:spPr>
          <a:xfrm>
            <a:off x="418220" y="1004453"/>
            <a:ext cx="8307557" cy="15465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One RL Agent with Safety Layers</a:t>
            </a:r>
            <a:endParaRPr lang="en-US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[7] uses a GCN with Double-Q / dueling RL and verifies top-Q actions with power-flow simulation.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[1] trains PPO with dynamic action masking so infeasible busbar actions are never sampled.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These methods keep one global controller but rely on hard engineering tricks to stay safe.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Typical tricks are do-nothing fallback, pruning of symmetric actions, and simulator-based validation.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Their weakness is sample efficiency: the agent still sees a huge discrete action space.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E129CC-A8E0-209B-BC9A-47D38E9B6557}"/>
              </a:ext>
            </a:extLst>
          </p:cNvPr>
          <p:cNvSpPr txBox="1"/>
          <p:nvPr/>
        </p:nvSpPr>
        <p:spPr>
          <a:xfrm>
            <a:off x="418220" y="3046344"/>
            <a:ext cx="8307557" cy="15465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noProof="0" dirty="0"/>
              <a:t>Planning and Model-based Methods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[5] learns a GCN world model that predicts line loading for candidate topologies.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MCTS expands a search tree over future actions and selects promising branches instead of brute-force exploration.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Only states with acceptable predicted loading are kept, which prunes catastrophic branches early.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[6] also uses MCTS, but combines it with double-dueling sub-agents on a reduced action space.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This family trades extra planning cost for better action selection in a combinatorial control problem.</a:t>
            </a:r>
          </a:p>
        </p:txBody>
      </p:sp>
    </p:spTree>
    <p:extLst>
      <p:ext uri="{BB962C8B-B14F-4D97-AF65-F5344CB8AC3E}">
        <p14:creationId xmlns:p14="http://schemas.microsoft.com/office/powerpoint/2010/main" val="20124015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420E-48D0-8268-6E13-644379EF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963C8-041F-DD46-09C6-14E1AD101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Dive Into the Main Solutions </a:t>
            </a:r>
            <a:r>
              <a:rPr lang="en-US" dirty="0" err="1"/>
              <a:t>Developped</a:t>
            </a: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4C7670-4D33-8C6C-738F-EC914296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302790-58BE-231E-E401-DD176EBD0FF0}"/>
              </a:ext>
            </a:extLst>
          </p:cNvPr>
          <p:cNvSpPr txBox="1"/>
          <p:nvPr/>
        </p:nvSpPr>
        <p:spPr>
          <a:xfrm>
            <a:off x="323681" y="884585"/>
            <a:ext cx="8307557" cy="15465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Predict a target topology, not a raw switch</a:t>
            </a:r>
            <a:endParaRPr lang="en-US" u="sng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[8] SMAAC and [3] predict a goal topology, then a low-level policy realizes it.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Their key idea is the </a:t>
            </a:r>
            <a:r>
              <a:rPr lang="en-US" dirty="0" err="1"/>
              <a:t>afterstate</a:t>
            </a:r>
            <a:r>
              <a:rPr lang="en-US" dirty="0"/>
              <a:t>: learn from the resulting topology, not only from the raw switch action.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That matters because different switching sequences can lead to the same effective substation configuration.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First decide where to intervene, then decide how.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E983E03-E4B6-5810-3814-5FA2D31B89B5}"/>
              </a:ext>
            </a:extLst>
          </p:cNvPr>
          <p:cNvSpPr txBox="1"/>
          <p:nvPr/>
        </p:nvSpPr>
        <p:spPr>
          <a:xfrm>
            <a:off x="323681" y="2956979"/>
            <a:ext cx="8307557" cy="175432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dirty="0"/>
              <a:t>Multi-agent and Imitation-enhanced GRL</a:t>
            </a:r>
            <a:endParaRPr lang="en-US" u="sng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[4] uses hierarchical multi-agent PPO/SAC where higher levels detect critical areas and lower levels act.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[2] distributes control to line-level agents and shares a GAT encoder for local context.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Multi-agent decomposition reduces the effective action space by assigning local responsibility to components.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[2] and [9] use expert demonstrations or imitation learning to improve sample efficiency.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The logic is practical: start from expert behavior, then let RL improve beyond it through interaction.</a:t>
            </a:r>
          </a:p>
        </p:txBody>
      </p:sp>
    </p:spTree>
    <p:extLst>
      <p:ext uri="{BB962C8B-B14F-4D97-AF65-F5344CB8AC3E}">
        <p14:creationId xmlns:p14="http://schemas.microsoft.com/office/powerpoint/2010/main" val="35627145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Research Gap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CC4B205-C4B4-0432-A602-49A9CFE88DC7}"/>
              </a:ext>
            </a:extLst>
          </p:cNvPr>
          <p:cNvSpPr txBox="1"/>
          <p:nvPr/>
        </p:nvSpPr>
        <p:spPr>
          <a:xfrm>
            <a:off x="547694" y="1339083"/>
            <a:ext cx="8048611" cy="1131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dirty="0"/>
              <a:t>Limits of these studies</a:t>
            </a:r>
            <a:endParaRPr lang="en-US" b="1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b="1" noProof="0" dirty="0"/>
              <a:t>No standardized </a:t>
            </a:r>
            <a:r>
              <a:rPr lang="en-US" b="1" noProof="0" dirty="0" err="1"/>
              <a:t>Evalution</a:t>
            </a:r>
            <a:r>
              <a:rPr lang="en-US" b="1" noProof="0" dirty="0"/>
              <a:t>:</a:t>
            </a:r>
            <a:r>
              <a:rPr lang="en-US" noProof="0" dirty="0"/>
              <a:t> Evaluation protocols differ a lot across papers: rewards, seeds, horizons, contingencies, and grid sizes are inconsistent.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b="1" noProof="0" dirty="0"/>
              <a:t>Mostly </a:t>
            </a:r>
            <a:r>
              <a:rPr lang="en-US" b="1" noProof="0" dirty="0">
                <a:solidFill>
                  <a:schemeClr val="tx1"/>
                </a:solidFill>
              </a:rPr>
              <a:t>Proof-of-Concept</a:t>
            </a:r>
            <a:r>
              <a:rPr lang="en-US" b="1" noProof="0" dirty="0"/>
              <a:t>: </a:t>
            </a:r>
            <a:r>
              <a:rPr lang="en-US" noProof="0" dirty="0"/>
              <a:t>Most studies rely on Grid2Op and relatively small IEEE-style benchmarks, with limited stressed-condition testing.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FAD7E78-A825-B3D8-5BE6-57ABF0537A26}"/>
              </a:ext>
            </a:extLst>
          </p:cNvPr>
          <p:cNvSpPr txBox="1"/>
          <p:nvPr/>
        </p:nvSpPr>
        <p:spPr>
          <a:xfrm>
            <a:off x="547694" y="3054691"/>
            <a:ext cx="8048611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dirty="0"/>
              <a:t>Key ideas exist but not combined</a:t>
            </a:r>
            <a:endParaRPr lang="en-US" b="1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Imitation learning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Advanced graph representation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Safe RL</a:t>
            </a:r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93B3-DFCB-A6D7-C095-46176507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8F423-DB6F-79EE-91B8-22E8E557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Thesis Refinement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F30CDE-FDF1-E2D0-5AD6-438BAF35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31803C-B799-F9C2-2692-6467FD2CC759}"/>
              </a:ext>
            </a:extLst>
          </p:cNvPr>
          <p:cNvSpPr txBox="1"/>
          <p:nvPr/>
        </p:nvSpPr>
        <p:spPr>
          <a:xfrm>
            <a:off x="547694" y="940534"/>
            <a:ext cx="8048611" cy="1346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dirty="0"/>
              <a:t>Main Goal:</a:t>
            </a:r>
            <a:r>
              <a:rPr lang="en-US" b="1" dirty="0"/>
              <a:t> Develop a hybrid GRL framework that improves</a:t>
            </a:r>
            <a:endParaRPr lang="en-US" b="1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Learning efficiency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Robustness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Safety</a:t>
            </a:r>
            <a:endParaRPr lang="en-US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endParaRPr lang="en-US" noProof="0" dirty="0"/>
          </a:p>
          <a:p>
            <a:pPr lvl="1">
              <a:buClr>
                <a:schemeClr val="accent1"/>
              </a:buClr>
            </a:pPr>
            <a:r>
              <a:rPr lang="fr-FR" altLang="fr-FR" sz="1400" dirty="0">
                <a:latin typeface="Arial" panose="020B0604020202020204" pitchFamily="34" charset="0"/>
              </a:rPr>
              <a:t>For </a:t>
            </a:r>
            <a:r>
              <a:rPr lang="fr-FR" altLang="fr-FR" sz="1400" b="1" dirty="0">
                <a:latin typeface="Arial" panose="020B0604020202020204" pitchFamily="34" charset="0"/>
              </a:rPr>
              <a:t>power </a:t>
            </a:r>
            <a:r>
              <a:rPr lang="fr-FR" altLang="fr-FR" sz="1400" b="1" dirty="0" err="1">
                <a:latin typeface="Arial" panose="020B0604020202020204" pitchFamily="34" charset="0"/>
              </a:rPr>
              <a:t>grid</a:t>
            </a:r>
            <a:r>
              <a:rPr lang="fr-FR" altLang="fr-FR" sz="1400" b="1" dirty="0">
                <a:latin typeface="Arial" panose="020B0604020202020204" pitchFamily="34" charset="0"/>
              </a:rPr>
              <a:t> </a:t>
            </a:r>
            <a:r>
              <a:rPr lang="fr-FR" altLang="fr-FR" sz="1400" b="1" dirty="0" err="1">
                <a:latin typeface="Arial" panose="020B0604020202020204" pitchFamily="34" charset="0"/>
              </a:rPr>
              <a:t>topology</a:t>
            </a:r>
            <a:r>
              <a:rPr lang="fr-FR" altLang="fr-FR" sz="1400" b="1" dirty="0">
                <a:latin typeface="Arial" panose="020B0604020202020204" pitchFamily="34" charset="0"/>
              </a:rPr>
              <a:t> control</a:t>
            </a:r>
            <a:endParaRPr lang="fr-FR" altLang="fr-FR" sz="1400" dirty="0">
              <a:latin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AE4DE8-2352-B6C1-7C8C-E7BBCEE1BC36}"/>
              </a:ext>
            </a:extLst>
          </p:cNvPr>
          <p:cNvSpPr txBox="1"/>
          <p:nvPr/>
        </p:nvSpPr>
        <p:spPr>
          <a:xfrm>
            <a:off x="547693" y="2648694"/>
            <a:ext cx="8048611" cy="1554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buClr>
                <a:schemeClr val="accent1"/>
              </a:buClr>
            </a:pPr>
            <a:r>
              <a:rPr lang="en-US" b="1" u="sng" dirty="0"/>
              <a:t>Research Questions:</a:t>
            </a:r>
            <a:endParaRPr lang="en-US" b="1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Do better graph representations improve performance ?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Can imitation learning speed up training ?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noProof="0" dirty="0"/>
              <a:t>Do safety mechanisms improve stability ?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/>
              <a:t>How sensitive are results to evaluation setup ?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endParaRPr lang="en-US" noProof="0" dirty="0"/>
          </a:p>
          <a:p>
            <a:pPr lvl="1">
              <a:buClr>
                <a:schemeClr val="accent1"/>
              </a:buClr>
            </a:pPr>
            <a:r>
              <a:rPr lang="fr-FR" altLang="fr-FR" sz="1400" dirty="0">
                <a:latin typeface="Arial" panose="020B0604020202020204" pitchFamily="34" charset="0"/>
              </a:rPr>
              <a:t>For </a:t>
            </a:r>
            <a:r>
              <a:rPr lang="fr-FR" altLang="fr-FR" sz="1400" b="1" dirty="0">
                <a:latin typeface="Arial" panose="020B0604020202020204" pitchFamily="34" charset="0"/>
              </a:rPr>
              <a:t>power </a:t>
            </a:r>
            <a:r>
              <a:rPr lang="fr-FR" altLang="fr-FR" sz="1400" b="1" dirty="0" err="1">
                <a:latin typeface="Arial" panose="020B0604020202020204" pitchFamily="34" charset="0"/>
              </a:rPr>
              <a:t>grid</a:t>
            </a:r>
            <a:r>
              <a:rPr lang="fr-FR" altLang="fr-FR" sz="1400" b="1" dirty="0">
                <a:latin typeface="Arial" panose="020B0604020202020204" pitchFamily="34" charset="0"/>
              </a:rPr>
              <a:t> </a:t>
            </a:r>
            <a:r>
              <a:rPr lang="fr-FR" altLang="fr-FR" sz="1400" b="1" dirty="0" err="1">
                <a:latin typeface="Arial" panose="020B0604020202020204" pitchFamily="34" charset="0"/>
              </a:rPr>
              <a:t>topology</a:t>
            </a:r>
            <a:r>
              <a:rPr lang="fr-FR" altLang="fr-FR" sz="1400" b="1" dirty="0">
                <a:latin typeface="Arial" panose="020B0604020202020204" pitchFamily="34" charset="0"/>
              </a:rPr>
              <a:t> control</a:t>
            </a:r>
            <a:endParaRPr lang="fr-FR" altLang="fr-FR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020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dirty="0"/>
              <a:t>Approach</a:t>
            </a: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 txBox="1"/>
          <p:nvPr/>
        </p:nvSpPr>
        <p:spPr>
          <a:xfrm>
            <a:off x="373198" y="1304788"/>
            <a:ext cx="3938744" cy="24468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noProof="0" dirty="0"/>
              <a:t>Proposed Approach</a:t>
            </a:r>
          </a:p>
          <a:p>
            <a:pPr>
              <a:buClr>
                <a:schemeClr val="accent1"/>
              </a:buClr>
            </a:pPr>
            <a:endParaRPr lang="en-US" u="sng" noProof="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Graph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representation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of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grid</a:t>
            </a:r>
            <a:endParaRPr lang="fr-FR" altLang="fr-FR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Imitation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learning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pretraining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Reinforcement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learning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(fine-tuning)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Safety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mechanism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(action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filtering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lvl="1">
              <a:buClr>
                <a:schemeClr val="accent1"/>
              </a:buClr>
            </a:pPr>
            <a:endParaRPr lang="fr-FR" altLang="fr-FR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è"/>
            </a:pP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Combine </a:t>
            </a:r>
            <a:r>
              <a:rPr lang="fr-FR" altLang="fr-FR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strengths</a:t>
            </a:r>
            <a:r>
              <a:rPr lang="fr-FR" altLang="fr-FR" sz="1400" dirty="0">
                <a:solidFill>
                  <a:srgbClr val="000000"/>
                </a:solidFill>
                <a:latin typeface="Arial" panose="020B0604020202020204" pitchFamily="34" charset="0"/>
              </a:rPr>
              <a:t> of all components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è"/>
            </a:pPr>
            <a:endParaRPr lang="fr-FR" sz="140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è"/>
            </a:pPr>
            <a:endParaRPr lang="fr-FR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è"/>
            </a:pPr>
            <a:endParaRPr lang="fr-FR" sz="1400" noProof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7F3B9BA-17B4-D935-89C1-4E0720ED877C}"/>
              </a:ext>
            </a:extLst>
          </p:cNvPr>
          <p:cNvSpPr txBox="1"/>
          <p:nvPr/>
        </p:nvSpPr>
        <p:spPr>
          <a:xfrm>
            <a:off x="4890781" y="1304788"/>
            <a:ext cx="3880021" cy="24391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b="1" u="sng" noProof="0" dirty="0"/>
              <a:t>Methodology</a:t>
            </a:r>
          </a:p>
          <a:p>
            <a:pPr>
              <a:buClr>
                <a:schemeClr val="accent1"/>
              </a:buClr>
            </a:pPr>
            <a:endParaRPr lang="en-US" b="1" u="sng" noProof="0" dirty="0"/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b="1" noProof="0" dirty="0"/>
              <a:t>System Design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latin typeface="Arial" panose="020B0604020202020204" pitchFamily="34" charset="0"/>
              </a:rPr>
              <a:t>Graph Encoder: GNN </a:t>
            </a:r>
            <a:r>
              <a:rPr lang="fr-FR" altLang="fr-FR" sz="1400" dirty="0" err="1">
                <a:latin typeface="Arial" panose="020B0604020202020204" pitchFamily="34" charset="0"/>
              </a:rPr>
              <a:t>heterogeneous</a:t>
            </a:r>
            <a:endParaRPr lang="fr-FR" altLang="fr-FR" sz="1400" dirty="0"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latin typeface="Arial" panose="020B0604020202020204" pitchFamily="34" charset="0"/>
              </a:rPr>
              <a:t>Policy Model: PPO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b="1" dirty="0">
                <a:latin typeface="Arial" panose="020B0604020202020204" pitchFamily="34" charset="0"/>
              </a:rPr>
              <a:t>Training Pipeline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latin typeface="Arial" panose="020B0604020202020204" pitchFamily="34" charset="0"/>
              </a:rPr>
              <a:t>Stage 1: Imitation </a:t>
            </a:r>
            <a:r>
              <a:rPr lang="fr-FR" altLang="fr-FR" sz="1400" dirty="0" err="1">
                <a:latin typeface="Arial" panose="020B0604020202020204" pitchFamily="34" charset="0"/>
              </a:rPr>
              <a:t>learning</a:t>
            </a:r>
            <a:endParaRPr lang="fr-FR" altLang="fr-FR" sz="1400" dirty="0"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latin typeface="Arial" panose="020B0604020202020204" pitchFamily="34" charset="0"/>
              </a:rPr>
              <a:t>Stage 2: RL </a:t>
            </a:r>
            <a:r>
              <a:rPr lang="fr-FR" altLang="fr-FR" sz="1400" dirty="0" err="1">
                <a:latin typeface="Arial" panose="020B0604020202020204" pitchFamily="34" charset="0"/>
              </a:rPr>
              <a:t>optimization</a:t>
            </a:r>
            <a:endParaRPr lang="fr-FR" altLang="fr-FR" sz="1400" dirty="0">
              <a:latin typeface="Arial" panose="020B0604020202020204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b="1" dirty="0" err="1">
                <a:latin typeface="Arial" panose="020B0604020202020204" pitchFamily="34" charset="0"/>
              </a:rPr>
              <a:t>Safety</a:t>
            </a:r>
            <a:r>
              <a:rPr lang="fr-FR" altLang="fr-FR" sz="1400" b="1" dirty="0">
                <a:latin typeface="Arial" panose="020B0604020202020204" pitchFamily="34" charset="0"/>
              </a:rPr>
              <a:t> Layer</a:t>
            </a: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>
                <a:latin typeface="Arial" panose="020B0604020202020204" pitchFamily="34" charset="0"/>
              </a:rPr>
              <a:t>Action </a:t>
            </a:r>
            <a:r>
              <a:rPr lang="fr-FR" altLang="fr-FR" sz="1400" dirty="0" err="1">
                <a:latin typeface="Arial" panose="020B0604020202020204" pitchFamily="34" charset="0"/>
              </a:rPr>
              <a:t>masking</a:t>
            </a:r>
            <a:endParaRPr lang="fr-FR" altLang="fr-FR" sz="1400" dirty="0">
              <a:latin typeface="Arial" panose="020B0604020202020204" pitchFamily="34" charset="0"/>
            </a:endParaRPr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400" dirty="0" err="1">
                <a:latin typeface="Arial" panose="020B0604020202020204" pitchFamily="34" charset="0"/>
              </a:rPr>
              <a:t>Feasibility</a:t>
            </a:r>
            <a:r>
              <a:rPr lang="fr-FR" altLang="fr-FR" sz="1400" dirty="0">
                <a:latin typeface="Arial" panose="020B0604020202020204" pitchFamily="34" charset="0"/>
              </a:rPr>
              <a:t> checks</a:t>
            </a:r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EBDB-6A5A-16FF-AC1A-D445F637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2A986-0019-81A2-C1A9-90CC4EB7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Timeline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076AFA-D2F8-F280-A1B9-0673D625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B463118-F18E-80F1-1B42-6E9E4AA6C4CB}"/>
              </a:ext>
            </a:extLst>
          </p:cNvPr>
          <p:cNvSpPr txBox="1"/>
          <p:nvPr/>
        </p:nvSpPr>
        <p:spPr>
          <a:xfrm>
            <a:off x="310394" y="998644"/>
            <a:ext cx="3984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b="1" dirty="0">
                <a:latin typeface="Arial" panose="020B0604020202020204" pitchFamily="34" charset="0"/>
              </a:rPr>
              <a:t>April - </a:t>
            </a:r>
            <a:r>
              <a:rPr lang="fr-FR" altLang="fr-FR" sz="1200" b="1" dirty="0" err="1">
                <a:latin typeface="Arial" panose="020B0604020202020204" pitchFamily="34" charset="0"/>
              </a:rPr>
              <a:t>Baselines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dirty="0">
                <a:latin typeface="Arial" panose="020B0604020202020204" pitchFamily="34" charset="0"/>
              </a:rPr>
              <a:t>Set up Grid2Op pipeline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dirty="0" err="1">
                <a:latin typeface="Arial" panose="020B0604020202020204" pitchFamily="34" charset="0"/>
              </a:rPr>
              <a:t>Implement</a:t>
            </a:r>
            <a:r>
              <a:rPr lang="fr-FR" altLang="fr-FR" sz="1200" dirty="0">
                <a:latin typeface="Arial" panose="020B0604020202020204" pitchFamily="34" charset="0"/>
              </a:rPr>
              <a:t> </a:t>
            </a:r>
            <a:r>
              <a:rPr lang="fr-FR" altLang="fr-FR" sz="1200" dirty="0" err="1">
                <a:latin typeface="Arial" panose="020B0604020202020204" pitchFamily="34" charset="0"/>
              </a:rPr>
              <a:t>baseline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dirty="0" err="1">
                <a:latin typeface="Arial" panose="020B0604020202020204" pitchFamily="34" charset="0"/>
              </a:rPr>
              <a:t>Define</a:t>
            </a:r>
            <a:r>
              <a:rPr lang="fr-FR" altLang="fr-FR" sz="1200" dirty="0">
                <a:latin typeface="Arial" panose="020B0604020202020204" pitchFamily="34" charset="0"/>
              </a:rPr>
              <a:t> </a:t>
            </a:r>
            <a:r>
              <a:rPr lang="fr-FR" altLang="fr-FR" sz="1200" dirty="0" err="1">
                <a:latin typeface="Arial" panose="020B0604020202020204" pitchFamily="34" charset="0"/>
              </a:rPr>
              <a:t>metrics</a:t>
            </a:r>
            <a:r>
              <a:rPr lang="fr-FR" altLang="fr-FR" sz="1200" dirty="0">
                <a:latin typeface="Arial" panose="020B0604020202020204" pitchFamily="34" charset="0"/>
              </a:rPr>
              <a:t> &amp; run initial </a:t>
            </a:r>
            <a:r>
              <a:rPr lang="fr-FR" altLang="fr-FR" sz="1200" dirty="0" err="1">
                <a:latin typeface="Arial" panose="020B0604020202020204" pitchFamily="34" charset="0"/>
              </a:rPr>
              <a:t>experiments</a:t>
            </a:r>
            <a:endParaRPr lang="en-US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9DBAFE6-D9E0-2F31-3679-2D76AA666E97}"/>
              </a:ext>
            </a:extLst>
          </p:cNvPr>
          <p:cNvSpPr txBox="1"/>
          <p:nvPr/>
        </p:nvSpPr>
        <p:spPr>
          <a:xfrm>
            <a:off x="310394" y="2229675"/>
            <a:ext cx="3984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b="1" dirty="0">
                <a:latin typeface="Arial" panose="020B0604020202020204" pitchFamily="34" charset="0"/>
              </a:rPr>
              <a:t>May – Graph </a:t>
            </a:r>
            <a:r>
              <a:rPr lang="fr-FR" altLang="fr-FR" sz="1200" b="1" dirty="0" err="1">
                <a:latin typeface="Arial" panose="020B0604020202020204" pitchFamily="34" charset="0"/>
              </a:rPr>
              <a:t>Models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>
                <a:latin typeface="Arial" panose="020B0604020202020204" pitchFamily="34" charset="0"/>
              </a:rPr>
              <a:t>Design </a:t>
            </a:r>
            <a:r>
              <a:rPr lang="fr-CH" altLang="fr-FR" sz="1200" dirty="0" err="1">
                <a:latin typeface="Arial" panose="020B0604020202020204" pitchFamily="34" charset="0"/>
              </a:rPr>
              <a:t>heterogeneous</a:t>
            </a:r>
            <a:r>
              <a:rPr lang="fr-CH" altLang="fr-FR" sz="1200" dirty="0">
                <a:latin typeface="Arial" panose="020B0604020202020204" pitchFamily="34" charset="0"/>
              </a:rPr>
              <a:t> graph </a:t>
            </a:r>
            <a:r>
              <a:rPr lang="fr-CH" altLang="fr-FR" sz="1200" dirty="0" err="1">
                <a:latin typeface="Arial" panose="020B0604020202020204" pitchFamily="34" charset="0"/>
              </a:rPr>
              <a:t>representation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 err="1">
                <a:latin typeface="Arial" panose="020B0604020202020204" pitchFamily="34" charset="0"/>
              </a:rPr>
              <a:t>Implement</a:t>
            </a:r>
            <a:r>
              <a:rPr lang="fr-CH" altLang="fr-FR" sz="1200" dirty="0">
                <a:latin typeface="Arial" panose="020B0604020202020204" pitchFamily="34" charset="0"/>
              </a:rPr>
              <a:t> &amp; compare GNN architectures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dirty="0" err="1">
                <a:latin typeface="Arial" panose="020B0604020202020204" pitchFamily="34" charset="0"/>
              </a:rPr>
              <a:t>Analyze</a:t>
            </a:r>
            <a:r>
              <a:rPr lang="fr-FR" altLang="fr-FR" sz="1200" dirty="0">
                <a:latin typeface="Arial" panose="020B0604020202020204" pitchFamily="34" charset="0"/>
              </a:rPr>
              <a:t> impact vs </a:t>
            </a:r>
            <a:r>
              <a:rPr lang="fr-FR" altLang="fr-FR" sz="1200" dirty="0" err="1">
                <a:latin typeface="Arial" panose="020B0604020202020204" pitchFamily="34" charset="0"/>
              </a:rPr>
              <a:t>baseline</a:t>
            </a:r>
            <a:endParaRPr lang="en-US" sz="1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80E4AE2-37EA-E77E-2E46-FABA3589D4C8}"/>
              </a:ext>
            </a:extLst>
          </p:cNvPr>
          <p:cNvSpPr txBox="1"/>
          <p:nvPr/>
        </p:nvSpPr>
        <p:spPr>
          <a:xfrm>
            <a:off x="310394" y="3594930"/>
            <a:ext cx="3984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b="1" dirty="0">
                <a:latin typeface="Arial" panose="020B0604020202020204" pitchFamily="34" charset="0"/>
              </a:rPr>
              <a:t>June – Imitation Learning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 err="1">
                <a:latin typeface="Arial" panose="020B0604020202020204" pitchFamily="34" charset="0"/>
              </a:rPr>
              <a:t>Generate</a:t>
            </a:r>
            <a:r>
              <a:rPr lang="fr-CH" altLang="fr-FR" sz="1200" dirty="0">
                <a:latin typeface="Arial" panose="020B0604020202020204" pitchFamily="34" charset="0"/>
              </a:rPr>
              <a:t> expert data (</a:t>
            </a:r>
            <a:r>
              <a:rPr lang="fr-CH" altLang="fr-FR" sz="1200" dirty="0" err="1">
                <a:latin typeface="Arial" panose="020B0604020202020204" pitchFamily="34" charset="0"/>
              </a:rPr>
              <a:t>heuristics</a:t>
            </a:r>
            <a:r>
              <a:rPr lang="fr-CH" altLang="fr-FR" sz="1200" dirty="0">
                <a:latin typeface="Arial" panose="020B0604020202020204" pitchFamily="34" charset="0"/>
              </a:rPr>
              <a:t>)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>
                <a:latin typeface="Arial" panose="020B0604020202020204" pitchFamily="34" charset="0"/>
              </a:rPr>
              <a:t>Train via </a:t>
            </a:r>
            <a:r>
              <a:rPr lang="fr-CH" altLang="fr-FR" sz="1200" dirty="0" err="1">
                <a:latin typeface="Arial" panose="020B0604020202020204" pitchFamily="34" charset="0"/>
              </a:rPr>
              <a:t>behavioral</a:t>
            </a:r>
            <a:r>
              <a:rPr lang="fr-CH" altLang="fr-FR" sz="1200" dirty="0">
                <a:latin typeface="Arial" panose="020B0604020202020204" pitchFamily="34" charset="0"/>
              </a:rPr>
              <a:t> </a:t>
            </a:r>
            <a:r>
              <a:rPr lang="fr-CH" altLang="fr-FR" sz="1200" dirty="0" err="1">
                <a:latin typeface="Arial" panose="020B0604020202020204" pitchFamily="34" charset="0"/>
              </a:rPr>
              <a:t>cloning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dirty="0" err="1">
                <a:latin typeface="Arial" panose="020B0604020202020204" pitchFamily="34" charset="0"/>
              </a:rPr>
              <a:t>Evaluate</a:t>
            </a:r>
            <a:r>
              <a:rPr lang="fr-FR" altLang="fr-FR" sz="1200" dirty="0">
                <a:latin typeface="Arial" panose="020B0604020202020204" pitchFamily="34" charset="0"/>
              </a:rPr>
              <a:t> </a:t>
            </a:r>
            <a:r>
              <a:rPr lang="fr-FR" altLang="fr-FR" sz="1200" dirty="0" err="1">
                <a:latin typeface="Arial" panose="020B0604020202020204" pitchFamily="34" charset="0"/>
              </a:rPr>
              <a:t>pretraining</a:t>
            </a:r>
            <a:r>
              <a:rPr lang="fr-FR" altLang="fr-FR" sz="1200" dirty="0">
                <a:latin typeface="Arial" panose="020B0604020202020204" pitchFamily="34" charset="0"/>
              </a:rPr>
              <a:t> performance</a:t>
            </a:r>
            <a:endParaRPr lang="en-US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59A78BD-1772-36BC-D86C-277B5CB6B97F}"/>
              </a:ext>
            </a:extLst>
          </p:cNvPr>
          <p:cNvSpPr txBox="1"/>
          <p:nvPr/>
        </p:nvSpPr>
        <p:spPr>
          <a:xfrm>
            <a:off x="4848836" y="998644"/>
            <a:ext cx="3984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b="1" dirty="0">
                <a:latin typeface="Arial" panose="020B0604020202020204" pitchFamily="34" charset="0"/>
              </a:rPr>
              <a:t>July – </a:t>
            </a:r>
            <a:r>
              <a:rPr lang="fr-FR" altLang="fr-FR" sz="1200" b="1" dirty="0" err="1">
                <a:latin typeface="Arial" panose="020B0604020202020204" pitchFamily="34" charset="0"/>
              </a:rPr>
              <a:t>Reinforcement</a:t>
            </a:r>
            <a:r>
              <a:rPr lang="fr-FR" altLang="fr-FR" sz="1200" b="1" dirty="0">
                <a:latin typeface="Arial" panose="020B0604020202020204" pitchFamily="34" charset="0"/>
              </a:rPr>
              <a:t> Learning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>
                <a:latin typeface="Arial" panose="020B0604020202020204" pitchFamily="34" charset="0"/>
              </a:rPr>
              <a:t>Fine-tune </a:t>
            </a:r>
            <a:r>
              <a:rPr lang="fr-CH" altLang="fr-FR" sz="1200" dirty="0" err="1">
                <a:latin typeface="Arial" panose="020B0604020202020204" pitchFamily="34" charset="0"/>
              </a:rPr>
              <a:t>with</a:t>
            </a:r>
            <a:r>
              <a:rPr lang="fr-CH" altLang="fr-FR" sz="1200" dirty="0">
                <a:latin typeface="Arial" panose="020B0604020202020204" pitchFamily="34" charset="0"/>
              </a:rPr>
              <a:t> RL (PPO)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 err="1">
                <a:latin typeface="Arial" panose="020B0604020202020204" pitchFamily="34" charset="0"/>
              </a:rPr>
              <a:t>Add</a:t>
            </a:r>
            <a:r>
              <a:rPr lang="fr-CH" altLang="fr-FR" sz="1200" dirty="0">
                <a:latin typeface="Arial" panose="020B0604020202020204" pitchFamily="34" charset="0"/>
              </a:rPr>
              <a:t> </a:t>
            </a:r>
            <a:r>
              <a:rPr lang="fr-CH" altLang="fr-FR" sz="1200" dirty="0" err="1">
                <a:latin typeface="Arial" panose="020B0604020202020204" pitchFamily="34" charset="0"/>
              </a:rPr>
              <a:t>safety</a:t>
            </a:r>
            <a:r>
              <a:rPr lang="fr-CH" altLang="fr-FR" sz="1200" dirty="0">
                <a:latin typeface="Arial" panose="020B0604020202020204" pitchFamily="34" charset="0"/>
              </a:rPr>
              <a:t> </a:t>
            </a:r>
            <a:r>
              <a:rPr lang="fr-CH" altLang="fr-FR" sz="1200" dirty="0" err="1">
                <a:latin typeface="Arial" panose="020B0604020202020204" pitchFamily="34" charset="0"/>
              </a:rPr>
              <a:t>mechanisms</a:t>
            </a:r>
            <a:r>
              <a:rPr lang="fr-CH" altLang="fr-FR" sz="1200" dirty="0">
                <a:latin typeface="Arial" panose="020B0604020202020204" pitchFamily="34" charset="0"/>
              </a:rPr>
              <a:t> (action </a:t>
            </a:r>
            <a:r>
              <a:rPr lang="fr-CH" altLang="fr-FR" sz="1200" dirty="0" err="1">
                <a:latin typeface="Arial" panose="020B0604020202020204" pitchFamily="34" charset="0"/>
              </a:rPr>
              <a:t>masking</a:t>
            </a:r>
            <a:r>
              <a:rPr lang="fr-CH" altLang="fr-FR" sz="1200" dirty="0">
                <a:latin typeface="Arial" panose="020B0604020202020204" pitchFamily="34" charset="0"/>
              </a:rPr>
              <a:t>)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sz="1200" dirty="0" err="1">
                <a:latin typeface="Arial" panose="020B0604020202020204" pitchFamily="34" charset="0"/>
              </a:rPr>
              <a:t>Abalation</a:t>
            </a:r>
            <a:r>
              <a:rPr lang="fr-FR" sz="1200" dirty="0">
                <a:latin typeface="Arial" panose="020B0604020202020204" pitchFamily="34" charset="0"/>
              </a:rPr>
              <a:t> </a:t>
            </a:r>
            <a:r>
              <a:rPr lang="fr-FR" sz="1200" dirty="0" err="1">
                <a:latin typeface="Arial" panose="020B0604020202020204" pitchFamily="34" charset="0"/>
              </a:rPr>
              <a:t>studies</a:t>
            </a:r>
            <a:endParaRPr lang="en-US" sz="12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96AC14D-6A59-13AC-AF76-71895E3FC398}"/>
              </a:ext>
            </a:extLst>
          </p:cNvPr>
          <p:cNvSpPr txBox="1"/>
          <p:nvPr/>
        </p:nvSpPr>
        <p:spPr>
          <a:xfrm>
            <a:off x="4902849" y="2229675"/>
            <a:ext cx="39847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altLang="fr-FR" sz="1200" b="1" dirty="0">
                <a:latin typeface="Arial" panose="020B0604020202020204" pitchFamily="34" charset="0"/>
              </a:rPr>
              <a:t>August – Evaluation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>
                <a:latin typeface="Arial" panose="020B0604020202020204" pitchFamily="34" charset="0"/>
              </a:rPr>
              <a:t>Test on multiple scenarios &amp; </a:t>
            </a:r>
            <a:r>
              <a:rPr lang="fr-CH" altLang="fr-FR" sz="1200" dirty="0" err="1">
                <a:latin typeface="Arial" panose="020B0604020202020204" pitchFamily="34" charset="0"/>
              </a:rPr>
              <a:t>grids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CH" altLang="fr-FR" sz="1200" dirty="0" err="1">
                <a:latin typeface="Arial" panose="020B0604020202020204" pitchFamily="34" charset="0"/>
              </a:rPr>
              <a:t>Evaluate</a:t>
            </a:r>
            <a:r>
              <a:rPr lang="fr-CH" altLang="fr-FR" sz="1200" dirty="0">
                <a:latin typeface="Arial" panose="020B0604020202020204" pitchFamily="34" charset="0"/>
              </a:rPr>
              <a:t> </a:t>
            </a:r>
            <a:r>
              <a:rPr lang="fr-CH" altLang="fr-FR" sz="1200" dirty="0" err="1">
                <a:latin typeface="Arial" panose="020B0604020202020204" pitchFamily="34" charset="0"/>
              </a:rPr>
              <a:t>generalization</a:t>
            </a:r>
            <a:endParaRPr lang="en-US" sz="1200" dirty="0"/>
          </a:p>
          <a:p>
            <a:pPr marL="628650" lvl="1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fr-FR" sz="1200" dirty="0">
                <a:latin typeface="Arial" panose="020B0604020202020204" pitchFamily="34" charset="0"/>
              </a:rPr>
              <a:t>Compare </a:t>
            </a:r>
            <a:r>
              <a:rPr lang="fr-FR" sz="1200" dirty="0" err="1">
                <a:latin typeface="Arial" panose="020B0604020202020204" pitchFamily="34" charset="0"/>
              </a:rPr>
              <a:t>with</a:t>
            </a:r>
            <a:r>
              <a:rPr lang="fr-FR" sz="1200" dirty="0">
                <a:latin typeface="Arial" panose="020B0604020202020204" pitchFamily="34" charset="0"/>
              </a:rPr>
              <a:t> </a:t>
            </a:r>
            <a:r>
              <a:rPr lang="fr-FR" sz="1200" dirty="0" err="1">
                <a:latin typeface="Arial" panose="020B0604020202020204" pitchFamily="34" charset="0"/>
              </a:rPr>
              <a:t>baselines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37539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51C5-DDD8-C32B-9039-8372C777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05D3B-9B07-4573-62C8-6580877E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52828"/>
            <a:ext cx="7532115" cy="601301"/>
          </a:xfrm>
        </p:spPr>
        <p:txBody>
          <a:bodyPr>
            <a:normAutofit/>
          </a:bodyPr>
          <a:lstStyle/>
          <a:p>
            <a:r>
              <a:rPr lang="en-US" noProof="0" dirty="0"/>
              <a:t>References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C9AC55-9F26-916C-E335-C5EFF5F5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 noProof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283A15-06B8-0027-DDEB-31E69C88F53B}"/>
              </a:ext>
            </a:extLst>
          </p:cNvPr>
          <p:cNvSpPr txBox="1"/>
          <p:nvPr/>
        </p:nvSpPr>
        <p:spPr>
          <a:xfrm>
            <a:off x="399074" y="854129"/>
            <a:ext cx="848854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[1]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Batanero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E.A., Fernández,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Á</a:t>
            </a:r>
            <a:r>
              <a:rPr lang="fr-CH" b="0" i="0" dirty="0">
                <a:solidFill>
                  <a:srgbClr val="1A1C1F"/>
                </a:solidFill>
                <a:effectLst/>
              </a:rPr>
              <a:t>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Barbero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Á</a:t>
            </a:r>
            <a:r>
              <a:rPr lang="fr-CH" b="0" i="0" dirty="0">
                <a:solidFill>
                  <a:srgbClr val="1A1C1F"/>
                </a:solidFill>
                <a:effectLst/>
              </a:rPr>
              <a:t>. Graph-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enhanced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model-free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reinforcement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learning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agents for efficient power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topological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control (2025)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</a:t>
            </a:r>
            <a:r>
              <a:rPr lang="fr-CH" dirty="0">
                <a:solidFill>
                  <a:srgbClr val="1A1C1F"/>
                </a:solidFill>
              </a:rPr>
              <a:t>2</a:t>
            </a:r>
            <a:r>
              <a:rPr lang="fr-CH" b="0" i="0" dirty="0">
                <a:solidFill>
                  <a:srgbClr val="1A1C1F"/>
                </a:solidFill>
                <a:effectLst/>
              </a:rPr>
              <a:t>] Fabrizio, C.,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Losapio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G.,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Mussi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M.,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Metelli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A.M.,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Restelli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M. Power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control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with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graph-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based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distributed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reinforcement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learning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(2025)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[3] Qiu, Z., Zhao, Y., Shi, W., Su, F., Zhu, Z. Distribution Network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Topology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Control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Using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Attention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Mechanism-Based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Deep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Reinforcement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Learning (2022)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[4] Sar, E.,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Zocca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A.,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Bhulai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S. Multi-Agent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Reinforcement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Learning for Power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Topology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Optimization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(2023)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[5] Taha, S.,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Poland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J.,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Knezovic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K.,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Shchetinin</a:t>
            </a:r>
            <a:r>
              <a:rPr lang="fr-CH" b="0" i="0" dirty="0">
                <a:solidFill>
                  <a:srgbClr val="1A1C1F"/>
                </a:solidFill>
                <a:effectLst/>
              </a:rPr>
              <a:t>, D. Learning to Run a Power Network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under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Varying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Topology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(2022)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[6] Xu, P., Duan, J., Zhang, J., Pei, Y., Shi, D., Wang, Z., Dong, X., Sun, Y. Active Power Correction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Strategies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Based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on Deep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Reinforcement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Learning—Part I: A Simulation-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driven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Solution for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Robustness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(2022)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[7] Xu, P., Pei, Y., Zheng, X., Zhang, J. A simulation-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constraint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graph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reinforcement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learning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method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for line flow control (2020)</a:t>
            </a:r>
          </a:p>
          <a:p>
            <a:pPr algn="l">
              <a:buNone/>
            </a:pPr>
            <a:r>
              <a:rPr lang="fr-CH" b="0" i="0" dirty="0">
                <a:solidFill>
                  <a:srgbClr val="1A1C1F"/>
                </a:solidFill>
                <a:effectLst/>
              </a:rPr>
              <a:t>[8] Yoon, D., Hong, S., Lee, B.J., Kim, K.E.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Winning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the L2RPN Challenge: Power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Grid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Management via Semi-Markov 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Afterstate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Actor-</a:t>
            </a:r>
            <a:r>
              <a:rPr lang="fr-CH" b="0" i="0" dirty="0" err="1">
                <a:solidFill>
                  <a:srgbClr val="1A1C1F"/>
                </a:solidFill>
                <a:effectLst/>
              </a:rPr>
              <a:t>Critic</a:t>
            </a:r>
            <a:r>
              <a:rPr lang="fr-CH" b="0" i="0" dirty="0">
                <a:solidFill>
                  <a:srgbClr val="1A1C1F"/>
                </a:solidFill>
                <a:effectLst/>
              </a:rPr>
              <a:t> (2021)</a:t>
            </a:r>
          </a:p>
          <a:p>
            <a:r>
              <a:rPr lang="fr-CH" dirty="0"/>
              <a:t>[9] Zhao, Y., Liu, J., Liu, X., Yuan, K., Ren, K., Yang, M. A graph-</a:t>
            </a:r>
            <a:r>
              <a:rPr lang="fr-CH" dirty="0" err="1"/>
              <a:t>based</a:t>
            </a:r>
            <a:r>
              <a:rPr lang="fr-CH" dirty="0"/>
              <a:t> </a:t>
            </a:r>
            <a:r>
              <a:rPr lang="fr-CH" dirty="0" err="1"/>
              <a:t>deep</a:t>
            </a:r>
            <a:r>
              <a:rPr lang="fr-CH" dirty="0"/>
              <a:t> </a:t>
            </a:r>
            <a:r>
              <a:rPr lang="fr-CH" dirty="0" err="1"/>
              <a:t>reinforcement</a:t>
            </a:r>
            <a:r>
              <a:rPr lang="fr-CH" dirty="0"/>
              <a:t> </a:t>
            </a:r>
            <a:r>
              <a:rPr lang="fr-CH" dirty="0" err="1"/>
              <a:t>learning</a:t>
            </a:r>
            <a:r>
              <a:rPr lang="fr-CH" dirty="0"/>
              <a:t> </a:t>
            </a:r>
            <a:r>
              <a:rPr lang="fr-CH" dirty="0" err="1"/>
              <a:t>framework</a:t>
            </a:r>
            <a:r>
              <a:rPr lang="fr-CH" dirty="0"/>
              <a:t> for </a:t>
            </a:r>
            <a:r>
              <a:rPr lang="fr-CH" dirty="0" err="1"/>
              <a:t>autonomous</a:t>
            </a:r>
            <a:r>
              <a:rPr lang="fr-CH" dirty="0"/>
              <a:t> power dispatch on power </a:t>
            </a:r>
            <a:r>
              <a:rPr lang="fr-CH" dirty="0" err="1"/>
              <a:t>systems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</a:t>
            </a:r>
            <a:r>
              <a:rPr lang="fr-CH" dirty="0" err="1"/>
              <a:t>changing</a:t>
            </a:r>
            <a:r>
              <a:rPr lang="fr-CH" dirty="0"/>
              <a:t> topologies (2022)</a:t>
            </a:r>
            <a:endParaRPr lang="fr-CH" b="0" i="0" dirty="0">
              <a:solidFill>
                <a:srgbClr val="1A1C1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87470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347</TotalTime>
  <Words>1198</Words>
  <Application>Microsoft Macintosh PowerPoint</Application>
  <PresentationFormat>Affichage à l'écran (16:9)</PresentationFormat>
  <Paragraphs>142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Franklin Gothic Demi Cond</vt:lpstr>
      <vt:lpstr>Wingdings</vt:lpstr>
      <vt:lpstr>Thème Office</vt:lpstr>
      <vt:lpstr>Research Plan: Reliable Graph Reinforcement Learning for Transmission Grid Topology Control</vt:lpstr>
      <vt:lpstr>Why This Thesis Topic</vt:lpstr>
      <vt:lpstr>Short Literature Review</vt:lpstr>
      <vt:lpstr>Dive Into the Main Solutions Developped</vt:lpstr>
      <vt:lpstr>Dive Into the Main Solutions Developped</vt:lpstr>
      <vt:lpstr>Research Gap</vt:lpstr>
      <vt:lpstr>Thesis Refinement</vt:lpstr>
      <vt:lpstr>Approach</vt:lpstr>
      <vt:lpstr>Timeline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Corentin Stéphane Marin Plumet</cp:lastModifiedBy>
  <cp:revision>3</cp:revision>
  <cp:lastPrinted>2019-06-19T13:21:30Z</cp:lastPrinted>
  <dcterms:created xsi:type="dcterms:W3CDTF">2019-04-02T06:24:35Z</dcterms:created>
  <dcterms:modified xsi:type="dcterms:W3CDTF">2026-04-21T09:06:19Z</dcterms:modified>
</cp:coreProperties>
</file>